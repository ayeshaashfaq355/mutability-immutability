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256" r:id="rId2"/>
    <p:sldId id="257" r:id="rId3"/>
    <p:sldId id="258" r:id="rId4"/>
    <p:sldId id="286" r:id="rId5"/>
    <p:sldId id="259" r:id="rId6"/>
    <p:sldId id="288" r:id="rId7"/>
    <p:sldId id="260" r:id="rId8"/>
    <p:sldId id="287" r:id="rId9"/>
    <p:sldId id="289" r:id="rId10"/>
    <p:sldId id="290" r:id="rId11"/>
    <p:sldId id="291" r:id="rId12"/>
    <p:sldId id="292" r:id="rId13"/>
    <p:sldId id="262" r:id="rId14"/>
    <p:sldId id="263" r:id="rId15"/>
    <p:sldId id="264" r:id="rId16"/>
    <p:sldId id="265" r:id="rId17"/>
    <p:sldId id="266" r:id="rId18"/>
    <p:sldId id="273" r:id="rId19"/>
    <p:sldId id="274" r:id="rId20"/>
    <p:sldId id="275" r:id="rId21"/>
    <p:sldId id="277" r:id="rId22"/>
    <p:sldId id="278" r:id="rId23"/>
    <p:sldId id="279" r:id="rId24"/>
    <p:sldId id="285" r:id="rId25"/>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4" d="100"/>
          <a:sy n="64" d="100"/>
        </p:scale>
        <p:origin x="858"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AF9C57E0-8560-4375-B32D-9589222C97F5}" type="datetimeFigureOut">
              <a:rPr lang="en-GB" smtClean="0"/>
              <a:t>20/10/2025</a:t>
            </a:fld>
            <a:endParaRPr lang="en-GB"/>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AF895442-7328-46BF-9F5C-305E5885466C}" type="slidenum">
              <a:rPr lang="en-GB" smtClean="0"/>
              <a:t>‹#›</a:t>
            </a:fld>
            <a:endParaRPr lang="en-GB"/>
          </a:p>
        </p:txBody>
      </p:sp>
    </p:spTree>
    <p:extLst>
      <p:ext uri="{BB962C8B-B14F-4D97-AF65-F5344CB8AC3E}">
        <p14:creationId xmlns:p14="http://schemas.microsoft.com/office/powerpoint/2010/main" val="17312345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F895442-7328-46BF-9F5C-305E5885466C}" type="slidenum">
              <a:rPr lang="en-GB" smtClean="0"/>
              <a:t>13</a:t>
            </a:fld>
            <a:endParaRPr lang="en-GB"/>
          </a:p>
        </p:txBody>
      </p:sp>
    </p:spTree>
    <p:extLst>
      <p:ext uri="{BB962C8B-B14F-4D97-AF65-F5344CB8AC3E}">
        <p14:creationId xmlns:p14="http://schemas.microsoft.com/office/powerpoint/2010/main" val="15993555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1800" b="0" i="0">
                <a:solidFill>
                  <a:schemeClr val="tx1"/>
                </a:solidFill>
                <a:latin typeface="Cambria"/>
                <a:cs typeface="Cambria"/>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10/20/2025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11401043" y="6230111"/>
            <a:ext cx="457200" cy="457200"/>
          </a:xfrm>
          <a:prstGeom prst="rect">
            <a:avLst/>
          </a:prstGeom>
        </p:spPr>
      </p:pic>
      <p:sp>
        <p:nvSpPr>
          <p:cNvPr id="17" name="bg object 17"/>
          <p:cNvSpPr/>
          <p:nvPr/>
        </p:nvSpPr>
        <p:spPr>
          <a:xfrm>
            <a:off x="11431523" y="6259067"/>
            <a:ext cx="398145" cy="399415"/>
          </a:xfrm>
          <a:custGeom>
            <a:avLst/>
            <a:gdLst/>
            <a:ahLst/>
            <a:cxnLst/>
            <a:rect l="l" t="t" r="r" b="b"/>
            <a:pathLst>
              <a:path w="398145" h="399415">
                <a:moveTo>
                  <a:pt x="0" y="199643"/>
                </a:moveTo>
                <a:lnTo>
                  <a:pt x="5251" y="153867"/>
                </a:lnTo>
                <a:lnTo>
                  <a:pt x="20211" y="111845"/>
                </a:lnTo>
                <a:lnTo>
                  <a:pt x="43687" y="74776"/>
                </a:lnTo>
                <a:lnTo>
                  <a:pt x="74484" y="43859"/>
                </a:lnTo>
                <a:lnTo>
                  <a:pt x="111411" y="20291"/>
                </a:lnTo>
                <a:lnTo>
                  <a:pt x="153275" y="5272"/>
                </a:lnTo>
                <a:lnTo>
                  <a:pt x="198881" y="0"/>
                </a:lnTo>
                <a:lnTo>
                  <a:pt x="244488" y="5272"/>
                </a:lnTo>
                <a:lnTo>
                  <a:pt x="286352" y="20291"/>
                </a:lnTo>
                <a:lnTo>
                  <a:pt x="323279" y="43859"/>
                </a:lnTo>
                <a:lnTo>
                  <a:pt x="354076" y="74776"/>
                </a:lnTo>
                <a:lnTo>
                  <a:pt x="377552" y="111845"/>
                </a:lnTo>
                <a:lnTo>
                  <a:pt x="392512" y="153867"/>
                </a:lnTo>
                <a:lnTo>
                  <a:pt x="397764" y="199643"/>
                </a:lnTo>
                <a:lnTo>
                  <a:pt x="392512" y="245420"/>
                </a:lnTo>
                <a:lnTo>
                  <a:pt x="377552" y="287442"/>
                </a:lnTo>
                <a:lnTo>
                  <a:pt x="354076" y="324511"/>
                </a:lnTo>
                <a:lnTo>
                  <a:pt x="323279" y="355428"/>
                </a:lnTo>
                <a:lnTo>
                  <a:pt x="286352" y="378996"/>
                </a:lnTo>
                <a:lnTo>
                  <a:pt x="244488" y="394015"/>
                </a:lnTo>
                <a:lnTo>
                  <a:pt x="198881" y="399287"/>
                </a:lnTo>
                <a:lnTo>
                  <a:pt x="153275" y="394015"/>
                </a:lnTo>
                <a:lnTo>
                  <a:pt x="111411" y="378996"/>
                </a:lnTo>
                <a:lnTo>
                  <a:pt x="74484" y="355428"/>
                </a:lnTo>
                <a:lnTo>
                  <a:pt x="43687" y="324511"/>
                </a:lnTo>
                <a:lnTo>
                  <a:pt x="20211" y="287442"/>
                </a:lnTo>
                <a:lnTo>
                  <a:pt x="5251" y="245420"/>
                </a:lnTo>
                <a:lnTo>
                  <a:pt x="0" y="199643"/>
                </a:lnTo>
                <a:close/>
              </a:path>
            </a:pathLst>
          </a:custGeom>
          <a:ln w="12192">
            <a:solidFill>
              <a:srgbClr val="FFFFFF"/>
            </a:solidFill>
          </a:ln>
        </p:spPr>
        <p:txBody>
          <a:bodyPr wrap="square" lIns="0" tIns="0" rIns="0" bIns="0" rtlCol="0"/>
          <a:lstStyle/>
          <a:p>
            <a:endParaRPr/>
          </a:p>
        </p:txBody>
      </p:sp>
      <p:pic>
        <p:nvPicPr>
          <p:cNvPr id="18" name="bg object 18"/>
          <p:cNvPicPr/>
          <p:nvPr/>
        </p:nvPicPr>
        <p:blipFill>
          <a:blip r:embed="rId3" cstate="print"/>
          <a:stretch>
            <a:fillRect/>
          </a:stretch>
        </p:blipFill>
        <p:spPr>
          <a:xfrm>
            <a:off x="0" y="0"/>
            <a:ext cx="4637531" cy="6857997"/>
          </a:xfrm>
          <a:prstGeom prst="rect">
            <a:avLst/>
          </a:prstGeom>
        </p:spPr>
      </p:pic>
      <p:pic>
        <p:nvPicPr>
          <p:cNvPr id="19" name="bg object 19"/>
          <p:cNvPicPr/>
          <p:nvPr/>
        </p:nvPicPr>
        <p:blipFill>
          <a:blip r:embed="rId4" cstate="print"/>
          <a:stretch>
            <a:fillRect/>
          </a:stretch>
        </p:blipFill>
        <p:spPr>
          <a:xfrm>
            <a:off x="6876288" y="2010917"/>
            <a:ext cx="5100828" cy="1945385"/>
          </a:xfrm>
          <a:prstGeom prst="rect">
            <a:avLst/>
          </a:prstGeom>
        </p:spPr>
      </p:pic>
      <p:sp>
        <p:nvSpPr>
          <p:cNvPr id="20" name="bg object 20"/>
          <p:cNvSpPr/>
          <p:nvPr/>
        </p:nvSpPr>
        <p:spPr>
          <a:xfrm>
            <a:off x="3619500" y="103631"/>
            <a:ext cx="443865" cy="547370"/>
          </a:xfrm>
          <a:custGeom>
            <a:avLst/>
            <a:gdLst/>
            <a:ahLst/>
            <a:cxnLst/>
            <a:rect l="l" t="t" r="r" b="b"/>
            <a:pathLst>
              <a:path w="443864" h="547370">
                <a:moveTo>
                  <a:pt x="0" y="0"/>
                </a:moveTo>
                <a:lnTo>
                  <a:pt x="70073" y="1880"/>
                </a:lnTo>
                <a:lnTo>
                  <a:pt x="130942" y="7120"/>
                </a:lnTo>
                <a:lnTo>
                  <a:pt x="178948" y="15115"/>
                </a:lnTo>
                <a:lnTo>
                  <a:pt x="221741" y="36957"/>
                </a:lnTo>
                <a:lnTo>
                  <a:pt x="221741" y="236600"/>
                </a:lnTo>
                <a:lnTo>
                  <a:pt x="233050" y="248296"/>
                </a:lnTo>
                <a:lnTo>
                  <a:pt x="264535" y="258442"/>
                </a:lnTo>
                <a:lnTo>
                  <a:pt x="312541" y="266437"/>
                </a:lnTo>
                <a:lnTo>
                  <a:pt x="373410" y="271677"/>
                </a:lnTo>
                <a:lnTo>
                  <a:pt x="443484" y="273558"/>
                </a:lnTo>
                <a:lnTo>
                  <a:pt x="373410" y="275438"/>
                </a:lnTo>
                <a:lnTo>
                  <a:pt x="312541" y="280678"/>
                </a:lnTo>
                <a:lnTo>
                  <a:pt x="264535" y="288673"/>
                </a:lnTo>
                <a:lnTo>
                  <a:pt x="233050" y="298819"/>
                </a:lnTo>
                <a:lnTo>
                  <a:pt x="221741" y="310515"/>
                </a:lnTo>
                <a:lnTo>
                  <a:pt x="221741" y="510159"/>
                </a:lnTo>
                <a:lnTo>
                  <a:pt x="210433" y="521854"/>
                </a:lnTo>
                <a:lnTo>
                  <a:pt x="178948" y="532000"/>
                </a:lnTo>
                <a:lnTo>
                  <a:pt x="130942" y="539995"/>
                </a:lnTo>
                <a:lnTo>
                  <a:pt x="70073" y="545235"/>
                </a:lnTo>
                <a:lnTo>
                  <a:pt x="0" y="547116"/>
                </a:lnTo>
              </a:path>
            </a:pathLst>
          </a:custGeom>
          <a:ln w="6096">
            <a:solidFill>
              <a:srgbClr val="D24717"/>
            </a:solidFill>
          </a:ln>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800" b="0" i="0">
                <a:solidFill>
                  <a:schemeClr val="tx1"/>
                </a:solidFill>
                <a:latin typeface="Cambria"/>
                <a:cs typeface="Cambria"/>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10/20/2025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800" b="0" i="0">
                <a:solidFill>
                  <a:schemeClr val="tx1"/>
                </a:solidFill>
                <a:latin typeface="Cambria"/>
                <a:cs typeface="Cambria"/>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10/20/2025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800" b="0" i="0">
                <a:solidFill>
                  <a:schemeClr val="tx1"/>
                </a:solidFill>
                <a:latin typeface="Cambria"/>
                <a:cs typeface="Cambri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10/20/2025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10/20/2025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11401043" y="6230111"/>
            <a:ext cx="457200" cy="457200"/>
          </a:xfrm>
          <a:prstGeom prst="rect">
            <a:avLst/>
          </a:prstGeom>
        </p:spPr>
      </p:pic>
      <p:sp>
        <p:nvSpPr>
          <p:cNvPr id="17" name="bg object 17"/>
          <p:cNvSpPr/>
          <p:nvPr/>
        </p:nvSpPr>
        <p:spPr>
          <a:xfrm>
            <a:off x="11431523" y="6259067"/>
            <a:ext cx="398145" cy="399415"/>
          </a:xfrm>
          <a:custGeom>
            <a:avLst/>
            <a:gdLst/>
            <a:ahLst/>
            <a:cxnLst/>
            <a:rect l="l" t="t" r="r" b="b"/>
            <a:pathLst>
              <a:path w="398145" h="399415">
                <a:moveTo>
                  <a:pt x="0" y="199643"/>
                </a:moveTo>
                <a:lnTo>
                  <a:pt x="5251" y="153867"/>
                </a:lnTo>
                <a:lnTo>
                  <a:pt x="20211" y="111845"/>
                </a:lnTo>
                <a:lnTo>
                  <a:pt x="43687" y="74776"/>
                </a:lnTo>
                <a:lnTo>
                  <a:pt x="74484" y="43859"/>
                </a:lnTo>
                <a:lnTo>
                  <a:pt x="111411" y="20291"/>
                </a:lnTo>
                <a:lnTo>
                  <a:pt x="153275" y="5272"/>
                </a:lnTo>
                <a:lnTo>
                  <a:pt x="198881" y="0"/>
                </a:lnTo>
                <a:lnTo>
                  <a:pt x="244488" y="5272"/>
                </a:lnTo>
                <a:lnTo>
                  <a:pt x="286352" y="20291"/>
                </a:lnTo>
                <a:lnTo>
                  <a:pt x="323279" y="43859"/>
                </a:lnTo>
                <a:lnTo>
                  <a:pt x="354076" y="74776"/>
                </a:lnTo>
                <a:lnTo>
                  <a:pt x="377552" y="111845"/>
                </a:lnTo>
                <a:lnTo>
                  <a:pt x="392512" y="153867"/>
                </a:lnTo>
                <a:lnTo>
                  <a:pt x="397764" y="199643"/>
                </a:lnTo>
                <a:lnTo>
                  <a:pt x="392512" y="245420"/>
                </a:lnTo>
                <a:lnTo>
                  <a:pt x="377552" y="287442"/>
                </a:lnTo>
                <a:lnTo>
                  <a:pt x="354076" y="324511"/>
                </a:lnTo>
                <a:lnTo>
                  <a:pt x="323279" y="355428"/>
                </a:lnTo>
                <a:lnTo>
                  <a:pt x="286352" y="378996"/>
                </a:lnTo>
                <a:lnTo>
                  <a:pt x="244488" y="394015"/>
                </a:lnTo>
                <a:lnTo>
                  <a:pt x="198881" y="399287"/>
                </a:lnTo>
                <a:lnTo>
                  <a:pt x="153275" y="394015"/>
                </a:lnTo>
                <a:lnTo>
                  <a:pt x="111411" y="378996"/>
                </a:lnTo>
                <a:lnTo>
                  <a:pt x="74484" y="355428"/>
                </a:lnTo>
                <a:lnTo>
                  <a:pt x="43687" y="324511"/>
                </a:lnTo>
                <a:lnTo>
                  <a:pt x="20211" y="287442"/>
                </a:lnTo>
                <a:lnTo>
                  <a:pt x="5251" y="245420"/>
                </a:lnTo>
                <a:lnTo>
                  <a:pt x="0" y="199643"/>
                </a:lnTo>
                <a:close/>
              </a:path>
            </a:pathLst>
          </a:custGeom>
          <a:ln w="12192">
            <a:solidFill>
              <a:srgbClr val="FFFFFF"/>
            </a:solidFill>
          </a:ln>
        </p:spPr>
        <p:txBody>
          <a:bodyPr wrap="square" lIns="0" tIns="0" rIns="0" bIns="0" rtlCol="0"/>
          <a:lstStyle/>
          <a:p>
            <a:endParaRPr/>
          </a:p>
        </p:txBody>
      </p:sp>
      <p:sp>
        <p:nvSpPr>
          <p:cNvPr id="2" name="Holder 2"/>
          <p:cNvSpPr>
            <a:spLocks noGrp="1"/>
          </p:cNvSpPr>
          <p:nvPr>
            <p:ph type="title"/>
          </p:nvPr>
        </p:nvSpPr>
        <p:spPr>
          <a:xfrm>
            <a:off x="4236465" y="255523"/>
            <a:ext cx="1221104" cy="299720"/>
          </a:xfrm>
          <a:prstGeom prst="rect">
            <a:avLst/>
          </a:prstGeom>
        </p:spPr>
        <p:txBody>
          <a:bodyPr wrap="square" lIns="0" tIns="0" rIns="0" bIns="0">
            <a:spAutoFit/>
          </a:bodyPr>
          <a:lstStyle>
            <a:lvl1pPr>
              <a:defRPr sz="1800" b="0" i="0">
                <a:solidFill>
                  <a:schemeClr val="tx1"/>
                </a:solidFill>
                <a:latin typeface="Cambria"/>
                <a:cs typeface="Cambria"/>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10/20/2025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jpg"/><Relationship Id="rId2" Type="http://schemas.openxmlformats.org/officeDocument/2006/relationships/image" Target="../media/image4.png"/><Relationship Id="rId1" Type="http://schemas.openxmlformats.org/officeDocument/2006/relationships/slideLayout" Target="../slideLayouts/slideLayout5.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 Id="rId5" Type="http://schemas.openxmlformats.org/officeDocument/2006/relationships/image" Target="../media/image9.jpg"/><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9.jpg"/><Relationship Id="rId1" Type="http://schemas.openxmlformats.org/officeDocument/2006/relationships/slideLayout" Target="../slideLayouts/slideLayout5.xml"/><Relationship Id="rId5" Type="http://schemas.openxmlformats.org/officeDocument/2006/relationships/image" Target="../media/image15.png"/><Relationship Id="rId4" Type="http://schemas.openxmlformats.org/officeDocument/2006/relationships/image" Target="../media/image14.jp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9.jpg"/><Relationship Id="rId1" Type="http://schemas.openxmlformats.org/officeDocument/2006/relationships/slideLayout" Target="../slideLayouts/slideLayout5.xml"/><Relationship Id="rId5" Type="http://schemas.openxmlformats.org/officeDocument/2006/relationships/image" Target="../media/image15.png"/><Relationship Id="rId4" Type="http://schemas.openxmlformats.org/officeDocument/2006/relationships/image" Target="../media/image14.jp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5.xml"/><Relationship Id="rId4" Type="http://schemas.openxmlformats.org/officeDocument/2006/relationships/image" Target="../media/image14.jpg"/></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5.xml"/><Relationship Id="rId5" Type="http://schemas.openxmlformats.org/officeDocument/2006/relationships/image" Target="../media/image21.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5.xml"/><Relationship Id="rId5" Type="http://schemas.openxmlformats.org/officeDocument/2006/relationships/image" Target="../media/image25.png"/><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2.png"/><Relationship Id="rId1" Type="http://schemas.openxmlformats.org/officeDocument/2006/relationships/slideLayout" Target="../slideLayouts/slideLayout5.xml"/><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2.png"/><Relationship Id="rId1" Type="http://schemas.openxmlformats.org/officeDocument/2006/relationships/slideLayout" Target="../slideLayouts/slideLayout5.xml"/><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2.png"/><Relationship Id="rId1" Type="http://schemas.openxmlformats.org/officeDocument/2006/relationships/slideLayout" Target="../slideLayouts/slideLayout5.xml"/><Relationship Id="rId5" Type="http://schemas.openxmlformats.org/officeDocument/2006/relationships/image" Target="../media/image29.png"/><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33.jpg"/></Relationships>
</file>

<file path=ppt/slides/_rels/slide14.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image" Target="../media/image34.png"/><Relationship Id="rId1" Type="http://schemas.openxmlformats.org/officeDocument/2006/relationships/slideLayout" Target="../slideLayouts/slideLayout5.xml"/><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5.xml"/><Relationship Id="rId4" Type="http://schemas.openxmlformats.org/officeDocument/2006/relationships/image" Target="../media/image38.png"/></Relationships>
</file>

<file path=ppt/slides/_rels/slide17.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image" Target="../media/image39.png"/><Relationship Id="rId1" Type="http://schemas.openxmlformats.org/officeDocument/2006/relationships/slideLayout" Target="../slideLayouts/slideLayout5.xml"/><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5.xml"/><Relationship Id="rId4" Type="http://schemas.openxmlformats.org/officeDocument/2006/relationships/image" Target="../media/image9.jpg"/></Relationships>
</file>

<file path=ppt/slides/_rels/slide2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48.png"/><Relationship Id="rId1" Type="http://schemas.openxmlformats.org/officeDocument/2006/relationships/slideLayout" Target="../slideLayouts/slideLayout5.xml"/><Relationship Id="rId5" Type="http://schemas.openxmlformats.org/officeDocument/2006/relationships/image" Target="../media/image32.png"/><Relationship Id="rId4" Type="http://schemas.openxmlformats.org/officeDocument/2006/relationships/image" Target="../media/image49.png"/></Relationships>
</file>

<file path=ppt/slides/_rels/slide2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50.png"/><Relationship Id="rId1" Type="http://schemas.openxmlformats.org/officeDocument/2006/relationships/slideLayout" Target="../slideLayouts/slideLayout5.xml"/><Relationship Id="rId4" Type="http://schemas.openxmlformats.org/officeDocument/2006/relationships/image" Target="../media/image51.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20496" y="1347216"/>
            <a:ext cx="10222992" cy="80772"/>
          </a:xfrm>
          <a:prstGeom prst="rect">
            <a:avLst/>
          </a:prstGeom>
        </p:spPr>
      </p:pic>
      <p:grpSp>
        <p:nvGrpSpPr>
          <p:cNvPr id="3" name="object 3"/>
          <p:cNvGrpSpPr/>
          <p:nvPr/>
        </p:nvGrpSpPr>
        <p:grpSpPr>
          <a:xfrm>
            <a:off x="920496" y="1484375"/>
            <a:ext cx="10222992" cy="3665220"/>
            <a:chOff x="920496" y="1484375"/>
            <a:chExt cx="10222992" cy="3665220"/>
          </a:xfrm>
        </p:grpSpPr>
        <p:pic>
          <p:nvPicPr>
            <p:cNvPr id="4" name="object 4"/>
            <p:cNvPicPr/>
            <p:nvPr/>
          </p:nvPicPr>
          <p:blipFill>
            <a:blip r:embed="rId3" cstate="print"/>
            <a:stretch>
              <a:fillRect/>
            </a:stretch>
          </p:blipFill>
          <p:spPr>
            <a:xfrm>
              <a:off x="920496" y="4299203"/>
              <a:ext cx="10222992" cy="80772"/>
            </a:xfrm>
            <a:prstGeom prst="rect">
              <a:avLst/>
            </a:prstGeom>
          </p:spPr>
        </p:pic>
        <p:pic>
          <p:nvPicPr>
            <p:cNvPr id="5" name="object 5"/>
            <p:cNvPicPr/>
            <p:nvPr/>
          </p:nvPicPr>
          <p:blipFill>
            <a:blip r:embed="rId4" cstate="print"/>
            <a:stretch>
              <a:fillRect/>
            </a:stretch>
          </p:blipFill>
          <p:spPr>
            <a:xfrm>
              <a:off x="920496" y="1484375"/>
              <a:ext cx="10222992" cy="3665220"/>
            </a:xfrm>
            <a:prstGeom prst="rect">
              <a:avLst/>
            </a:prstGeom>
          </p:spPr>
        </p:pic>
        <p:sp>
          <p:nvSpPr>
            <p:cNvPr id="6" name="object 6"/>
            <p:cNvSpPr/>
            <p:nvPr/>
          </p:nvSpPr>
          <p:spPr>
            <a:xfrm>
              <a:off x="9757410" y="4178046"/>
              <a:ext cx="866140" cy="864235"/>
            </a:xfrm>
            <a:custGeom>
              <a:avLst/>
              <a:gdLst/>
              <a:ahLst/>
              <a:cxnLst/>
              <a:rect l="l" t="t" r="r" b="b"/>
              <a:pathLst>
                <a:path w="866140" h="864235">
                  <a:moveTo>
                    <a:pt x="0" y="432053"/>
                  </a:moveTo>
                  <a:lnTo>
                    <a:pt x="2540" y="384974"/>
                  </a:lnTo>
                  <a:lnTo>
                    <a:pt x="9983" y="339363"/>
                  </a:lnTo>
                  <a:lnTo>
                    <a:pt x="22067" y="295485"/>
                  </a:lnTo>
                  <a:lnTo>
                    <a:pt x="38526" y="253603"/>
                  </a:lnTo>
                  <a:lnTo>
                    <a:pt x="59097" y="213980"/>
                  </a:lnTo>
                  <a:lnTo>
                    <a:pt x="83515" y="176881"/>
                  </a:lnTo>
                  <a:lnTo>
                    <a:pt x="111516" y="142568"/>
                  </a:lnTo>
                  <a:lnTo>
                    <a:pt x="142836" y="111305"/>
                  </a:lnTo>
                  <a:lnTo>
                    <a:pt x="177210" y="83356"/>
                  </a:lnTo>
                  <a:lnTo>
                    <a:pt x="214376" y="58984"/>
                  </a:lnTo>
                  <a:lnTo>
                    <a:pt x="254067" y="38452"/>
                  </a:lnTo>
                  <a:lnTo>
                    <a:pt x="296021" y="22024"/>
                  </a:lnTo>
                  <a:lnTo>
                    <a:pt x="339973" y="9964"/>
                  </a:lnTo>
                  <a:lnTo>
                    <a:pt x="385660" y="2535"/>
                  </a:lnTo>
                  <a:lnTo>
                    <a:pt x="432816" y="0"/>
                  </a:lnTo>
                  <a:lnTo>
                    <a:pt x="479971" y="2535"/>
                  </a:lnTo>
                  <a:lnTo>
                    <a:pt x="525658" y="9964"/>
                  </a:lnTo>
                  <a:lnTo>
                    <a:pt x="569610" y="22024"/>
                  </a:lnTo>
                  <a:lnTo>
                    <a:pt x="611564" y="38452"/>
                  </a:lnTo>
                  <a:lnTo>
                    <a:pt x="651255" y="58984"/>
                  </a:lnTo>
                  <a:lnTo>
                    <a:pt x="688421" y="83356"/>
                  </a:lnTo>
                  <a:lnTo>
                    <a:pt x="722795" y="111305"/>
                  </a:lnTo>
                  <a:lnTo>
                    <a:pt x="754115" y="142568"/>
                  </a:lnTo>
                  <a:lnTo>
                    <a:pt x="782116" y="176881"/>
                  </a:lnTo>
                  <a:lnTo>
                    <a:pt x="806534" y="213980"/>
                  </a:lnTo>
                  <a:lnTo>
                    <a:pt x="827105" y="253603"/>
                  </a:lnTo>
                  <a:lnTo>
                    <a:pt x="843564" y="295485"/>
                  </a:lnTo>
                  <a:lnTo>
                    <a:pt x="855648" y="339363"/>
                  </a:lnTo>
                  <a:lnTo>
                    <a:pt x="863092" y="384974"/>
                  </a:lnTo>
                  <a:lnTo>
                    <a:pt x="865632" y="432053"/>
                  </a:lnTo>
                  <a:lnTo>
                    <a:pt x="863092" y="479133"/>
                  </a:lnTo>
                  <a:lnTo>
                    <a:pt x="855648" y="524744"/>
                  </a:lnTo>
                  <a:lnTo>
                    <a:pt x="843564" y="568622"/>
                  </a:lnTo>
                  <a:lnTo>
                    <a:pt x="827105" y="610504"/>
                  </a:lnTo>
                  <a:lnTo>
                    <a:pt x="806534" y="650127"/>
                  </a:lnTo>
                  <a:lnTo>
                    <a:pt x="782116" y="687226"/>
                  </a:lnTo>
                  <a:lnTo>
                    <a:pt x="754115" y="721539"/>
                  </a:lnTo>
                  <a:lnTo>
                    <a:pt x="722795" y="752802"/>
                  </a:lnTo>
                  <a:lnTo>
                    <a:pt x="688421" y="780751"/>
                  </a:lnTo>
                  <a:lnTo>
                    <a:pt x="651255" y="805123"/>
                  </a:lnTo>
                  <a:lnTo>
                    <a:pt x="611564" y="825655"/>
                  </a:lnTo>
                  <a:lnTo>
                    <a:pt x="569610" y="842083"/>
                  </a:lnTo>
                  <a:lnTo>
                    <a:pt x="525658" y="854143"/>
                  </a:lnTo>
                  <a:lnTo>
                    <a:pt x="479971" y="861572"/>
                  </a:lnTo>
                  <a:lnTo>
                    <a:pt x="432816" y="864107"/>
                  </a:lnTo>
                  <a:lnTo>
                    <a:pt x="385660" y="861572"/>
                  </a:lnTo>
                  <a:lnTo>
                    <a:pt x="339973" y="854143"/>
                  </a:lnTo>
                  <a:lnTo>
                    <a:pt x="296021" y="842083"/>
                  </a:lnTo>
                  <a:lnTo>
                    <a:pt x="254067" y="825655"/>
                  </a:lnTo>
                  <a:lnTo>
                    <a:pt x="214376" y="805123"/>
                  </a:lnTo>
                  <a:lnTo>
                    <a:pt x="177210" y="780751"/>
                  </a:lnTo>
                  <a:lnTo>
                    <a:pt x="142836" y="752802"/>
                  </a:lnTo>
                  <a:lnTo>
                    <a:pt x="111516" y="721539"/>
                  </a:lnTo>
                  <a:lnTo>
                    <a:pt x="83515" y="687226"/>
                  </a:lnTo>
                  <a:lnTo>
                    <a:pt x="59097" y="650127"/>
                  </a:lnTo>
                  <a:lnTo>
                    <a:pt x="38526" y="610504"/>
                  </a:lnTo>
                  <a:lnTo>
                    <a:pt x="22067" y="568622"/>
                  </a:lnTo>
                  <a:lnTo>
                    <a:pt x="9983" y="524744"/>
                  </a:lnTo>
                  <a:lnTo>
                    <a:pt x="2539" y="479133"/>
                  </a:lnTo>
                  <a:lnTo>
                    <a:pt x="0" y="432053"/>
                  </a:lnTo>
                  <a:close/>
                </a:path>
              </a:pathLst>
            </a:custGeom>
            <a:ln w="25908">
              <a:solidFill>
                <a:srgbClr val="FFFFFF"/>
              </a:solidFill>
            </a:ln>
          </p:spPr>
          <p:txBody>
            <a:bodyPr wrap="square" lIns="0" tIns="0" rIns="0" bIns="0" rtlCol="0"/>
            <a:lstStyle/>
            <a:p>
              <a:endParaRPr/>
            </a:p>
          </p:txBody>
        </p:sp>
        <p:pic>
          <p:nvPicPr>
            <p:cNvPr id="7" name="object 7"/>
            <p:cNvPicPr/>
            <p:nvPr/>
          </p:nvPicPr>
          <p:blipFill>
            <a:blip r:embed="rId5" cstate="print"/>
            <a:stretch>
              <a:fillRect/>
            </a:stretch>
          </p:blipFill>
          <p:spPr>
            <a:xfrm>
              <a:off x="1138516" y="1688083"/>
              <a:ext cx="3300387" cy="551814"/>
            </a:xfrm>
            <a:prstGeom prst="rect">
              <a:avLst/>
            </a:prstGeom>
          </p:spPr>
        </p:pic>
        <p:pic>
          <p:nvPicPr>
            <p:cNvPr id="8" name="object 8"/>
            <p:cNvPicPr/>
            <p:nvPr/>
          </p:nvPicPr>
          <p:blipFill>
            <a:blip r:embed="rId6" cstate="print"/>
            <a:stretch>
              <a:fillRect/>
            </a:stretch>
          </p:blipFill>
          <p:spPr>
            <a:xfrm>
              <a:off x="1143355" y="2419603"/>
              <a:ext cx="6064529" cy="551815"/>
            </a:xfrm>
            <a:prstGeom prst="rect">
              <a:avLst/>
            </a:prstGeom>
          </p:spPr>
        </p:pic>
      </p:grpSp>
      <p:sp>
        <p:nvSpPr>
          <p:cNvPr id="10" name="object 10"/>
          <p:cNvSpPr txBox="1"/>
          <p:nvPr/>
        </p:nvSpPr>
        <p:spPr>
          <a:xfrm>
            <a:off x="867562" y="4454423"/>
            <a:ext cx="3971290" cy="934085"/>
          </a:xfrm>
          <a:prstGeom prst="rect">
            <a:avLst/>
          </a:prstGeom>
        </p:spPr>
        <p:txBody>
          <a:bodyPr vert="horz" wrap="square" lIns="0" tIns="131445" rIns="0" bIns="0" rtlCol="0">
            <a:spAutoFit/>
          </a:bodyPr>
          <a:lstStyle/>
          <a:p>
            <a:pPr marL="12700">
              <a:lnSpc>
                <a:spcPct val="100000"/>
              </a:lnSpc>
              <a:spcBef>
                <a:spcPts val="1035"/>
              </a:spcBef>
            </a:pPr>
            <a:r>
              <a:rPr sz="2200" b="1" spc="100" dirty="0">
                <a:latin typeface="Cambria"/>
                <a:cs typeface="Cambria"/>
              </a:rPr>
              <a:t>Objective:</a:t>
            </a:r>
            <a:endParaRPr sz="2200">
              <a:latin typeface="Cambria"/>
              <a:cs typeface="Cambria"/>
            </a:endParaRPr>
          </a:p>
          <a:p>
            <a:pPr marL="12700">
              <a:lnSpc>
                <a:spcPct val="100000"/>
              </a:lnSpc>
              <a:spcBef>
                <a:spcPts val="935"/>
              </a:spcBef>
            </a:pPr>
            <a:r>
              <a:rPr sz="2200" b="1" spc="90" dirty="0">
                <a:latin typeface="Cambria"/>
                <a:cs typeface="Cambria"/>
              </a:rPr>
              <a:t>Mutability</a:t>
            </a:r>
            <a:r>
              <a:rPr sz="2200" b="1" spc="105" dirty="0">
                <a:latin typeface="Cambria"/>
                <a:cs typeface="Cambria"/>
              </a:rPr>
              <a:t> </a:t>
            </a:r>
            <a:r>
              <a:rPr sz="2200" b="1" spc="60" dirty="0">
                <a:latin typeface="Cambria"/>
                <a:cs typeface="Cambria"/>
              </a:rPr>
              <a:t>and</a:t>
            </a:r>
            <a:r>
              <a:rPr sz="2200" b="1" spc="95" dirty="0">
                <a:latin typeface="Cambria"/>
                <a:cs typeface="Cambria"/>
              </a:rPr>
              <a:t> </a:t>
            </a:r>
            <a:r>
              <a:rPr sz="2200" b="1" spc="75" dirty="0">
                <a:latin typeface="Cambria"/>
                <a:cs typeface="Cambria"/>
              </a:rPr>
              <a:t>Immutability</a:t>
            </a:r>
            <a:endParaRPr sz="2200">
              <a:latin typeface="Cambria"/>
              <a:cs typeface="Cambria"/>
            </a:endParaRPr>
          </a:p>
        </p:txBody>
      </p:sp>
      <p:pic>
        <p:nvPicPr>
          <p:cNvPr id="11" name="object 11"/>
          <p:cNvPicPr/>
          <p:nvPr/>
        </p:nvPicPr>
        <p:blipFill>
          <a:blip r:embed="rId7" cstate="print"/>
          <a:stretch>
            <a:fillRect/>
          </a:stretch>
        </p:blipFill>
        <p:spPr>
          <a:xfrm>
            <a:off x="278544" y="253713"/>
            <a:ext cx="3734494" cy="92360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58545" y="1271142"/>
            <a:ext cx="6640703" cy="472694"/>
          </a:xfrm>
          <a:prstGeom prst="rect">
            <a:avLst/>
          </a:prstGeom>
        </p:spPr>
      </p:pic>
      <p:pic>
        <p:nvPicPr>
          <p:cNvPr id="3" name="object 3"/>
          <p:cNvPicPr/>
          <p:nvPr/>
        </p:nvPicPr>
        <p:blipFill>
          <a:blip r:embed="rId3" cstate="print"/>
          <a:stretch>
            <a:fillRect/>
          </a:stretch>
        </p:blipFill>
        <p:spPr>
          <a:xfrm>
            <a:off x="548525" y="1950720"/>
            <a:ext cx="3057639" cy="465200"/>
          </a:xfrm>
          <a:prstGeom prst="rect">
            <a:avLst/>
          </a:prstGeom>
        </p:spPr>
      </p:pic>
      <p:sp>
        <p:nvSpPr>
          <p:cNvPr id="4" name="object 4"/>
          <p:cNvSpPr txBox="1"/>
          <p:nvPr/>
        </p:nvSpPr>
        <p:spPr>
          <a:xfrm>
            <a:off x="503326" y="2468981"/>
            <a:ext cx="6430874" cy="3773469"/>
          </a:xfrm>
          <a:prstGeom prst="rect">
            <a:avLst/>
          </a:prstGeom>
        </p:spPr>
        <p:txBody>
          <a:bodyPr vert="horz" wrap="square" lIns="0" tIns="86995" rIns="0" bIns="0" rtlCol="0">
            <a:spAutoFit/>
          </a:bodyPr>
          <a:lstStyle/>
          <a:p>
            <a:pPr marL="194945" indent="-182245">
              <a:lnSpc>
                <a:spcPct val="100000"/>
              </a:lnSpc>
              <a:spcBef>
                <a:spcPts val="685"/>
              </a:spcBef>
              <a:buClr>
                <a:srgbClr val="9E3611"/>
              </a:buClr>
              <a:buSzPct val="85294"/>
              <a:buFont typeface="Wingdings"/>
              <a:buChar char=""/>
              <a:tabLst>
                <a:tab pos="194945" algn="l"/>
              </a:tabLst>
            </a:pPr>
            <a:r>
              <a:rPr sz="1700" b="1" spc="-10" dirty="0">
                <a:latin typeface="Times New Roman"/>
                <a:cs typeface="Times New Roman"/>
              </a:rPr>
              <a:t>Objectives/Outcomes</a:t>
            </a:r>
            <a:endParaRPr sz="1700" dirty="0">
              <a:latin typeface="Times New Roman"/>
              <a:cs typeface="Times New Roman"/>
            </a:endParaRPr>
          </a:p>
          <a:p>
            <a:pPr marL="194945" indent="-182245">
              <a:lnSpc>
                <a:spcPct val="100000"/>
              </a:lnSpc>
              <a:spcBef>
                <a:spcPts val="590"/>
              </a:spcBef>
              <a:buClr>
                <a:srgbClr val="9E3611"/>
              </a:buClr>
              <a:buSzPct val="85294"/>
              <a:buFont typeface="Wingdings"/>
              <a:buChar char=""/>
              <a:tabLst>
                <a:tab pos="194945" algn="l"/>
              </a:tabLst>
            </a:pPr>
            <a:r>
              <a:rPr sz="1700" b="1" dirty="0">
                <a:latin typeface="Times New Roman"/>
                <a:cs typeface="Times New Roman"/>
              </a:rPr>
              <a:t>After</a:t>
            </a:r>
            <a:r>
              <a:rPr sz="1700" b="1" spc="-85" dirty="0">
                <a:latin typeface="Times New Roman"/>
                <a:cs typeface="Times New Roman"/>
              </a:rPr>
              <a:t> </a:t>
            </a:r>
            <a:r>
              <a:rPr sz="1700" b="1" dirty="0">
                <a:latin typeface="Times New Roman"/>
                <a:cs typeface="Times New Roman"/>
              </a:rPr>
              <a:t>this</a:t>
            </a:r>
            <a:r>
              <a:rPr sz="1700" b="1" spc="-10" dirty="0">
                <a:latin typeface="Times New Roman"/>
                <a:cs typeface="Times New Roman"/>
              </a:rPr>
              <a:t> </a:t>
            </a:r>
            <a:r>
              <a:rPr sz="1700" b="1" dirty="0">
                <a:latin typeface="Times New Roman"/>
                <a:cs typeface="Times New Roman"/>
              </a:rPr>
              <a:t>lab</a:t>
            </a:r>
            <a:r>
              <a:rPr sz="1700" b="1" spc="-10" dirty="0">
                <a:latin typeface="Times New Roman"/>
                <a:cs typeface="Times New Roman"/>
              </a:rPr>
              <a:t> </a:t>
            </a:r>
            <a:r>
              <a:rPr sz="1700" b="1" dirty="0">
                <a:latin typeface="Times New Roman"/>
                <a:cs typeface="Times New Roman"/>
              </a:rPr>
              <a:t>student</a:t>
            </a:r>
            <a:r>
              <a:rPr sz="1700" b="1" spc="-20" dirty="0">
                <a:latin typeface="Times New Roman"/>
                <a:cs typeface="Times New Roman"/>
              </a:rPr>
              <a:t> </a:t>
            </a:r>
            <a:r>
              <a:rPr sz="1700" b="1" dirty="0">
                <a:latin typeface="Times New Roman"/>
                <a:cs typeface="Times New Roman"/>
              </a:rPr>
              <a:t>will</a:t>
            </a:r>
            <a:r>
              <a:rPr sz="1700" b="1" spc="-25" dirty="0">
                <a:latin typeface="Times New Roman"/>
                <a:cs typeface="Times New Roman"/>
              </a:rPr>
              <a:t> </a:t>
            </a:r>
            <a:r>
              <a:rPr sz="1700" b="1" dirty="0">
                <a:latin typeface="Times New Roman"/>
                <a:cs typeface="Times New Roman"/>
              </a:rPr>
              <a:t>able</a:t>
            </a:r>
            <a:r>
              <a:rPr sz="1700" b="1" spc="-20" dirty="0">
                <a:latin typeface="Times New Roman"/>
                <a:cs typeface="Times New Roman"/>
              </a:rPr>
              <a:t> </a:t>
            </a:r>
            <a:r>
              <a:rPr sz="1700" b="1" dirty="0">
                <a:latin typeface="Times New Roman"/>
                <a:cs typeface="Times New Roman"/>
              </a:rPr>
              <a:t>to</a:t>
            </a:r>
            <a:r>
              <a:rPr sz="1700" b="1" spc="-20" dirty="0">
                <a:latin typeface="Times New Roman"/>
                <a:cs typeface="Times New Roman"/>
              </a:rPr>
              <a:t> </a:t>
            </a:r>
            <a:r>
              <a:rPr sz="1700" b="1" spc="-10" dirty="0">
                <a:latin typeface="Times New Roman"/>
                <a:cs typeface="Times New Roman"/>
              </a:rPr>
              <a:t>understand:</a:t>
            </a:r>
            <a:endParaRPr sz="1700" dirty="0">
              <a:latin typeface="Times New Roman"/>
              <a:cs typeface="Times New Roman"/>
            </a:endParaRPr>
          </a:p>
          <a:p>
            <a:pPr marL="194945" indent="-182245">
              <a:lnSpc>
                <a:spcPct val="100000"/>
              </a:lnSpc>
              <a:spcBef>
                <a:spcPts val="705"/>
              </a:spcBef>
              <a:buClr>
                <a:srgbClr val="9E3611"/>
              </a:buClr>
              <a:buSzPct val="82142"/>
              <a:buFont typeface="Wingdings"/>
              <a:buChar char=""/>
              <a:tabLst>
                <a:tab pos="194945" algn="l"/>
              </a:tabLst>
            </a:pPr>
            <a:r>
              <a:rPr sz="1400" b="1" dirty="0">
                <a:latin typeface="Cambria"/>
                <a:cs typeface="Cambria"/>
              </a:rPr>
              <a:t>Introduction</a:t>
            </a:r>
            <a:r>
              <a:rPr sz="1400" b="1" spc="135" dirty="0">
                <a:latin typeface="Cambria"/>
                <a:cs typeface="Cambria"/>
              </a:rPr>
              <a:t> </a:t>
            </a:r>
            <a:r>
              <a:rPr sz="1400" b="1" dirty="0">
                <a:latin typeface="Cambria"/>
                <a:cs typeface="Cambria"/>
              </a:rPr>
              <a:t>to</a:t>
            </a:r>
            <a:r>
              <a:rPr sz="1400" b="1" spc="120" dirty="0">
                <a:latin typeface="Cambria"/>
                <a:cs typeface="Cambria"/>
              </a:rPr>
              <a:t> </a:t>
            </a:r>
            <a:r>
              <a:rPr sz="1400" b="1" spc="55" dirty="0">
                <a:latin typeface="Cambria"/>
                <a:cs typeface="Cambria"/>
              </a:rPr>
              <a:t>Mutability</a:t>
            </a:r>
            <a:r>
              <a:rPr sz="1400" b="1" spc="175" dirty="0">
                <a:latin typeface="Cambria"/>
                <a:cs typeface="Cambria"/>
              </a:rPr>
              <a:t> </a:t>
            </a:r>
            <a:r>
              <a:rPr sz="1400" b="1" dirty="0">
                <a:latin typeface="Cambria"/>
                <a:cs typeface="Cambria"/>
              </a:rPr>
              <a:t>and</a:t>
            </a:r>
            <a:r>
              <a:rPr sz="1400" b="1" spc="125" dirty="0">
                <a:latin typeface="Cambria"/>
                <a:cs typeface="Cambria"/>
              </a:rPr>
              <a:t> </a:t>
            </a:r>
            <a:r>
              <a:rPr sz="1400" b="1" spc="45" dirty="0">
                <a:latin typeface="Cambria"/>
                <a:cs typeface="Cambria"/>
              </a:rPr>
              <a:t>Immutability</a:t>
            </a:r>
            <a:endParaRPr sz="1400" dirty="0">
              <a:latin typeface="Cambria"/>
              <a:cs typeface="Cambria"/>
            </a:endParaRPr>
          </a:p>
          <a:p>
            <a:pPr marL="194945" indent="-182245">
              <a:lnSpc>
                <a:spcPct val="100000"/>
              </a:lnSpc>
              <a:spcBef>
                <a:spcPts val="700"/>
              </a:spcBef>
              <a:buClr>
                <a:srgbClr val="9E3611"/>
              </a:buClr>
              <a:buSzPct val="82142"/>
              <a:buFont typeface="Wingdings"/>
              <a:buChar char=""/>
              <a:tabLst>
                <a:tab pos="194945" algn="l"/>
              </a:tabLst>
            </a:pPr>
            <a:r>
              <a:rPr sz="1400" b="1" spc="60" dirty="0">
                <a:latin typeface="Cambria"/>
                <a:cs typeface="Cambria"/>
              </a:rPr>
              <a:t>Mutable</a:t>
            </a:r>
            <a:r>
              <a:rPr sz="1400" b="1" spc="85" dirty="0">
                <a:latin typeface="Cambria"/>
                <a:cs typeface="Cambria"/>
              </a:rPr>
              <a:t> </a:t>
            </a:r>
            <a:r>
              <a:rPr sz="1400" b="1" dirty="0">
                <a:latin typeface="Cambria"/>
                <a:cs typeface="Cambria"/>
              </a:rPr>
              <a:t>and</a:t>
            </a:r>
            <a:r>
              <a:rPr sz="1400" b="1" spc="60" dirty="0">
                <a:latin typeface="Cambria"/>
                <a:cs typeface="Cambria"/>
              </a:rPr>
              <a:t> Immutable</a:t>
            </a:r>
            <a:r>
              <a:rPr sz="1400" b="1" spc="80" dirty="0">
                <a:latin typeface="Cambria"/>
                <a:cs typeface="Cambria"/>
              </a:rPr>
              <a:t> </a:t>
            </a:r>
            <a:r>
              <a:rPr sz="1400" b="1" spc="50" dirty="0">
                <a:latin typeface="Cambria"/>
                <a:cs typeface="Cambria"/>
              </a:rPr>
              <a:t>Data</a:t>
            </a:r>
            <a:r>
              <a:rPr sz="1400" b="1" spc="-30" dirty="0">
                <a:latin typeface="Cambria"/>
                <a:cs typeface="Cambria"/>
              </a:rPr>
              <a:t> </a:t>
            </a:r>
            <a:r>
              <a:rPr sz="1400" b="1" spc="60" dirty="0">
                <a:latin typeface="Cambria"/>
                <a:cs typeface="Cambria"/>
              </a:rPr>
              <a:t>Types</a:t>
            </a:r>
            <a:r>
              <a:rPr sz="1400" b="1" spc="70" dirty="0">
                <a:latin typeface="Cambria"/>
                <a:cs typeface="Cambria"/>
              </a:rPr>
              <a:t> </a:t>
            </a:r>
            <a:r>
              <a:rPr sz="1400" b="1" dirty="0">
                <a:latin typeface="Cambria"/>
                <a:cs typeface="Cambria"/>
              </a:rPr>
              <a:t>in</a:t>
            </a:r>
            <a:r>
              <a:rPr lang="en-GB" sz="1400" b="1" spc="80" dirty="0">
                <a:latin typeface="Cambria"/>
                <a:cs typeface="Cambria"/>
              </a:rPr>
              <a:t> a programming language</a:t>
            </a:r>
            <a:endParaRPr sz="1400" dirty="0">
              <a:latin typeface="Cambria"/>
              <a:cs typeface="Cambria"/>
            </a:endParaRPr>
          </a:p>
          <a:p>
            <a:pPr marL="194945" indent="-182245">
              <a:lnSpc>
                <a:spcPct val="100000"/>
              </a:lnSpc>
              <a:spcBef>
                <a:spcPts val="695"/>
              </a:spcBef>
              <a:buClr>
                <a:srgbClr val="9E3611"/>
              </a:buClr>
              <a:buSzPct val="82142"/>
              <a:buFont typeface="Wingdings"/>
              <a:buChar char=""/>
              <a:tabLst>
                <a:tab pos="194945" algn="l"/>
              </a:tabLst>
            </a:pPr>
            <a:r>
              <a:rPr sz="1400" b="1" spc="55" dirty="0">
                <a:latin typeface="Cambria"/>
                <a:cs typeface="Cambria"/>
              </a:rPr>
              <a:t>Characteristics </a:t>
            </a:r>
            <a:r>
              <a:rPr sz="1400" b="1" dirty="0">
                <a:latin typeface="Cambria"/>
                <a:cs typeface="Cambria"/>
              </a:rPr>
              <a:t>of</a:t>
            </a:r>
            <a:r>
              <a:rPr sz="1400" b="1" spc="75" dirty="0">
                <a:latin typeface="Cambria"/>
                <a:cs typeface="Cambria"/>
              </a:rPr>
              <a:t> </a:t>
            </a:r>
            <a:r>
              <a:rPr sz="1400" b="1" spc="60" dirty="0">
                <a:latin typeface="Cambria"/>
                <a:cs typeface="Cambria"/>
              </a:rPr>
              <a:t>Mutable</a:t>
            </a:r>
            <a:r>
              <a:rPr sz="1400" b="1" spc="80" dirty="0">
                <a:latin typeface="Cambria"/>
                <a:cs typeface="Cambria"/>
              </a:rPr>
              <a:t> </a:t>
            </a:r>
            <a:r>
              <a:rPr sz="1400" b="1" spc="65" dirty="0">
                <a:latin typeface="Cambria"/>
                <a:cs typeface="Cambria"/>
              </a:rPr>
              <a:t>Objects</a:t>
            </a:r>
            <a:endParaRPr sz="1400" dirty="0">
              <a:latin typeface="Cambria"/>
              <a:cs typeface="Cambria"/>
            </a:endParaRPr>
          </a:p>
          <a:p>
            <a:pPr marL="194945" indent="-182245">
              <a:lnSpc>
                <a:spcPct val="100000"/>
              </a:lnSpc>
              <a:spcBef>
                <a:spcPts val="695"/>
              </a:spcBef>
              <a:buClr>
                <a:srgbClr val="9E3611"/>
              </a:buClr>
              <a:buSzPct val="82142"/>
              <a:buFont typeface="Wingdings"/>
              <a:buChar char=""/>
              <a:tabLst>
                <a:tab pos="194945" algn="l"/>
              </a:tabLst>
            </a:pPr>
            <a:r>
              <a:rPr sz="1400" b="1" spc="55" dirty="0">
                <a:latin typeface="Cambria"/>
                <a:cs typeface="Cambria"/>
              </a:rPr>
              <a:t>Characteristics</a:t>
            </a:r>
            <a:r>
              <a:rPr sz="1400" b="1" spc="50" dirty="0">
                <a:latin typeface="Cambria"/>
                <a:cs typeface="Cambria"/>
              </a:rPr>
              <a:t> </a:t>
            </a:r>
            <a:r>
              <a:rPr sz="1400" b="1" dirty="0">
                <a:latin typeface="Cambria"/>
                <a:cs typeface="Cambria"/>
              </a:rPr>
              <a:t>of</a:t>
            </a:r>
            <a:r>
              <a:rPr sz="1400" b="1" spc="70" dirty="0">
                <a:latin typeface="Cambria"/>
                <a:cs typeface="Cambria"/>
              </a:rPr>
              <a:t> </a:t>
            </a:r>
            <a:r>
              <a:rPr sz="1400" b="1" spc="60" dirty="0">
                <a:latin typeface="Cambria"/>
                <a:cs typeface="Cambria"/>
              </a:rPr>
              <a:t>Immutable</a:t>
            </a:r>
            <a:r>
              <a:rPr sz="1400" b="1" spc="70" dirty="0">
                <a:latin typeface="Cambria"/>
                <a:cs typeface="Cambria"/>
              </a:rPr>
              <a:t> </a:t>
            </a:r>
            <a:r>
              <a:rPr sz="1400" b="1" spc="65" dirty="0">
                <a:latin typeface="Cambria"/>
                <a:cs typeface="Cambria"/>
              </a:rPr>
              <a:t>Objects</a:t>
            </a:r>
            <a:endParaRPr sz="1400" dirty="0">
              <a:latin typeface="Cambria"/>
              <a:cs typeface="Cambria"/>
            </a:endParaRPr>
          </a:p>
          <a:p>
            <a:pPr marL="194945" indent="-182245">
              <a:lnSpc>
                <a:spcPct val="100000"/>
              </a:lnSpc>
              <a:spcBef>
                <a:spcPts val="700"/>
              </a:spcBef>
              <a:buClr>
                <a:srgbClr val="9E3611"/>
              </a:buClr>
              <a:buSzPct val="82142"/>
              <a:buFont typeface="Wingdings"/>
              <a:buChar char=""/>
              <a:tabLst>
                <a:tab pos="194945" algn="l"/>
              </a:tabLst>
            </a:pPr>
            <a:r>
              <a:rPr sz="1400" b="1" spc="55" dirty="0">
                <a:latin typeface="Cambria"/>
                <a:cs typeface="Cambria"/>
              </a:rPr>
              <a:t>Implications</a:t>
            </a:r>
            <a:r>
              <a:rPr sz="1400" b="1" spc="70" dirty="0">
                <a:latin typeface="Cambria"/>
                <a:cs typeface="Cambria"/>
              </a:rPr>
              <a:t> </a:t>
            </a:r>
            <a:r>
              <a:rPr sz="1400" b="1" dirty="0">
                <a:latin typeface="Cambria"/>
                <a:cs typeface="Cambria"/>
              </a:rPr>
              <a:t>of</a:t>
            </a:r>
            <a:r>
              <a:rPr sz="1400" b="1" spc="55" dirty="0">
                <a:latin typeface="Cambria"/>
                <a:cs typeface="Cambria"/>
              </a:rPr>
              <a:t> </a:t>
            </a:r>
            <a:r>
              <a:rPr sz="1400" b="1" spc="45" dirty="0">
                <a:latin typeface="Cambria"/>
                <a:cs typeface="Cambria"/>
              </a:rPr>
              <a:t>Mutability</a:t>
            </a:r>
            <a:endParaRPr sz="1400" dirty="0">
              <a:latin typeface="Cambria"/>
              <a:cs typeface="Cambria"/>
            </a:endParaRPr>
          </a:p>
          <a:p>
            <a:pPr marL="194945" indent="-182245">
              <a:lnSpc>
                <a:spcPct val="100000"/>
              </a:lnSpc>
              <a:spcBef>
                <a:spcPts val="695"/>
              </a:spcBef>
              <a:buClr>
                <a:srgbClr val="9E3611"/>
              </a:buClr>
              <a:buSzPct val="82142"/>
              <a:buFont typeface="Wingdings"/>
              <a:buChar char=""/>
              <a:tabLst>
                <a:tab pos="194945" algn="l"/>
              </a:tabLst>
            </a:pPr>
            <a:r>
              <a:rPr sz="1400" b="1" spc="55" dirty="0">
                <a:latin typeface="Cambria"/>
                <a:cs typeface="Cambria"/>
              </a:rPr>
              <a:t>Implications</a:t>
            </a:r>
            <a:r>
              <a:rPr sz="1400" b="1" spc="70" dirty="0">
                <a:latin typeface="Cambria"/>
                <a:cs typeface="Cambria"/>
              </a:rPr>
              <a:t> </a:t>
            </a:r>
            <a:r>
              <a:rPr sz="1400" b="1" dirty="0">
                <a:latin typeface="Cambria"/>
                <a:cs typeface="Cambria"/>
              </a:rPr>
              <a:t>of</a:t>
            </a:r>
            <a:r>
              <a:rPr sz="1400" b="1" spc="55" dirty="0">
                <a:latin typeface="Cambria"/>
                <a:cs typeface="Cambria"/>
              </a:rPr>
              <a:t> </a:t>
            </a:r>
            <a:r>
              <a:rPr sz="1400" b="1" spc="45" dirty="0">
                <a:latin typeface="Cambria"/>
                <a:cs typeface="Cambria"/>
              </a:rPr>
              <a:t>Immutability</a:t>
            </a:r>
            <a:endParaRPr sz="1400" dirty="0">
              <a:latin typeface="Cambria"/>
              <a:cs typeface="Cambria"/>
            </a:endParaRPr>
          </a:p>
          <a:p>
            <a:pPr marL="194945" indent="-182245">
              <a:lnSpc>
                <a:spcPct val="100000"/>
              </a:lnSpc>
              <a:spcBef>
                <a:spcPts val="695"/>
              </a:spcBef>
              <a:buClr>
                <a:srgbClr val="9E3611"/>
              </a:buClr>
              <a:buSzPct val="82142"/>
              <a:buFont typeface="Wingdings"/>
              <a:buChar char=""/>
              <a:tabLst>
                <a:tab pos="194945" algn="l"/>
              </a:tabLst>
            </a:pPr>
            <a:r>
              <a:rPr sz="1400" b="1" spc="55" dirty="0">
                <a:latin typeface="Cambria"/>
                <a:cs typeface="Cambria"/>
              </a:rPr>
              <a:t>Applying</a:t>
            </a:r>
            <a:r>
              <a:rPr sz="1400" b="1" spc="85" dirty="0">
                <a:latin typeface="Cambria"/>
                <a:cs typeface="Cambria"/>
              </a:rPr>
              <a:t> </a:t>
            </a:r>
            <a:r>
              <a:rPr sz="1400" b="1" spc="55" dirty="0">
                <a:latin typeface="Cambria"/>
                <a:cs typeface="Cambria"/>
              </a:rPr>
              <a:t>Mutability</a:t>
            </a:r>
            <a:r>
              <a:rPr sz="1400" b="1" spc="130" dirty="0">
                <a:latin typeface="Cambria"/>
                <a:cs typeface="Cambria"/>
              </a:rPr>
              <a:t> </a:t>
            </a:r>
            <a:r>
              <a:rPr sz="1400" b="1" dirty="0">
                <a:latin typeface="Cambria"/>
                <a:cs typeface="Cambria"/>
              </a:rPr>
              <a:t>and</a:t>
            </a:r>
            <a:r>
              <a:rPr sz="1400" b="1" spc="85" dirty="0">
                <a:latin typeface="Cambria"/>
                <a:cs typeface="Cambria"/>
              </a:rPr>
              <a:t> </a:t>
            </a:r>
            <a:r>
              <a:rPr sz="1400" b="1" spc="55" dirty="0">
                <a:latin typeface="Cambria"/>
                <a:cs typeface="Cambria"/>
              </a:rPr>
              <a:t>Immutability</a:t>
            </a:r>
            <a:r>
              <a:rPr sz="1400" b="1" spc="114" dirty="0">
                <a:latin typeface="Cambria"/>
                <a:cs typeface="Cambria"/>
              </a:rPr>
              <a:t> </a:t>
            </a:r>
            <a:r>
              <a:rPr sz="1400" b="1" dirty="0">
                <a:latin typeface="Cambria"/>
                <a:cs typeface="Cambria"/>
              </a:rPr>
              <a:t>in</a:t>
            </a:r>
            <a:r>
              <a:rPr sz="1400" b="1" spc="95" dirty="0">
                <a:latin typeface="Cambria"/>
                <a:cs typeface="Cambria"/>
              </a:rPr>
              <a:t> </a:t>
            </a:r>
            <a:r>
              <a:rPr sz="1400" b="1" spc="70" dirty="0">
                <a:latin typeface="Cambria"/>
                <a:cs typeface="Cambria"/>
              </a:rPr>
              <a:t>Code</a:t>
            </a:r>
            <a:endParaRPr sz="1400" dirty="0">
              <a:latin typeface="Cambria"/>
              <a:cs typeface="Cambria"/>
            </a:endParaRPr>
          </a:p>
          <a:p>
            <a:pPr marL="194945" indent="-182245">
              <a:lnSpc>
                <a:spcPct val="100000"/>
              </a:lnSpc>
              <a:spcBef>
                <a:spcPts val="700"/>
              </a:spcBef>
              <a:buClr>
                <a:srgbClr val="9E3611"/>
              </a:buClr>
              <a:buSzPct val="82142"/>
              <a:buFont typeface="Wingdings"/>
              <a:buChar char=""/>
              <a:tabLst>
                <a:tab pos="194945" algn="l"/>
              </a:tabLst>
            </a:pPr>
            <a:r>
              <a:rPr sz="1400" b="1" spc="100" dirty="0">
                <a:latin typeface="Cambria"/>
                <a:cs typeface="Cambria"/>
              </a:rPr>
              <a:t>Making</a:t>
            </a:r>
            <a:r>
              <a:rPr sz="1400" b="1" spc="25" dirty="0">
                <a:latin typeface="Cambria"/>
                <a:cs typeface="Cambria"/>
              </a:rPr>
              <a:t> </a:t>
            </a:r>
            <a:r>
              <a:rPr sz="1400" b="1" spc="50" dirty="0">
                <a:latin typeface="Cambria"/>
                <a:cs typeface="Cambria"/>
              </a:rPr>
              <a:t>Informed </a:t>
            </a:r>
            <a:r>
              <a:rPr sz="1400" b="1" spc="80" dirty="0">
                <a:latin typeface="Cambria"/>
                <a:cs typeface="Cambria"/>
              </a:rPr>
              <a:t>Design</a:t>
            </a:r>
            <a:r>
              <a:rPr sz="1400" b="1" spc="30" dirty="0">
                <a:latin typeface="Cambria"/>
                <a:cs typeface="Cambria"/>
              </a:rPr>
              <a:t> </a:t>
            </a:r>
            <a:r>
              <a:rPr sz="1400" b="1" spc="80" dirty="0">
                <a:latin typeface="Cambria"/>
                <a:cs typeface="Cambria"/>
              </a:rPr>
              <a:t>Choices</a:t>
            </a:r>
            <a:endParaRPr sz="1400" dirty="0">
              <a:latin typeface="Cambria"/>
              <a:cs typeface="Cambria"/>
            </a:endParaRPr>
          </a:p>
          <a:p>
            <a:pPr marL="194945" indent="-182245">
              <a:lnSpc>
                <a:spcPct val="100000"/>
              </a:lnSpc>
              <a:spcBef>
                <a:spcPts val="695"/>
              </a:spcBef>
              <a:buClr>
                <a:srgbClr val="9E3611"/>
              </a:buClr>
              <a:buSzPct val="82142"/>
              <a:buFont typeface="Wingdings"/>
              <a:buChar char=""/>
              <a:tabLst>
                <a:tab pos="194945" algn="l"/>
              </a:tabLst>
            </a:pPr>
            <a:r>
              <a:rPr sz="1400" b="1" spc="50" dirty="0">
                <a:latin typeface="Cambria"/>
                <a:cs typeface="Cambria"/>
              </a:rPr>
              <a:t>Role</a:t>
            </a:r>
            <a:r>
              <a:rPr sz="1400" b="1" spc="75" dirty="0">
                <a:latin typeface="Cambria"/>
                <a:cs typeface="Cambria"/>
              </a:rPr>
              <a:t> </a:t>
            </a:r>
            <a:r>
              <a:rPr sz="1400" b="1" dirty="0">
                <a:latin typeface="Cambria"/>
                <a:cs typeface="Cambria"/>
              </a:rPr>
              <a:t>of</a:t>
            </a:r>
            <a:r>
              <a:rPr sz="1400" b="1" spc="65" dirty="0">
                <a:latin typeface="Cambria"/>
                <a:cs typeface="Cambria"/>
              </a:rPr>
              <a:t> </a:t>
            </a:r>
            <a:r>
              <a:rPr sz="1400" b="1" spc="55" dirty="0">
                <a:latin typeface="Cambria"/>
                <a:cs typeface="Cambria"/>
              </a:rPr>
              <a:t>Mutability</a:t>
            </a:r>
            <a:r>
              <a:rPr sz="1400" b="1" spc="110" dirty="0">
                <a:latin typeface="Cambria"/>
                <a:cs typeface="Cambria"/>
              </a:rPr>
              <a:t> </a:t>
            </a:r>
            <a:r>
              <a:rPr sz="1400" b="1" dirty="0">
                <a:latin typeface="Cambria"/>
                <a:cs typeface="Cambria"/>
              </a:rPr>
              <a:t>in</a:t>
            </a:r>
            <a:r>
              <a:rPr sz="1400" b="1" spc="65" dirty="0">
                <a:latin typeface="Cambria"/>
                <a:cs typeface="Cambria"/>
              </a:rPr>
              <a:t> </a:t>
            </a:r>
            <a:r>
              <a:rPr sz="1400" b="1" spc="70" dirty="0">
                <a:latin typeface="Cambria"/>
                <a:cs typeface="Cambria"/>
              </a:rPr>
              <a:t>Debugging</a:t>
            </a:r>
            <a:endParaRPr sz="1400" dirty="0">
              <a:latin typeface="Cambria"/>
              <a:cs typeface="Cambria"/>
            </a:endParaRPr>
          </a:p>
          <a:p>
            <a:pPr marL="194945" indent="-182245">
              <a:lnSpc>
                <a:spcPct val="100000"/>
              </a:lnSpc>
              <a:spcBef>
                <a:spcPts val="575"/>
              </a:spcBef>
              <a:buClr>
                <a:srgbClr val="9E3611"/>
              </a:buClr>
              <a:buSzPct val="85294"/>
              <a:buFont typeface="Wingdings"/>
              <a:buChar char=""/>
              <a:tabLst>
                <a:tab pos="194945" algn="l"/>
              </a:tabLst>
            </a:pPr>
            <a:r>
              <a:rPr sz="1700" b="1" dirty="0">
                <a:latin typeface="Times New Roman"/>
                <a:cs typeface="Times New Roman"/>
              </a:rPr>
              <a:t>Real</a:t>
            </a:r>
            <a:r>
              <a:rPr sz="1700" b="1" spc="-65" dirty="0">
                <a:latin typeface="Times New Roman"/>
                <a:cs typeface="Times New Roman"/>
              </a:rPr>
              <a:t> </a:t>
            </a:r>
            <a:r>
              <a:rPr sz="1700" b="1" spc="-30" dirty="0">
                <a:latin typeface="Times New Roman"/>
                <a:cs typeface="Times New Roman"/>
              </a:rPr>
              <a:t>World</a:t>
            </a:r>
            <a:r>
              <a:rPr sz="1700" b="1" spc="-105" dirty="0">
                <a:latin typeface="Times New Roman"/>
                <a:cs typeface="Times New Roman"/>
              </a:rPr>
              <a:t> </a:t>
            </a:r>
            <a:r>
              <a:rPr sz="1700" b="1" dirty="0">
                <a:latin typeface="Times New Roman"/>
                <a:cs typeface="Times New Roman"/>
              </a:rPr>
              <a:t>Application of</a:t>
            </a:r>
            <a:r>
              <a:rPr sz="1700" b="1" spc="-10" dirty="0">
                <a:latin typeface="Times New Roman"/>
                <a:cs typeface="Times New Roman"/>
              </a:rPr>
              <a:t> </a:t>
            </a:r>
            <a:r>
              <a:rPr sz="1700" b="1" spc="70" dirty="0">
                <a:latin typeface="Cambria"/>
                <a:cs typeface="Cambria"/>
              </a:rPr>
              <a:t>Mutability</a:t>
            </a:r>
            <a:r>
              <a:rPr sz="1700" b="1" spc="20" dirty="0">
                <a:latin typeface="Cambria"/>
                <a:cs typeface="Cambria"/>
              </a:rPr>
              <a:t> </a:t>
            </a:r>
            <a:r>
              <a:rPr sz="1700" b="1" spc="55" dirty="0">
                <a:latin typeface="Cambria"/>
                <a:cs typeface="Cambria"/>
              </a:rPr>
              <a:t>and</a:t>
            </a:r>
            <a:r>
              <a:rPr sz="1700" b="1" spc="25" dirty="0">
                <a:latin typeface="Cambria"/>
                <a:cs typeface="Cambria"/>
              </a:rPr>
              <a:t> </a:t>
            </a:r>
            <a:r>
              <a:rPr sz="1700" b="1" spc="60" dirty="0">
                <a:latin typeface="Cambria"/>
                <a:cs typeface="Cambria"/>
              </a:rPr>
              <a:t>Immutability</a:t>
            </a:r>
            <a:endParaRPr sz="1700" dirty="0">
              <a:latin typeface="Cambria"/>
              <a:cs typeface="Cambria"/>
            </a:endParaRPr>
          </a:p>
        </p:txBody>
      </p:sp>
      <p:pic>
        <p:nvPicPr>
          <p:cNvPr id="5" name="object 5"/>
          <p:cNvPicPr/>
          <p:nvPr/>
        </p:nvPicPr>
        <p:blipFill>
          <a:blip r:embed="rId4" cstate="print"/>
          <a:stretch>
            <a:fillRect/>
          </a:stretch>
        </p:blipFill>
        <p:spPr>
          <a:xfrm>
            <a:off x="8548169" y="2432369"/>
            <a:ext cx="2947267" cy="2822312"/>
          </a:xfrm>
          <a:prstGeom prst="rect">
            <a:avLst/>
          </a:prstGeom>
        </p:spPr>
      </p:pic>
      <p:pic>
        <p:nvPicPr>
          <p:cNvPr id="6" name="object 6"/>
          <p:cNvPicPr/>
          <p:nvPr/>
        </p:nvPicPr>
        <p:blipFill>
          <a:blip r:embed="rId5" cstate="print"/>
          <a:stretch>
            <a:fillRect/>
          </a:stretch>
        </p:blipFill>
        <p:spPr>
          <a:xfrm>
            <a:off x="165251" y="85969"/>
            <a:ext cx="3409393" cy="83390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54837" y="2173140"/>
            <a:ext cx="5827395" cy="2879634"/>
          </a:xfrm>
          <a:prstGeom prst="rect">
            <a:avLst/>
          </a:prstGeom>
        </p:spPr>
        <p:txBody>
          <a:bodyPr vert="horz" wrap="square" lIns="0" tIns="133985" rIns="0" bIns="0" rtlCol="0">
            <a:spAutoFit/>
          </a:bodyPr>
          <a:lstStyle/>
          <a:p>
            <a:pPr marL="194945" indent="-182245">
              <a:lnSpc>
                <a:spcPct val="100000"/>
              </a:lnSpc>
              <a:spcBef>
                <a:spcPts val="1055"/>
              </a:spcBef>
              <a:buClr>
                <a:srgbClr val="9E3611"/>
              </a:buClr>
              <a:buSzPct val="85000"/>
              <a:buFont typeface="Wingdings"/>
              <a:buChar char=""/>
              <a:tabLst>
                <a:tab pos="194945" algn="l"/>
              </a:tabLst>
            </a:pPr>
            <a:r>
              <a:rPr sz="2000" b="1" spc="55" dirty="0">
                <a:latin typeface="Cambria"/>
                <a:cs typeface="Cambria"/>
              </a:rPr>
              <a:t>Slide</a:t>
            </a:r>
            <a:r>
              <a:rPr sz="2000" b="1" spc="100" dirty="0">
                <a:latin typeface="Cambria"/>
                <a:cs typeface="Cambria"/>
              </a:rPr>
              <a:t> </a:t>
            </a:r>
            <a:r>
              <a:rPr sz="2000" b="1" dirty="0">
                <a:latin typeface="Cambria"/>
                <a:cs typeface="Cambria"/>
              </a:rPr>
              <a:t>1:</a:t>
            </a:r>
            <a:r>
              <a:rPr sz="2000" b="1" spc="-70" dirty="0">
                <a:latin typeface="Cambria"/>
                <a:cs typeface="Cambria"/>
              </a:rPr>
              <a:t> </a:t>
            </a:r>
            <a:r>
              <a:rPr sz="2000" b="1" spc="-10" dirty="0">
                <a:latin typeface="Cambria"/>
                <a:cs typeface="Cambria"/>
              </a:rPr>
              <a:t>Introduction</a:t>
            </a:r>
            <a:endParaRPr sz="2000" dirty="0">
              <a:latin typeface="Cambria"/>
              <a:cs typeface="Cambria"/>
            </a:endParaRPr>
          </a:p>
          <a:p>
            <a:pPr marL="194945" indent="-182245">
              <a:lnSpc>
                <a:spcPts val="2280"/>
              </a:lnSpc>
              <a:spcBef>
                <a:spcPts val="960"/>
              </a:spcBef>
              <a:buClr>
                <a:srgbClr val="9E3611"/>
              </a:buClr>
              <a:buSzPct val="85000"/>
              <a:buFont typeface="Wingdings"/>
              <a:buChar char=""/>
              <a:tabLst>
                <a:tab pos="194945" algn="l"/>
              </a:tabLst>
            </a:pPr>
            <a:r>
              <a:rPr lang="en-GB" sz="2000" spc="10" dirty="0">
                <a:latin typeface="Cambria"/>
                <a:cs typeface="Cambria"/>
              </a:rPr>
              <a:t>C# or any other programming language</a:t>
            </a:r>
            <a:r>
              <a:rPr sz="2000" spc="170" dirty="0">
                <a:latin typeface="Cambria"/>
                <a:cs typeface="Cambria"/>
              </a:rPr>
              <a:t> </a:t>
            </a:r>
            <a:r>
              <a:rPr sz="2000" spc="95" dirty="0">
                <a:latin typeface="Cambria"/>
                <a:cs typeface="Cambria"/>
              </a:rPr>
              <a:t>deals</a:t>
            </a:r>
            <a:r>
              <a:rPr sz="2000" spc="170" dirty="0">
                <a:latin typeface="Cambria"/>
                <a:cs typeface="Cambria"/>
              </a:rPr>
              <a:t> </a:t>
            </a:r>
            <a:r>
              <a:rPr sz="2000" spc="10" dirty="0">
                <a:latin typeface="Cambria"/>
                <a:cs typeface="Cambria"/>
              </a:rPr>
              <a:t>with</a:t>
            </a:r>
            <a:r>
              <a:rPr sz="2000" spc="175" dirty="0">
                <a:latin typeface="Cambria"/>
                <a:cs typeface="Cambria"/>
              </a:rPr>
              <a:t> </a:t>
            </a:r>
            <a:r>
              <a:rPr sz="2000" spc="10" dirty="0">
                <a:latin typeface="Cambria"/>
                <a:cs typeface="Cambria"/>
              </a:rPr>
              <a:t>mutability</a:t>
            </a:r>
            <a:r>
              <a:rPr sz="2000" spc="135" dirty="0">
                <a:latin typeface="Cambria"/>
                <a:cs typeface="Cambria"/>
              </a:rPr>
              <a:t> </a:t>
            </a:r>
            <a:r>
              <a:rPr sz="2000" spc="85" dirty="0">
                <a:latin typeface="Cambria"/>
                <a:cs typeface="Cambria"/>
              </a:rPr>
              <a:t>and</a:t>
            </a:r>
            <a:r>
              <a:rPr sz="2000" spc="170" dirty="0">
                <a:latin typeface="Cambria"/>
                <a:cs typeface="Cambria"/>
              </a:rPr>
              <a:t> </a:t>
            </a:r>
            <a:r>
              <a:rPr sz="2000" spc="10" dirty="0">
                <a:latin typeface="Cambria"/>
                <a:cs typeface="Cambria"/>
              </a:rPr>
              <a:t>immutability</a:t>
            </a:r>
            <a:r>
              <a:rPr sz="2000" spc="155" dirty="0">
                <a:latin typeface="Cambria"/>
                <a:cs typeface="Cambria"/>
              </a:rPr>
              <a:t> </a:t>
            </a:r>
            <a:r>
              <a:rPr sz="2000" spc="-25" dirty="0">
                <a:latin typeface="Cambria"/>
                <a:cs typeface="Cambria"/>
              </a:rPr>
              <a:t>of</a:t>
            </a:r>
            <a:endParaRPr sz="2000" dirty="0">
              <a:latin typeface="Cambria"/>
              <a:cs typeface="Cambria"/>
            </a:endParaRPr>
          </a:p>
          <a:p>
            <a:pPr marL="194945">
              <a:lnSpc>
                <a:spcPts val="2280"/>
              </a:lnSpc>
            </a:pPr>
            <a:r>
              <a:rPr sz="2000" spc="85" dirty="0">
                <a:latin typeface="Cambria"/>
                <a:cs typeface="Cambria"/>
              </a:rPr>
              <a:t>objects.</a:t>
            </a:r>
            <a:endParaRPr sz="2000" dirty="0">
              <a:latin typeface="Cambria"/>
              <a:cs typeface="Cambria"/>
            </a:endParaRPr>
          </a:p>
          <a:p>
            <a:pPr marL="194945" marR="113664" indent="-182880">
              <a:lnSpc>
                <a:spcPts val="2160"/>
              </a:lnSpc>
              <a:spcBef>
                <a:spcPts val="1230"/>
              </a:spcBef>
              <a:buClr>
                <a:srgbClr val="9E3611"/>
              </a:buClr>
              <a:buSzPct val="85000"/>
              <a:buFont typeface="Wingdings"/>
              <a:buChar char=""/>
              <a:tabLst>
                <a:tab pos="194945" algn="l"/>
              </a:tabLst>
            </a:pPr>
            <a:r>
              <a:rPr sz="2000" spc="30" dirty="0">
                <a:latin typeface="Cambria"/>
                <a:cs typeface="Cambria"/>
              </a:rPr>
              <a:t>Mutability:</a:t>
            </a:r>
            <a:r>
              <a:rPr sz="2000" spc="-85" dirty="0">
                <a:latin typeface="Cambria"/>
                <a:cs typeface="Cambria"/>
              </a:rPr>
              <a:t> </a:t>
            </a:r>
            <a:r>
              <a:rPr sz="2000" spc="65" dirty="0">
                <a:latin typeface="Cambria"/>
                <a:cs typeface="Cambria"/>
              </a:rPr>
              <a:t>Ability</a:t>
            </a:r>
            <a:r>
              <a:rPr sz="2000" spc="105" dirty="0">
                <a:latin typeface="Cambria"/>
                <a:cs typeface="Cambria"/>
              </a:rPr>
              <a:t> </a:t>
            </a:r>
            <a:r>
              <a:rPr sz="2000" spc="30" dirty="0">
                <a:latin typeface="Cambria"/>
                <a:cs typeface="Cambria"/>
              </a:rPr>
              <a:t>to</a:t>
            </a:r>
            <a:r>
              <a:rPr sz="2000" spc="114" dirty="0">
                <a:latin typeface="Cambria"/>
                <a:cs typeface="Cambria"/>
              </a:rPr>
              <a:t> change</a:t>
            </a:r>
            <a:r>
              <a:rPr sz="2000" spc="100" dirty="0">
                <a:latin typeface="Cambria"/>
                <a:cs typeface="Cambria"/>
              </a:rPr>
              <a:t> </a:t>
            </a:r>
            <a:r>
              <a:rPr sz="2000" spc="30" dirty="0">
                <a:latin typeface="Cambria"/>
                <a:cs typeface="Cambria"/>
              </a:rPr>
              <a:t>(modify)</a:t>
            </a:r>
            <a:r>
              <a:rPr sz="2000" spc="105" dirty="0">
                <a:latin typeface="Cambria"/>
                <a:cs typeface="Cambria"/>
              </a:rPr>
              <a:t> </a:t>
            </a:r>
            <a:r>
              <a:rPr sz="2000" spc="30" dirty="0">
                <a:latin typeface="Cambria"/>
                <a:cs typeface="Cambria"/>
              </a:rPr>
              <a:t>an</a:t>
            </a:r>
            <a:r>
              <a:rPr sz="2000" spc="120" dirty="0">
                <a:latin typeface="Cambria"/>
                <a:cs typeface="Cambria"/>
              </a:rPr>
              <a:t> </a:t>
            </a:r>
            <a:r>
              <a:rPr sz="2000" spc="85" dirty="0">
                <a:latin typeface="Cambria"/>
                <a:cs typeface="Cambria"/>
              </a:rPr>
              <a:t>object </a:t>
            </a:r>
            <a:r>
              <a:rPr sz="2000" dirty="0">
                <a:latin typeface="Cambria"/>
                <a:cs typeface="Cambria"/>
              </a:rPr>
              <a:t>after</a:t>
            </a:r>
            <a:r>
              <a:rPr sz="2000" spc="130" dirty="0">
                <a:latin typeface="Cambria"/>
                <a:cs typeface="Cambria"/>
              </a:rPr>
              <a:t> </a:t>
            </a:r>
            <a:r>
              <a:rPr sz="2000" dirty="0">
                <a:latin typeface="Cambria"/>
                <a:cs typeface="Cambria"/>
              </a:rPr>
              <a:t>its</a:t>
            </a:r>
            <a:r>
              <a:rPr sz="2000" spc="120" dirty="0">
                <a:latin typeface="Cambria"/>
                <a:cs typeface="Cambria"/>
              </a:rPr>
              <a:t> </a:t>
            </a:r>
            <a:r>
              <a:rPr sz="2000" spc="50" dirty="0">
                <a:latin typeface="Cambria"/>
                <a:cs typeface="Cambria"/>
              </a:rPr>
              <a:t>creation.</a:t>
            </a:r>
            <a:endParaRPr sz="2000" dirty="0">
              <a:latin typeface="Cambria"/>
              <a:cs typeface="Cambria"/>
            </a:endParaRPr>
          </a:p>
          <a:p>
            <a:pPr marL="194945" indent="-182245">
              <a:lnSpc>
                <a:spcPts val="2280"/>
              </a:lnSpc>
              <a:spcBef>
                <a:spcPts val="930"/>
              </a:spcBef>
              <a:buClr>
                <a:srgbClr val="9E3611"/>
              </a:buClr>
              <a:buSzPct val="85000"/>
              <a:buFont typeface="Wingdings"/>
              <a:buChar char=""/>
              <a:tabLst>
                <a:tab pos="194945" algn="l"/>
              </a:tabLst>
            </a:pPr>
            <a:r>
              <a:rPr sz="2000" spc="20" dirty="0">
                <a:latin typeface="Cambria"/>
                <a:cs typeface="Cambria"/>
              </a:rPr>
              <a:t>Immutability:</a:t>
            </a:r>
            <a:r>
              <a:rPr sz="2000" spc="-70" dirty="0">
                <a:latin typeface="Cambria"/>
                <a:cs typeface="Cambria"/>
              </a:rPr>
              <a:t> </a:t>
            </a:r>
            <a:r>
              <a:rPr sz="2000" spc="45" dirty="0">
                <a:latin typeface="Cambria"/>
                <a:cs typeface="Cambria"/>
              </a:rPr>
              <a:t>Inability</a:t>
            </a:r>
            <a:r>
              <a:rPr sz="2000" spc="130" dirty="0">
                <a:latin typeface="Cambria"/>
                <a:cs typeface="Cambria"/>
              </a:rPr>
              <a:t> </a:t>
            </a:r>
            <a:r>
              <a:rPr sz="2000" spc="20" dirty="0">
                <a:latin typeface="Cambria"/>
                <a:cs typeface="Cambria"/>
              </a:rPr>
              <a:t>to</a:t>
            </a:r>
            <a:r>
              <a:rPr sz="2000" spc="165" dirty="0">
                <a:latin typeface="Cambria"/>
                <a:cs typeface="Cambria"/>
              </a:rPr>
              <a:t> </a:t>
            </a:r>
            <a:r>
              <a:rPr sz="2000" spc="110" dirty="0">
                <a:latin typeface="Cambria"/>
                <a:cs typeface="Cambria"/>
              </a:rPr>
              <a:t>change</a:t>
            </a:r>
            <a:r>
              <a:rPr sz="2000" spc="145" dirty="0">
                <a:latin typeface="Cambria"/>
                <a:cs typeface="Cambria"/>
              </a:rPr>
              <a:t> </a:t>
            </a:r>
            <a:r>
              <a:rPr sz="2000" spc="20" dirty="0">
                <a:latin typeface="Cambria"/>
                <a:cs typeface="Cambria"/>
              </a:rPr>
              <a:t>(modify)</a:t>
            </a:r>
            <a:r>
              <a:rPr sz="2000" spc="145" dirty="0">
                <a:latin typeface="Cambria"/>
                <a:cs typeface="Cambria"/>
              </a:rPr>
              <a:t> </a:t>
            </a:r>
            <a:r>
              <a:rPr sz="2000" spc="30" dirty="0">
                <a:latin typeface="Cambria"/>
                <a:cs typeface="Cambria"/>
              </a:rPr>
              <a:t>an</a:t>
            </a:r>
            <a:endParaRPr sz="2000" dirty="0">
              <a:latin typeface="Cambria"/>
              <a:cs typeface="Cambria"/>
            </a:endParaRPr>
          </a:p>
          <a:p>
            <a:pPr marL="194945">
              <a:lnSpc>
                <a:spcPts val="2280"/>
              </a:lnSpc>
            </a:pPr>
            <a:r>
              <a:rPr sz="2000" spc="95" dirty="0">
                <a:latin typeface="Cambria"/>
                <a:cs typeface="Cambria"/>
              </a:rPr>
              <a:t>object</a:t>
            </a:r>
            <a:r>
              <a:rPr sz="2000" spc="90" dirty="0">
                <a:latin typeface="Cambria"/>
                <a:cs typeface="Cambria"/>
              </a:rPr>
              <a:t> </a:t>
            </a:r>
            <a:r>
              <a:rPr sz="2000" dirty="0">
                <a:latin typeface="Cambria"/>
                <a:cs typeface="Cambria"/>
              </a:rPr>
              <a:t>after</a:t>
            </a:r>
            <a:r>
              <a:rPr sz="2000" spc="110" dirty="0">
                <a:latin typeface="Cambria"/>
                <a:cs typeface="Cambria"/>
              </a:rPr>
              <a:t> </a:t>
            </a:r>
            <a:r>
              <a:rPr sz="2000" dirty="0">
                <a:latin typeface="Cambria"/>
                <a:cs typeface="Cambria"/>
              </a:rPr>
              <a:t>its</a:t>
            </a:r>
            <a:r>
              <a:rPr sz="2000" spc="105" dirty="0">
                <a:latin typeface="Cambria"/>
                <a:cs typeface="Cambria"/>
              </a:rPr>
              <a:t> </a:t>
            </a:r>
            <a:r>
              <a:rPr sz="2000" spc="50" dirty="0">
                <a:latin typeface="Cambria"/>
                <a:cs typeface="Cambria"/>
              </a:rPr>
              <a:t>creation.</a:t>
            </a:r>
            <a:endParaRPr sz="2000" dirty="0">
              <a:latin typeface="Cambria"/>
              <a:cs typeface="Cambria"/>
            </a:endParaRPr>
          </a:p>
        </p:txBody>
      </p:sp>
      <p:pic>
        <p:nvPicPr>
          <p:cNvPr id="4" name="object 4"/>
          <p:cNvPicPr/>
          <p:nvPr/>
        </p:nvPicPr>
        <p:blipFill>
          <a:blip r:embed="rId2" cstate="print"/>
          <a:stretch>
            <a:fillRect/>
          </a:stretch>
        </p:blipFill>
        <p:spPr>
          <a:xfrm>
            <a:off x="96228" y="142109"/>
            <a:ext cx="1985339" cy="491496"/>
          </a:xfrm>
          <a:prstGeom prst="rect">
            <a:avLst/>
          </a:prstGeom>
        </p:spPr>
      </p:pic>
      <p:grpSp>
        <p:nvGrpSpPr>
          <p:cNvPr id="5" name="object 5"/>
          <p:cNvGrpSpPr/>
          <p:nvPr/>
        </p:nvGrpSpPr>
        <p:grpSpPr>
          <a:xfrm>
            <a:off x="7001234" y="2282933"/>
            <a:ext cx="5191125" cy="3217545"/>
            <a:chOff x="7001234" y="2282933"/>
            <a:chExt cx="5191125" cy="3217545"/>
          </a:xfrm>
        </p:grpSpPr>
        <p:pic>
          <p:nvPicPr>
            <p:cNvPr id="6" name="object 6"/>
            <p:cNvPicPr/>
            <p:nvPr/>
          </p:nvPicPr>
          <p:blipFill>
            <a:blip r:embed="rId3" cstate="print"/>
            <a:stretch>
              <a:fillRect/>
            </a:stretch>
          </p:blipFill>
          <p:spPr>
            <a:xfrm>
              <a:off x="7001234" y="2282933"/>
              <a:ext cx="5190764" cy="3217073"/>
            </a:xfrm>
            <a:prstGeom prst="rect">
              <a:avLst/>
            </a:prstGeom>
          </p:spPr>
        </p:pic>
        <p:pic>
          <p:nvPicPr>
            <p:cNvPr id="7" name="object 7"/>
            <p:cNvPicPr/>
            <p:nvPr/>
          </p:nvPicPr>
          <p:blipFill>
            <a:blip r:embed="rId4" cstate="print"/>
            <a:stretch>
              <a:fillRect/>
            </a:stretch>
          </p:blipFill>
          <p:spPr>
            <a:xfrm>
              <a:off x="7159751" y="2441448"/>
              <a:ext cx="4834128" cy="2720340"/>
            </a:xfrm>
            <a:prstGeom prst="rect">
              <a:avLst/>
            </a:prstGeom>
          </p:spPr>
        </p:pic>
      </p:grpSp>
      <p:pic>
        <p:nvPicPr>
          <p:cNvPr id="8" name="Picture 7"/>
          <p:cNvPicPr>
            <a:picLocks noChangeAspect="1"/>
          </p:cNvPicPr>
          <p:nvPr/>
        </p:nvPicPr>
        <p:blipFill>
          <a:blip r:embed="rId5"/>
          <a:stretch>
            <a:fillRect/>
          </a:stretch>
        </p:blipFill>
        <p:spPr>
          <a:xfrm>
            <a:off x="2166654" y="1098573"/>
            <a:ext cx="7400925" cy="3048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54837" y="2173140"/>
            <a:ext cx="6406795" cy="3631122"/>
          </a:xfrm>
          <a:prstGeom prst="rect">
            <a:avLst/>
          </a:prstGeom>
        </p:spPr>
        <p:txBody>
          <a:bodyPr vert="horz" wrap="square" lIns="0" tIns="133985" rIns="0" bIns="0" rtlCol="0">
            <a:spAutoFit/>
          </a:bodyPr>
          <a:lstStyle/>
          <a:p>
            <a:pPr marL="285750" indent="-285750">
              <a:buFont typeface="Arial" panose="020B0604020202020204" pitchFamily="34" charset="0"/>
              <a:buChar char="•"/>
            </a:pPr>
            <a:r>
              <a:rPr lang="en-US" sz="1800" b="1" dirty="0">
                <a:latin typeface="Cambria" panose="02040503050406030204" pitchFamily="18" charset="0"/>
                <a:ea typeface="Cambria" panose="02040503050406030204" pitchFamily="18" charset="0"/>
              </a:rPr>
              <a:t>Mutable and immutable are English words that mean "can change" and "cannot change" respectively.</a:t>
            </a:r>
            <a:r>
              <a:rPr lang="en-US" sz="1800" dirty="0">
                <a:latin typeface="Cambria" panose="02040503050406030204" pitchFamily="18" charset="0"/>
                <a:ea typeface="Cambria" panose="02040503050406030204" pitchFamily="18" charset="0"/>
              </a:rPr>
              <a:t> </a:t>
            </a:r>
          </a:p>
          <a:p>
            <a:pPr marL="285750" indent="-285750">
              <a:buFont typeface="Arial" panose="020B0604020202020204" pitchFamily="34" charset="0"/>
              <a:buChar char="•"/>
            </a:pPr>
            <a:r>
              <a:rPr lang="en-US" sz="1800" dirty="0">
                <a:latin typeface="Cambria" panose="02040503050406030204" pitchFamily="18" charset="0"/>
                <a:ea typeface="Cambria" panose="02040503050406030204" pitchFamily="18" charset="0"/>
              </a:rPr>
              <a:t>The meaning of these words is the same in C# programming language; that means the mutable types are those whose data members can be changed after the instance is created but Immutable types are those whose data members can not be changed after the instance is created.</a:t>
            </a:r>
            <a:endParaRPr lang="en-GB" sz="1800" dirty="0">
              <a:latin typeface="Cambria" panose="02040503050406030204" pitchFamily="18" charset="0"/>
              <a:ea typeface="Cambria" panose="02040503050406030204" pitchFamily="18" charset="0"/>
            </a:endParaRPr>
          </a:p>
          <a:p>
            <a:pPr marL="285750" indent="-285750">
              <a:buFont typeface="Arial" panose="020B0604020202020204" pitchFamily="34" charset="0"/>
              <a:buChar char="•"/>
            </a:pPr>
            <a:r>
              <a:rPr lang="en-US" sz="1800" b="1" dirty="0">
                <a:latin typeface="Cambria" panose="02040503050406030204" pitchFamily="18" charset="0"/>
                <a:ea typeface="Cambria" panose="02040503050406030204" pitchFamily="18" charset="0"/>
              </a:rPr>
              <a:t>When we change the value of </a:t>
            </a:r>
            <a:r>
              <a:rPr lang="en-US" sz="1800" b="1" u="sng" dirty="0">
                <a:latin typeface="Cambria" panose="02040503050406030204" pitchFamily="18" charset="0"/>
                <a:ea typeface="Cambria" panose="02040503050406030204" pitchFamily="18" charset="0"/>
              </a:rPr>
              <a:t>mutable objects</a:t>
            </a:r>
            <a:r>
              <a:rPr lang="en-US" sz="1800" b="1" dirty="0">
                <a:latin typeface="Cambria" panose="02040503050406030204" pitchFamily="18" charset="0"/>
                <a:ea typeface="Cambria" panose="02040503050406030204" pitchFamily="18" charset="0"/>
              </a:rPr>
              <a:t>, value is changed in </a:t>
            </a:r>
            <a:r>
              <a:rPr lang="en-US" sz="1800" b="1" u="sng" dirty="0">
                <a:latin typeface="Cambria" panose="02040503050406030204" pitchFamily="18" charset="0"/>
                <a:ea typeface="Cambria" panose="02040503050406030204" pitchFamily="18" charset="0"/>
              </a:rPr>
              <a:t>same memory</a:t>
            </a:r>
            <a:r>
              <a:rPr lang="en-US" sz="1800" b="1" dirty="0">
                <a:latin typeface="Cambria" panose="02040503050406030204" pitchFamily="18" charset="0"/>
                <a:ea typeface="Cambria" panose="02040503050406030204" pitchFamily="18" charset="0"/>
              </a:rPr>
              <a:t>.</a:t>
            </a:r>
            <a:r>
              <a:rPr lang="en-US" sz="1800" dirty="0">
                <a:latin typeface="Cambria" panose="02040503050406030204" pitchFamily="18" charset="0"/>
                <a:ea typeface="Cambria" panose="02040503050406030204" pitchFamily="18" charset="0"/>
              </a:rPr>
              <a:t> </a:t>
            </a:r>
            <a:r>
              <a:rPr lang="en-US" sz="1800" b="1" dirty="0">
                <a:latin typeface="Cambria" panose="02040503050406030204" pitchFamily="18" charset="0"/>
                <a:ea typeface="Cambria" panose="02040503050406030204" pitchFamily="18" charset="0"/>
              </a:rPr>
              <a:t>But in </a:t>
            </a:r>
            <a:r>
              <a:rPr lang="en-US" sz="1800" b="1" u="sng" dirty="0">
                <a:latin typeface="Cambria" panose="02040503050406030204" pitchFamily="18" charset="0"/>
                <a:ea typeface="Cambria" panose="02040503050406030204" pitchFamily="18" charset="0"/>
              </a:rPr>
              <a:t>immutable </a:t>
            </a:r>
            <a:r>
              <a:rPr lang="en-US" sz="1800" b="1" dirty="0">
                <a:latin typeface="Cambria" panose="02040503050406030204" pitchFamily="18" charset="0"/>
                <a:ea typeface="Cambria" panose="02040503050406030204" pitchFamily="18" charset="0"/>
              </a:rPr>
              <a:t>type, the </a:t>
            </a:r>
            <a:r>
              <a:rPr lang="en-US" sz="1800" b="1" u="sng" dirty="0">
                <a:latin typeface="Cambria" panose="02040503050406030204" pitchFamily="18" charset="0"/>
                <a:ea typeface="Cambria" panose="02040503050406030204" pitchFamily="18" charset="0"/>
              </a:rPr>
              <a:t>new memory</a:t>
            </a:r>
            <a:r>
              <a:rPr lang="en-US" sz="1800" b="1" dirty="0">
                <a:latin typeface="Cambria" panose="02040503050406030204" pitchFamily="18" charset="0"/>
                <a:ea typeface="Cambria" panose="02040503050406030204" pitchFamily="18" charset="0"/>
              </a:rPr>
              <a:t> is created and the modified value is stored in new memory.</a:t>
            </a:r>
            <a:endParaRPr lang="en-GB" sz="1800" dirty="0">
              <a:latin typeface="Cambria" panose="02040503050406030204" pitchFamily="18" charset="0"/>
              <a:ea typeface="Cambria" panose="02040503050406030204" pitchFamily="18" charset="0"/>
            </a:endParaRPr>
          </a:p>
          <a:p>
            <a:pPr marL="194945" indent="-182245">
              <a:lnSpc>
                <a:spcPct val="100000"/>
              </a:lnSpc>
              <a:spcBef>
                <a:spcPts val="1055"/>
              </a:spcBef>
              <a:buClr>
                <a:srgbClr val="9E3611"/>
              </a:buClr>
              <a:buSzPct val="85000"/>
              <a:buFont typeface="Wingdings"/>
              <a:buChar char=""/>
              <a:tabLst>
                <a:tab pos="194945" algn="l"/>
              </a:tabLst>
            </a:pPr>
            <a:endParaRPr sz="2000" dirty="0">
              <a:latin typeface="Cambria"/>
              <a:cs typeface="Cambria"/>
            </a:endParaRPr>
          </a:p>
        </p:txBody>
      </p:sp>
      <p:pic>
        <p:nvPicPr>
          <p:cNvPr id="4" name="object 4"/>
          <p:cNvPicPr/>
          <p:nvPr/>
        </p:nvPicPr>
        <p:blipFill>
          <a:blip r:embed="rId2" cstate="print"/>
          <a:stretch>
            <a:fillRect/>
          </a:stretch>
        </p:blipFill>
        <p:spPr>
          <a:xfrm>
            <a:off x="96228" y="142109"/>
            <a:ext cx="1985339" cy="491496"/>
          </a:xfrm>
          <a:prstGeom prst="rect">
            <a:avLst/>
          </a:prstGeom>
        </p:spPr>
      </p:pic>
      <p:grpSp>
        <p:nvGrpSpPr>
          <p:cNvPr id="5" name="object 5"/>
          <p:cNvGrpSpPr/>
          <p:nvPr/>
        </p:nvGrpSpPr>
        <p:grpSpPr>
          <a:xfrm>
            <a:off x="7001234" y="2282933"/>
            <a:ext cx="5191125" cy="3217545"/>
            <a:chOff x="7001234" y="2282933"/>
            <a:chExt cx="5191125" cy="3217545"/>
          </a:xfrm>
        </p:grpSpPr>
        <p:pic>
          <p:nvPicPr>
            <p:cNvPr id="6" name="object 6"/>
            <p:cNvPicPr/>
            <p:nvPr/>
          </p:nvPicPr>
          <p:blipFill>
            <a:blip r:embed="rId3" cstate="print"/>
            <a:stretch>
              <a:fillRect/>
            </a:stretch>
          </p:blipFill>
          <p:spPr>
            <a:xfrm>
              <a:off x="7001234" y="2282933"/>
              <a:ext cx="5190764" cy="3217073"/>
            </a:xfrm>
            <a:prstGeom prst="rect">
              <a:avLst/>
            </a:prstGeom>
          </p:spPr>
        </p:pic>
        <p:pic>
          <p:nvPicPr>
            <p:cNvPr id="7" name="object 7"/>
            <p:cNvPicPr/>
            <p:nvPr/>
          </p:nvPicPr>
          <p:blipFill>
            <a:blip r:embed="rId4" cstate="print"/>
            <a:stretch>
              <a:fillRect/>
            </a:stretch>
          </p:blipFill>
          <p:spPr>
            <a:xfrm>
              <a:off x="7159751" y="2441448"/>
              <a:ext cx="4834128" cy="2720340"/>
            </a:xfrm>
            <a:prstGeom prst="rect">
              <a:avLst/>
            </a:prstGeom>
          </p:spPr>
        </p:pic>
      </p:grpSp>
      <p:pic>
        <p:nvPicPr>
          <p:cNvPr id="8" name="Picture 7"/>
          <p:cNvPicPr>
            <a:picLocks noChangeAspect="1"/>
          </p:cNvPicPr>
          <p:nvPr/>
        </p:nvPicPr>
        <p:blipFill>
          <a:blip r:embed="rId5"/>
          <a:stretch>
            <a:fillRect/>
          </a:stretch>
        </p:blipFill>
        <p:spPr>
          <a:xfrm>
            <a:off x="2395537" y="914400"/>
            <a:ext cx="7400925" cy="304800"/>
          </a:xfrm>
          <a:prstGeom prst="rect">
            <a:avLst/>
          </a:prstGeom>
        </p:spPr>
      </p:pic>
    </p:spTree>
    <p:extLst>
      <p:ext uri="{BB962C8B-B14F-4D97-AF65-F5344CB8AC3E}">
        <p14:creationId xmlns:p14="http://schemas.microsoft.com/office/powerpoint/2010/main" val="19792027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176413" y="982091"/>
            <a:ext cx="6957809" cy="521335"/>
          </a:xfrm>
          <a:prstGeom prst="rect">
            <a:avLst/>
          </a:prstGeom>
        </p:spPr>
      </p:pic>
      <p:sp>
        <p:nvSpPr>
          <p:cNvPr id="3" name="object 3"/>
          <p:cNvSpPr txBox="1"/>
          <p:nvPr/>
        </p:nvSpPr>
        <p:spPr>
          <a:xfrm>
            <a:off x="1148892" y="1994433"/>
            <a:ext cx="3630295" cy="4006850"/>
          </a:xfrm>
          <a:prstGeom prst="rect">
            <a:avLst/>
          </a:prstGeom>
        </p:spPr>
        <p:txBody>
          <a:bodyPr vert="horz" wrap="square" lIns="0" tIns="107315" rIns="0" bIns="0" rtlCol="0">
            <a:spAutoFit/>
          </a:bodyPr>
          <a:lstStyle/>
          <a:p>
            <a:pPr marL="194945" indent="-182245">
              <a:lnSpc>
                <a:spcPct val="100000"/>
              </a:lnSpc>
              <a:spcBef>
                <a:spcPts val="845"/>
              </a:spcBef>
              <a:buClr>
                <a:srgbClr val="9E3611"/>
              </a:buClr>
              <a:buSzPct val="84210"/>
              <a:buFont typeface="Wingdings"/>
              <a:buChar char=""/>
              <a:tabLst>
                <a:tab pos="194945" algn="l"/>
              </a:tabLst>
            </a:pPr>
            <a:r>
              <a:rPr sz="1900" b="1" spc="-10" dirty="0">
                <a:latin typeface="Times New Roman"/>
                <a:cs typeface="Times New Roman"/>
              </a:rPr>
              <a:t>Mutability:</a:t>
            </a:r>
            <a:endParaRPr sz="1900" dirty="0">
              <a:latin typeface="Times New Roman"/>
              <a:cs typeface="Times New Roman"/>
            </a:endParaRPr>
          </a:p>
          <a:p>
            <a:pPr marL="194945" indent="-182245">
              <a:lnSpc>
                <a:spcPts val="2280"/>
              </a:lnSpc>
              <a:spcBef>
                <a:spcPts val="740"/>
              </a:spcBef>
              <a:buClr>
                <a:srgbClr val="9E3611"/>
              </a:buClr>
              <a:buSzPct val="84210"/>
              <a:buFont typeface="Wingdings"/>
              <a:buChar char=""/>
              <a:tabLst>
                <a:tab pos="194945" algn="l"/>
              </a:tabLst>
            </a:pPr>
            <a:r>
              <a:rPr sz="1900" b="1" dirty="0">
                <a:latin typeface="Times New Roman"/>
                <a:cs typeface="Times New Roman"/>
              </a:rPr>
              <a:t>Mutable</a:t>
            </a:r>
            <a:r>
              <a:rPr sz="1900" b="1" spc="-70" dirty="0">
                <a:latin typeface="Times New Roman"/>
                <a:cs typeface="Times New Roman"/>
              </a:rPr>
              <a:t> </a:t>
            </a:r>
            <a:r>
              <a:rPr sz="1900" b="1" spc="-10" dirty="0">
                <a:latin typeface="Times New Roman"/>
                <a:cs typeface="Times New Roman"/>
              </a:rPr>
              <a:t>Objects:</a:t>
            </a:r>
            <a:endParaRPr sz="1900" dirty="0">
              <a:latin typeface="Times New Roman"/>
              <a:cs typeface="Times New Roman"/>
            </a:endParaRPr>
          </a:p>
          <a:p>
            <a:pPr marL="468630" lvl="1" indent="-182245">
              <a:lnSpc>
                <a:spcPts val="2039"/>
              </a:lnSpc>
              <a:buClr>
                <a:srgbClr val="9E3611"/>
              </a:buClr>
              <a:buSzPct val="85294"/>
              <a:buFont typeface="Wingdings"/>
              <a:buChar char=""/>
              <a:tabLst>
                <a:tab pos="468630" algn="l"/>
              </a:tabLst>
            </a:pPr>
            <a:r>
              <a:rPr sz="1700" dirty="0">
                <a:latin typeface="Times New Roman"/>
                <a:cs typeface="Times New Roman"/>
              </a:rPr>
              <a:t>Lists,</a:t>
            </a:r>
            <a:r>
              <a:rPr sz="1700" spc="-30" dirty="0">
                <a:latin typeface="Times New Roman"/>
                <a:cs typeface="Times New Roman"/>
              </a:rPr>
              <a:t> </a:t>
            </a:r>
            <a:r>
              <a:rPr sz="1700" dirty="0">
                <a:latin typeface="Times New Roman"/>
                <a:cs typeface="Times New Roman"/>
              </a:rPr>
              <a:t>Dictionaries,</a:t>
            </a:r>
            <a:r>
              <a:rPr sz="1700" spc="-40" dirty="0">
                <a:latin typeface="Times New Roman"/>
                <a:cs typeface="Times New Roman"/>
              </a:rPr>
              <a:t> </a:t>
            </a:r>
            <a:r>
              <a:rPr sz="1700" dirty="0">
                <a:latin typeface="Times New Roman"/>
                <a:cs typeface="Times New Roman"/>
              </a:rPr>
              <a:t>Sets,</a:t>
            </a:r>
            <a:r>
              <a:rPr sz="1700" spc="-25" dirty="0">
                <a:latin typeface="Times New Roman"/>
                <a:cs typeface="Times New Roman"/>
              </a:rPr>
              <a:t> </a:t>
            </a:r>
            <a:r>
              <a:rPr sz="1700" spc="-20" dirty="0">
                <a:latin typeface="Times New Roman"/>
                <a:cs typeface="Times New Roman"/>
              </a:rPr>
              <a:t>etc.</a:t>
            </a:r>
            <a:endParaRPr sz="1700" dirty="0">
              <a:latin typeface="Times New Roman"/>
              <a:cs typeface="Times New Roman"/>
            </a:endParaRPr>
          </a:p>
          <a:p>
            <a:pPr marL="194945" indent="-182245">
              <a:lnSpc>
                <a:spcPts val="2280"/>
              </a:lnSpc>
              <a:spcBef>
                <a:spcPts val="940"/>
              </a:spcBef>
              <a:buClr>
                <a:srgbClr val="9E3611"/>
              </a:buClr>
              <a:buSzPct val="84210"/>
              <a:buFont typeface="Wingdings"/>
              <a:buChar char=""/>
              <a:tabLst>
                <a:tab pos="194945" algn="l"/>
              </a:tabLst>
            </a:pPr>
            <a:r>
              <a:rPr sz="1900" b="1" spc="-10" dirty="0">
                <a:latin typeface="Times New Roman"/>
                <a:cs typeface="Times New Roman"/>
              </a:rPr>
              <a:t>Characteristics:</a:t>
            </a:r>
            <a:endParaRPr sz="1900" dirty="0">
              <a:latin typeface="Times New Roman"/>
              <a:cs typeface="Times New Roman"/>
            </a:endParaRPr>
          </a:p>
          <a:p>
            <a:pPr marL="468630" lvl="1" indent="-182245">
              <a:lnSpc>
                <a:spcPts val="2039"/>
              </a:lnSpc>
              <a:buClr>
                <a:srgbClr val="9E3611"/>
              </a:buClr>
              <a:buSzPct val="85294"/>
              <a:buFont typeface="Wingdings"/>
              <a:buChar char=""/>
              <a:tabLst>
                <a:tab pos="468630" algn="l"/>
              </a:tabLst>
            </a:pPr>
            <a:r>
              <a:rPr sz="1700" dirty="0">
                <a:latin typeface="Times New Roman"/>
                <a:cs typeface="Times New Roman"/>
              </a:rPr>
              <a:t>Can</a:t>
            </a:r>
            <a:r>
              <a:rPr sz="1700" spc="-20" dirty="0">
                <a:latin typeface="Times New Roman"/>
                <a:cs typeface="Times New Roman"/>
              </a:rPr>
              <a:t> </a:t>
            </a:r>
            <a:r>
              <a:rPr sz="1700" dirty="0">
                <a:latin typeface="Times New Roman"/>
                <a:cs typeface="Times New Roman"/>
              </a:rPr>
              <a:t>be</a:t>
            </a:r>
            <a:r>
              <a:rPr sz="1700" spc="-35" dirty="0">
                <a:latin typeface="Times New Roman"/>
                <a:cs typeface="Times New Roman"/>
              </a:rPr>
              <a:t> </a:t>
            </a:r>
            <a:r>
              <a:rPr sz="1700" dirty="0">
                <a:latin typeface="Times New Roman"/>
                <a:cs typeface="Times New Roman"/>
              </a:rPr>
              <a:t>modified</a:t>
            </a:r>
            <a:r>
              <a:rPr sz="1700" spc="-10" dirty="0">
                <a:latin typeface="Times New Roman"/>
                <a:cs typeface="Times New Roman"/>
              </a:rPr>
              <a:t> </a:t>
            </a:r>
            <a:r>
              <a:rPr sz="1700" dirty="0">
                <a:latin typeface="Times New Roman"/>
                <a:cs typeface="Times New Roman"/>
              </a:rPr>
              <a:t>after</a:t>
            </a:r>
            <a:r>
              <a:rPr sz="1700" spc="-25" dirty="0">
                <a:latin typeface="Times New Roman"/>
                <a:cs typeface="Times New Roman"/>
              </a:rPr>
              <a:t> </a:t>
            </a:r>
            <a:r>
              <a:rPr sz="1700" spc="-10" dirty="0">
                <a:latin typeface="Times New Roman"/>
                <a:cs typeface="Times New Roman"/>
              </a:rPr>
              <a:t>creation.</a:t>
            </a:r>
            <a:endParaRPr sz="1700" dirty="0">
              <a:latin typeface="Times New Roman"/>
              <a:cs typeface="Times New Roman"/>
            </a:endParaRPr>
          </a:p>
          <a:p>
            <a:pPr marL="468630" lvl="1" indent="-182245">
              <a:lnSpc>
                <a:spcPct val="100000"/>
              </a:lnSpc>
              <a:spcBef>
                <a:spcPts val="195"/>
              </a:spcBef>
              <a:buClr>
                <a:srgbClr val="9E3611"/>
              </a:buClr>
              <a:buSzPct val="85294"/>
              <a:buFont typeface="Wingdings"/>
              <a:buChar char=""/>
              <a:tabLst>
                <a:tab pos="468630" algn="l"/>
              </a:tabLst>
            </a:pPr>
            <a:r>
              <a:rPr sz="1700" dirty="0">
                <a:latin typeface="Times New Roman"/>
                <a:cs typeface="Times New Roman"/>
              </a:rPr>
              <a:t>Changes</a:t>
            </a:r>
            <a:r>
              <a:rPr sz="1700" spc="-40" dirty="0">
                <a:latin typeface="Times New Roman"/>
                <a:cs typeface="Times New Roman"/>
              </a:rPr>
              <a:t> </a:t>
            </a:r>
            <a:r>
              <a:rPr sz="1700" dirty="0">
                <a:latin typeface="Times New Roman"/>
                <a:cs typeface="Times New Roman"/>
              </a:rPr>
              <a:t>affect</a:t>
            </a:r>
            <a:r>
              <a:rPr sz="1700" spc="-40" dirty="0">
                <a:latin typeface="Times New Roman"/>
                <a:cs typeface="Times New Roman"/>
              </a:rPr>
              <a:t> </a:t>
            </a:r>
            <a:r>
              <a:rPr sz="1700" dirty="0">
                <a:latin typeface="Times New Roman"/>
                <a:cs typeface="Times New Roman"/>
              </a:rPr>
              <a:t>the</a:t>
            </a:r>
            <a:r>
              <a:rPr sz="1700" spc="-30" dirty="0">
                <a:latin typeface="Times New Roman"/>
                <a:cs typeface="Times New Roman"/>
              </a:rPr>
              <a:t> </a:t>
            </a:r>
            <a:r>
              <a:rPr sz="1700" dirty="0">
                <a:latin typeface="Times New Roman"/>
                <a:cs typeface="Times New Roman"/>
              </a:rPr>
              <a:t>original</a:t>
            </a:r>
            <a:r>
              <a:rPr sz="1700" spc="-20" dirty="0">
                <a:latin typeface="Times New Roman"/>
                <a:cs typeface="Times New Roman"/>
              </a:rPr>
              <a:t> </a:t>
            </a:r>
            <a:r>
              <a:rPr sz="1700" spc="-10" dirty="0">
                <a:latin typeface="Times New Roman"/>
                <a:cs typeface="Times New Roman"/>
              </a:rPr>
              <a:t>object.</a:t>
            </a:r>
            <a:endParaRPr sz="1700" dirty="0">
              <a:latin typeface="Times New Roman"/>
              <a:cs typeface="Times New Roman"/>
            </a:endParaRPr>
          </a:p>
          <a:p>
            <a:pPr marL="194945" indent="-182245">
              <a:lnSpc>
                <a:spcPct val="100000"/>
              </a:lnSpc>
              <a:spcBef>
                <a:spcPts val="940"/>
              </a:spcBef>
              <a:buClr>
                <a:srgbClr val="9E3611"/>
              </a:buClr>
              <a:buSzPct val="84210"/>
              <a:buFont typeface="Wingdings"/>
              <a:buChar char=""/>
              <a:tabLst>
                <a:tab pos="194945" algn="l"/>
              </a:tabLst>
            </a:pPr>
            <a:r>
              <a:rPr sz="1900" b="1" spc="-10" dirty="0">
                <a:latin typeface="Times New Roman"/>
                <a:cs typeface="Times New Roman"/>
              </a:rPr>
              <a:t>Immutability</a:t>
            </a:r>
            <a:endParaRPr sz="1900" dirty="0">
              <a:latin typeface="Times New Roman"/>
              <a:cs typeface="Times New Roman"/>
            </a:endParaRPr>
          </a:p>
          <a:p>
            <a:pPr marL="194945" indent="-182245">
              <a:lnSpc>
                <a:spcPts val="2280"/>
              </a:lnSpc>
              <a:spcBef>
                <a:spcPts val="745"/>
              </a:spcBef>
              <a:buClr>
                <a:srgbClr val="9E3611"/>
              </a:buClr>
              <a:buSzPct val="84210"/>
              <a:buFont typeface="Wingdings"/>
              <a:buChar char=""/>
              <a:tabLst>
                <a:tab pos="194945" algn="l"/>
              </a:tabLst>
            </a:pPr>
            <a:r>
              <a:rPr sz="1900" b="1" dirty="0">
                <a:latin typeface="Times New Roman"/>
                <a:cs typeface="Times New Roman"/>
              </a:rPr>
              <a:t>Immutable</a:t>
            </a:r>
            <a:r>
              <a:rPr sz="1900" b="1" spc="-60" dirty="0">
                <a:latin typeface="Times New Roman"/>
                <a:cs typeface="Times New Roman"/>
              </a:rPr>
              <a:t> </a:t>
            </a:r>
            <a:r>
              <a:rPr sz="1900" b="1" spc="-10" dirty="0">
                <a:latin typeface="Times New Roman"/>
                <a:cs typeface="Times New Roman"/>
              </a:rPr>
              <a:t>Objects:</a:t>
            </a:r>
            <a:endParaRPr sz="1900" dirty="0">
              <a:latin typeface="Times New Roman"/>
              <a:cs typeface="Times New Roman"/>
            </a:endParaRPr>
          </a:p>
          <a:p>
            <a:pPr marL="468630" lvl="1" indent="-182245">
              <a:lnSpc>
                <a:spcPts val="2039"/>
              </a:lnSpc>
              <a:buClr>
                <a:srgbClr val="9E3611"/>
              </a:buClr>
              <a:buSzPct val="85294"/>
              <a:buFont typeface="Wingdings"/>
              <a:buChar char=""/>
              <a:tabLst>
                <a:tab pos="468630" algn="l"/>
              </a:tabLst>
            </a:pPr>
            <a:r>
              <a:rPr sz="1700" dirty="0">
                <a:latin typeface="Times New Roman"/>
                <a:cs typeface="Times New Roman"/>
              </a:rPr>
              <a:t>Integers,</a:t>
            </a:r>
            <a:r>
              <a:rPr sz="1700" spc="-70" dirty="0">
                <a:latin typeface="Times New Roman"/>
                <a:cs typeface="Times New Roman"/>
              </a:rPr>
              <a:t> </a:t>
            </a:r>
            <a:r>
              <a:rPr sz="1700" dirty="0">
                <a:latin typeface="Times New Roman"/>
                <a:cs typeface="Times New Roman"/>
              </a:rPr>
              <a:t>Floats,</a:t>
            </a:r>
            <a:r>
              <a:rPr sz="1700" spc="-50" dirty="0">
                <a:latin typeface="Times New Roman"/>
                <a:cs typeface="Times New Roman"/>
              </a:rPr>
              <a:t> </a:t>
            </a:r>
            <a:r>
              <a:rPr sz="1700" dirty="0">
                <a:latin typeface="Times New Roman"/>
                <a:cs typeface="Times New Roman"/>
              </a:rPr>
              <a:t>Strings,</a:t>
            </a:r>
            <a:r>
              <a:rPr lang="en-GB" sz="1700" spc="-65" dirty="0">
                <a:latin typeface="Times New Roman"/>
                <a:cs typeface="Times New Roman"/>
              </a:rPr>
              <a:t> </a:t>
            </a:r>
            <a:r>
              <a:rPr sz="1700" spc="-20" dirty="0">
                <a:latin typeface="Times New Roman"/>
                <a:cs typeface="Times New Roman"/>
              </a:rPr>
              <a:t>etc.</a:t>
            </a:r>
            <a:endParaRPr sz="1700" dirty="0">
              <a:latin typeface="Times New Roman"/>
              <a:cs typeface="Times New Roman"/>
            </a:endParaRPr>
          </a:p>
          <a:p>
            <a:pPr marL="194945" indent="-182245">
              <a:lnSpc>
                <a:spcPts val="2280"/>
              </a:lnSpc>
              <a:spcBef>
                <a:spcPts val="945"/>
              </a:spcBef>
              <a:buClr>
                <a:srgbClr val="9E3611"/>
              </a:buClr>
              <a:buSzPct val="84210"/>
              <a:buFont typeface="Wingdings"/>
              <a:buChar char=""/>
              <a:tabLst>
                <a:tab pos="194945" algn="l"/>
              </a:tabLst>
            </a:pPr>
            <a:r>
              <a:rPr sz="1900" b="1" spc="-10" dirty="0">
                <a:latin typeface="Times New Roman"/>
                <a:cs typeface="Times New Roman"/>
              </a:rPr>
              <a:t>Characteristics:</a:t>
            </a:r>
            <a:endParaRPr sz="1900" dirty="0">
              <a:latin typeface="Times New Roman"/>
              <a:cs typeface="Times New Roman"/>
            </a:endParaRPr>
          </a:p>
          <a:p>
            <a:pPr marL="468630" lvl="1" indent="-182245">
              <a:lnSpc>
                <a:spcPts val="2039"/>
              </a:lnSpc>
              <a:buClr>
                <a:srgbClr val="9E3611"/>
              </a:buClr>
              <a:buSzPct val="85294"/>
              <a:buFont typeface="Wingdings"/>
              <a:buChar char=""/>
              <a:tabLst>
                <a:tab pos="468630" algn="l"/>
              </a:tabLst>
            </a:pPr>
            <a:r>
              <a:rPr sz="1700" dirty="0">
                <a:latin typeface="Times New Roman"/>
                <a:cs typeface="Times New Roman"/>
              </a:rPr>
              <a:t>Cannot</a:t>
            </a:r>
            <a:r>
              <a:rPr sz="1700" spc="-25" dirty="0">
                <a:latin typeface="Times New Roman"/>
                <a:cs typeface="Times New Roman"/>
              </a:rPr>
              <a:t> </a:t>
            </a:r>
            <a:r>
              <a:rPr sz="1700" dirty="0">
                <a:latin typeface="Times New Roman"/>
                <a:cs typeface="Times New Roman"/>
              </a:rPr>
              <a:t>be</a:t>
            </a:r>
            <a:r>
              <a:rPr sz="1700" spc="-20" dirty="0">
                <a:latin typeface="Times New Roman"/>
                <a:cs typeface="Times New Roman"/>
              </a:rPr>
              <a:t> </a:t>
            </a:r>
            <a:r>
              <a:rPr sz="1700" dirty="0">
                <a:latin typeface="Times New Roman"/>
                <a:cs typeface="Times New Roman"/>
              </a:rPr>
              <a:t>modified</a:t>
            </a:r>
            <a:r>
              <a:rPr sz="1700" spc="-20" dirty="0">
                <a:latin typeface="Times New Roman"/>
                <a:cs typeface="Times New Roman"/>
              </a:rPr>
              <a:t> </a:t>
            </a:r>
            <a:r>
              <a:rPr sz="1700" dirty="0">
                <a:latin typeface="Times New Roman"/>
                <a:cs typeface="Times New Roman"/>
              </a:rPr>
              <a:t>after</a:t>
            </a:r>
            <a:r>
              <a:rPr sz="1700" spc="-20" dirty="0">
                <a:latin typeface="Times New Roman"/>
                <a:cs typeface="Times New Roman"/>
              </a:rPr>
              <a:t> </a:t>
            </a:r>
            <a:r>
              <a:rPr sz="1700" spc="-10" dirty="0">
                <a:latin typeface="Times New Roman"/>
                <a:cs typeface="Times New Roman"/>
              </a:rPr>
              <a:t>creation.</a:t>
            </a:r>
            <a:endParaRPr sz="1700" dirty="0">
              <a:latin typeface="Times New Roman"/>
              <a:cs typeface="Times New Roman"/>
            </a:endParaRPr>
          </a:p>
          <a:p>
            <a:pPr marL="468630" lvl="1" indent="-182245">
              <a:lnSpc>
                <a:spcPct val="100000"/>
              </a:lnSpc>
              <a:spcBef>
                <a:spcPts val="190"/>
              </a:spcBef>
              <a:buClr>
                <a:srgbClr val="9E3611"/>
              </a:buClr>
              <a:buSzPct val="85294"/>
              <a:buFont typeface="Wingdings"/>
              <a:buChar char=""/>
              <a:tabLst>
                <a:tab pos="468630" algn="l"/>
              </a:tabLst>
            </a:pPr>
            <a:r>
              <a:rPr sz="1700" dirty="0">
                <a:latin typeface="Times New Roman"/>
                <a:cs typeface="Times New Roman"/>
              </a:rPr>
              <a:t>Any</a:t>
            </a:r>
            <a:r>
              <a:rPr sz="1700" spc="-35" dirty="0">
                <a:latin typeface="Times New Roman"/>
                <a:cs typeface="Times New Roman"/>
              </a:rPr>
              <a:t> </a:t>
            </a:r>
            <a:r>
              <a:rPr sz="1700" dirty="0">
                <a:latin typeface="Times New Roman"/>
                <a:cs typeface="Times New Roman"/>
              </a:rPr>
              <a:t>operation</a:t>
            </a:r>
            <a:r>
              <a:rPr sz="1700" spc="-20" dirty="0">
                <a:latin typeface="Times New Roman"/>
                <a:cs typeface="Times New Roman"/>
              </a:rPr>
              <a:t> </a:t>
            </a:r>
            <a:r>
              <a:rPr sz="1700" dirty="0">
                <a:latin typeface="Times New Roman"/>
                <a:cs typeface="Times New Roman"/>
              </a:rPr>
              <a:t>creates</a:t>
            </a:r>
            <a:r>
              <a:rPr sz="1700" spc="-35" dirty="0">
                <a:latin typeface="Times New Roman"/>
                <a:cs typeface="Times New Roman"/>
              </a:rPr>
              <a:t> </a:t>
            </a:r>
            <a:r>
              <a:rPr sz="1700" dirty="0">
                <a:latin typeface="Times New Roman"/>
                <a:cs typeface="Times New Roman"/>
              </a:rPr>
              <a:t>a</a:t>
            </a:r>
            <a:r>
              <a:rPr sz="1700" spc="-20" dirty="0">
                <a:latin typeface="Times New Roman"/>
                <a:cs typeface="Times New Roman"/>
              </a:rPr>
              <a:t> </a:t>
            </a:r>
            <a:r>
              <a:rPr sz="1700" dirty="0">
                <a:latin typeface="Times New Roman"/>
                <a:cs typeface="Times New Roman"/>
              </a:rPr>
              <a:t>new</a:t>
            </a:r>
            <a:r>
              <a:rPr sz="1700" spc="-25" dirty="0">
                <a:latin typeface="Times New Roman"/>
                <a:cs typeface="Times New Roman"/>
              </a:rPr>
              <a:t> </a:t>
            </a:r>
            <a:r>
              <a:rPr sz="1700" spc="-10" dirty="0">
                <a:latin typeface="Times New Roman"/>
                <a:cs typeface="Times New Roman"/>
              </a:rPr>
              <a:t>object.</a:t>
            </a:r>
            <a:endParaRPr sz="1700" dirty="0">
              <a:latin typeface="Times New Roman"/>
              <a:cs typeface="Times New Roman"/>
            </a:endParaRPr>
          </a:p>
        </p:txBody>
      </p:sp>
      <p:grpSp>
        <p:nvGrpSpPr>
          <p:cNvPr id="4" name="object 4"/>
          <p:cNvGrpSpPr/>
          <p:nvPr/>
        </p:nvGrpSpPr>
        <p:grpSpPr>
          <a:xfrm>
            <a:off x="6303202" y="2235689"/>
            <a:ext cx="5331460" cy="3217545"/>
            <a:chOff x="6303202" y="2235689"/>
            <a:chExt cx="5331460" cy="3217545"/>
          </a:xfrm>
        </p:grpSpPr>
        <p:pic>
          <p:nvPicPr>
            <p:cNvPr id="5" name="object 5"/>
            <p:cNvPicPr/>
            <p:nvPr/>
          </p:nvPicPr>
          <p:blipFill>
            <a:blip r:embed="rId3" cstate="print"/>
            <a:stretch>
              <a:fillRect/>
            </a:stretch>
          </p:blipFill>
          <p:spPr>
            <a:xfrm>
              <a:off x="6303202" y="2235689"/>
              <a:ext cx="5331075" cy="3217074"/>
            </a:xfrm>
            <a:prstGeom prst="rect">
              <a:avLst/>
            </a:prstGeom>
          </p:spPr>
        </p:pic>
        <p:pic>
          <p:nvPicPr>
            <p:cNvPr id="6" name="object 6"/>
            <p:cNvPicPr/>
            <p:nvPr/>
          </p:nvPicPr>
          <p:blipFill>
            <a:blip r:embed="rId4" cstate="print"/>
            <a:stretch>
              <a:fillRect/>
            </a:stretch>
          </p:blipFill>
          <p:spPr>
            <a:xfrm>
              <a:off x="6461759" y="2394203"/>
              <a:ext cx="4834128" cy="2720340"/>
            </a:xfrm>
            <a:prstGeom prst="rect">
              <a:avLst/>
            </a:prstGeom>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176413" y="982091"/>
            <a:ext cx="6957809" cy="521335"/>
          </a:xfrm>
          <a:prstGeom prst="rect">
            <a:avLst/>
          </a:prstGeom>
        </p:spPr>
      </p:pic>
      <p:sp>
        <p:nvSpPr>
          <p:cNvPr id="3" name="object 3"/>
          <p:cNvSpPr txBox="1"/>
          <p:nvPr/>
        </p:nvSpPr>
        <p:spPr>
          <a:xfrm>
            <a:off x="914400" y="1995100"/>
            <a:ext cx="4974477" cy="3986348"/>
          </a:xfrm>
          <a:prstGeom prst="rect">
            <a:avLst/>
          </a:prstGeom>
        </p:spPr>
        <p:txBody>
          <a:bodyPr vert="horz" wrap="square" lIns="0" tIns="107315" rIns="0" bIns="0" rtlCol="0">
            <a:spAutoFit/>
          </a:bodyPr>
          <a:lstStyle/>
          <a:p>
            <a:r>
              <a:rPr lang="en-US" sz="1800" b="1" u="sng" dirty="0">
                <a:latin typeface="Cambria" panose="02040503050406030204" pitchFamily="18" charset="0"/>
                <a:ea typeface="Cambria" panose="02040503050406030204" pitchFamily="18" charset="0"/>
              </a:rPr>
              <a:t>String </a:t>
            </a:r>
            <a:r>
              <a:rPr lang="en-US" b="1" u="sng" dirty="0">
                <a:latin typeface="Cambria" panose="02040503050406030204" pitchFamily="18" charset="0"/>
                <a:ea typeface="Cambria" panose="02040503050406030204" pitchFamily="18" charset="0"/>
              </a:rPr>
              <a:t>in C#</a:t>
            </a:r>
            <a:endParaRPr lang="en-GB" sz="1800" dirty="0">
              <a:latin typeface="Cambria" panose="02040503050406030204" pitchFamily="18" charset="0"/>
              <a:ea typeface="Cambria" panose="02040503050406030204" pitchFamily="18" charset="0"/>
            </a:endParaRPr>
          </a:p>
          <a:p>
            <a:pPr marL="285750" indent="-285750">
              <a:buFont typeface="Arial" panose="020B0604020202020204" pitchFamily="34" charset="0"/>
              <a:buChar char="•"/>
            </a:pPr>
            <a:r>
              <a:rPr lang="en-US" sz="1800" dirty="0">
                <a:latin typeface="Cambria" panose="02040503050406030204" pitchFamily="18" charset="0"/>
                <a:ea typeface="Cambria" panose="02040503050406030204" pitchFamily="18" charset="0"/>
              </a:rPr>
              <a:t>Strings are immutable, which means we are creating new memory every time instead of working on existing memory.</a:t>
            </a:r>
            <a:endParaRPr lang="en-GB" sz="1800" dirty="0">
              <a:latin typeface="Cambria" panose="02040503050406030204" pitchFamily="18" charset="0"/>
              <a:ea typeface="Cambria" panose="02040503050406030204" pitchFamily="18" charset="0"/>
            </a:endParaRPr>
          </a:p>
          <a:p>
            <a:pPr marL="285750" indent="-285750">
              <a:buFont typeface="Arial" panose="020B0604020202020204" pitchFamily="34" charset="0"/>
              <a:buChar char="•"/>
            </a:pPr>
            <a:r>
              <a:rPr lang="en-US" sz="1800" dirty="0">
                <a:latin typeface="Cambria" panose="02040503050406030204" pitchFamily="18" charset="0"/>
                <a:ea typeface="Cambria" panose="02040503050406030204" pitchFamily="18" charset="0"/>
              </a:rPr>
              <a:t>So, whenever we are modifying a value of the existing string, i.e., we are creating a new object which refers to that modified string and the old one becomes unreferenced.</a:t>
            </a:r>
          </a:p>
          <a:p>
            <a:pPr marL="285750" indent="-285750">
              <a:buFont typeface="Arial" panose="020B0604020202020204" pitchFamily="34" charset="0"/>
              <a:buChar char="•"/>
            </a:pPr>
            <a:r>
              <a:rPr lang="en-US" sz="1800" dirty="0">
                <a:latin typeface="Cambria" panose="02040503050406030204" pitchFamily="18" charset="0"/>
                <a:ea typeface="Cambria" panose="02040503050406030204" pitchFamily="18" charset="0"/>
              </a:rPr>
              <a:t> Hence, if we are modifying the existing string continuously, then numbers of the unreferenced object will be increased and it will wait for the garbage collector to free the unreferenced object and our application performance will be decreased.</a:t>
            </a:r>
            <a:r>
              <a:rPr sz="1700" spc="-10" dirty="0">
                <a:latin typeface="Cambria" panose="02040503050406030204" pitchFamily="18" charset="0"/>
                <a:ea typeface="Cambria" panose="02040503050406030204" pitchFamily="18" charset="0"/>
                <a:cs typeface="Times New Roman"/>
              </a:rPr>
              <a:t>.</a:t>
            </a:r>
            <a:endParaRPr sz="1700" dirty="0">
              <a:latin typeface="Cambria" panose="02040503050406030204" pitchFamily="18" charset="0"/>
              <a:ea typeface="Cambria" panose="02040503050406030204" pitchFamily="18" charset="0"/>
              <a:cs typeface="Times New Roman"/>
            </a:endParaRPr>
          </a:p>
        </p:txBody>
      </p:sp>
      <p:sp>
        <p:nvSpPr>
          <p:cNvPr id="7" name="object 3"/>
          <p:cNvSpPr txBox="1"/>
          <p:nvPr/>
        </p:nvSpPr>
        <p:spPr>
          <a:xfrm>
            <a:off x="6705600" y="2133600"/>
            <a:ext cx="4974477" cy="2601353"/>
          </a:xfrm>
          <a:prstGeom prst="rect">
            <a:avLst/>
          </a:prstGeom>
        </p:spPr>
        <p:txBody>
          <a:bodyPr vert="horz" wrap="square" lIns="0" tIns="107315" rIns="0" bIns="0" rtlCol="0">
            <a:spAutoFit/>
          </a:bodyPr>
          <a:lstStyle/>
          <a:p>
            <a:r>
              <a:rPr lang="en-US" sz="1800" b="1" u="sng" dirty="0" err="1">
                <a:latin typeface="Cambria" panose="02040503050406030204" pitchFamily="18" charset="0"/>
                <a:ea typeface="Cambria" panose="02040503050406030204" pitchFamily="18" charset="0"/>
              </a:rPr>
              <a:t>Stringbuilder</a:t>
            </a:r>
            <a:r>
              <a:rPr lang="en-US" b="1" u="sng" dirty="0">
                <a:latin typeface="Cambria" panose="02040503050406030204" pitchFamily="18" charset="0"/>
                <a:ea typeface="Cambria" panose="02040503050406030204" pitchFamily="18" charset="0"/>
              </a:rPr>
              <a:t> in C#</a:t>
            </a:r>
          </a:p>
          <a:p>
            <a:pPr marL="285750" indent="-285750">
              <a:buFont typeface="Arial" panose="020B0604020202020204" pitchFamily="34" charset="0"/>
              <a:buChar char="•"/>
            </a:pPr>
            <a:r>
              <a:rPr lang="en-US" sz="1800" dirty="0" err="1">
                <a:latin typeface="Cambria" panose="02040503050406030204" pitchFamily="18" charset="0"/>
                <a:ea typeface="Cambria" panose="02040503050406030204" pitchFamily="18" charset="0"/>
              </a:rPr>
              <a:t>StringBuilder</a:t>
            </a:r>
            <a:r>
              <a:rPr lang="en-US" sz="1800" dirty="0">
                <a:latin typeface="Cambria" panose="02040503050406030204" pitchFamily="18" charset="0"/>
                <a:ea typeface="Cambria" panose="02040503050406030204" pitchFamily="18" charset="0"/>
              </a:rPr>
              <a:t> is a mutable type, that means we are using the same memory location and keep on appending/modifying the stuff to one instance. </a:t>
            </a:r>
          </a:p>
          <a:p>
            <a:pPr marL="285750" indent="-285750">
              <a:buFont typeface="Arial" panose="020B0604020202020204" pitchFamily="34" charset="0"/>
              <a:buChar char="•"/>
            </a:pPr>
            <a:r>
              <a:rPr lang="en-US" sz="1800" dirty="0">
                <a:latin typeface="Cambria" panose="02040503050406030204" pitchFamily="18" charset="0"/>
                <a:ea typeface="Cambria" panose="02040503050406030204" pitchFamily="18" charset="0"/>
              </a:rPr>
              <a:t>It will not create any further instances hence it will not decrease the performance of the application.</a:t>
            </a:r>
            <a:endParaRPr lang="en-GB" sz="1800" dirty="0">
              <a:latin typeface="Cambria" panose="02040503050406030204" pitchFamily="18" charset="0"/>
              <a:ea typeface="Cambria" panose="02040503050406030204" pitchFamily="18" charset="0"/>
            </a:endParaRPr>
          </a:p>
          <a:p>
            <a:endParaRPr lang="en-GB" sz="18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5238207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066800" y="2133600"/>
            <a:ext cx="8686800" cy="1190625"/>
          </a:xfrm>
          <a:prstGeom prst="rect">
            <a:avLst/>
          </a:prstGeom>
        </p:spPr>
      </p:pic>
      <p:pic>
        <p:nvPicPr>
          <p:cNvPr id="6" name="Picture 5" descr="reassigning a variable"/>
          <p:cNvPicPr/>
          <p:nvPr/>
        </p:nvPicPr>
        <p:blipFill>
          <a:blip r:embed="rId3">
            <a:extLst>
              <a:ext uri="{28A0092B-C50C-407E-A947-70E740481C1C}">
                <a14:useLocalDpi xmlns:a14="http://schemas.microsoft.com/office/drawing/2010/main" val="0"/>
              </a:ext>
            </a:extLst>
          </a:blip>
          <a:srcRect/>
          <a:stretch>
            <a:fillRect/>
          </a:stretch>
        </p:blipFill>
        <p:spPr bwMode="auto">
          <a:xfrm>
            <a:off x="9296400" y="545350"/>
            <a:ext cx="2228215" cy="1595755"/>
          </a:xfrm>
          <a:prstGeom prst="rect">
            <a:avLst/>
          </a:prstGeom>
          <a:noFill/>
          <a:ln>
            <a:noFill/>
          </a:ln>
        </p:spPr>
      </p:pic>
      <p:pic>
        <p:nvPicPr>
          <p:cNvPr id="7" name="Picture 6"/>
          <p:cNvPicPr>
            <a:picLocks noChangeAspect="1"/>
          </p:cNvPicPr>
          <p:nvPr/>
        </p:nvPicPr>
        <p:blipFill>
          <a:blip r:embed="rId4"/>
          <a:stretch>
            <a:fillRect/>
          </a:stretch>
        </p:blipFill>
        <p:spPr>
          <a:xfrm>
            <a:off x="7315200" y="3324225"/>
            <a:ext cx="4724400" cy="1428750"/>
          </a:xfrm>
          <a:prstGeom prst="rect">
            <a:avLst/>
          </a:prstGeom>
        </p:spPr>
      </p:pic>
      <p:sp>
        <p:nvSpPr>
          <p:cNvPr id="8" name="Rectangle 7"/>
          <p:cNvSpPr/>
          <p:nvPr/>
        </p:nvSpPr>
        <p:spPr>
          <a:xfrm>
            <a:off x="1143000" y="3604424"/>
            <a:ext cx="6096000" cy="2893100"/>
          </a:xfrm>
          <a:prstGeom prst="rect">
            <a:avLst/>
          </a:prstGeom>
        </p:spPr>
        <p:txBody>
          <a:bodyPr>
            <a:spAutoFit/>
          </a:bodyPr>
          <a:lstStyle/>
          <a:p>
            <a:pPr marL="0" marR="0">
              <a:spcBef>
                <a:spcPts val="1200"/>
              </a:spcBef>
              <a:spcAft>
                <a:spcPts val="1200"/>
              </a:spcAft>
            </a:pPr>
            <a:r>
              <a:rPr lang="en-US" sz="1800" dirty="0">
                <a:solidFill>
                  <a:srgbClr val="212121"/>
                </a:solidFill>
                <a:effectLst/>
                <a:latin typeface="Cambria" panose="02040503050406030204" pitchFamily="18" charset="0"/>
                <a:ea typeface="Cambria" panose="02040503050406030204" pitchFamily="18" charset="0"/>
              </a:rPr>
              <a:t>In the code given above, string </a:t>
            </a:r>
            <a:r>
              <a:rPr lang="en-US" sz="1800" dirty="0" err="1">
                <a:solidFill>
                  <a:srgbClr val="212121"/>
                </a:solidFill>
                <a:effectLst/>
                <a:latin typeface="Cambria" panose="02040503050406030204" pitchFamily="18" charset="0"/>
                <a:ea typeface="Cambria" panose="02040503050406030204" pitchFamily="18" charset="0"/>
              </a:rPr>
              <a:t>str</a:t>
            </a:r>
            <a:r>
              <a:rPr lang="en-US" sz="1800" dirty="0">
                <a:solidFill>
                  <a:srgbClr val="212121"/>
                </a:solidFill>
                <a:effectLst/>
                <a:latin typeface="Cambria" panose="02040503050406030204" pitchFamily="18" charset="0"/>
                <a:ea typeface="Cambria" panose="02040503050406030204" pitchFamily="18" charset="0"/>
              </a:rPr>
              <a:t> will update 1000 times inside the loop and every time it will create new instance so all old values will be collected by garbage collector after some time.</a:t>
            </a:r>
            <a:endParaRPr lang="en-GB" sz="1800" dirty="0">
              <a:effectLst/>
              <a:latin typeface="Cambria" panose="02040503050406030204" pitchFamily="18" charset="0"/>
              <a:ea typeface="Cambria" panose="02040503050406030204" pitchFamily="18" charset="0"/>
            </a:endParaRPr>
          </a:p>
          <a:p>
            <a:pPr marL="0" marR="0">
              <a:spcBef>
                <a:spcPts val="1200"/>
              </a:spcBef>
              <a:spcAft>
                <a:spcPts val="1200"/>
              </a:spcAft>
            </a:pPr>
            <a:r>
              <a:rPr lang="en-US" sz="1800" dirty="0">
                <a:solidFill>
                  <a:srgbClr val="212121"/>
                </a:solidFill>
                <a:effectLst/>
                <a:latin typeface="Cambria" panose="02040503050406030204" pitchFamily="18" charset="0"/>
                <a:ea typeface="Cambria" panose="02040503050406030204" pitchFamily="18" charset="0"/>
              </a:rPr>
              <a:t>It is not a good approach for this solution so, it’s better to go for mutable type. So in C#, we have </a:t>
            </a:r>
            <a:r>
              <a:rPr lang="en-US" sz="1800" dirty="0" err="1">
                <a:solidFill>
                  <a:srgbClr val="212121"/>
                </a:solidFill>
                <a:effectLst/>
                <a:latin typeface="Cambria" panose="02040503050406030204" pitchFamily="18" charset="0"/>
                <a:ea typeface="Cambria" panose="02040503050406030204" pitchFamily="18" charset="0"/>
              </a:rPr>
              <a:t>StringBuilder</a:t>
            </a:r>
            <a:r>
              <a:rPr lang="en-US" sz="1800" dirty="0">
                <a:solidFill>
                  <a:srgbClr val="212121"/>
                </a:solidFill>
                <a:effectLst/>
                <a:latin typeface="Cambria" panose="02040503050406030204" pitchFamily="18" charset="0"/>
                <a:ea typeface="Cambria" panose="02040503050406030204" pitchFamily="18" charset="0"/>
              </a:rPr>
              <a:t> which is a mutable type. We have some advantages of immutable classes like immutable objects are simpler to construct, test, and use. immutable objects are always thread-safe and etc.</a:t>
            </a:r>
            <a:endParaRPr lang="en-GB" sz="1800" dirty="0">
              <a:effectLst/>
              <a:latin typeface="Cambria" panose="02040503050406030204" pitchFamily="18" charset="0"/>
              <a:ea typeface="Cambria" panose="02040503050406030204" pitchFamily="18" charset="0"/>
            </a:endParaRPr>
          </a:p>
        </p:txBody>
      </p:sp>
      <p:pic>
        <p:nvPicPr>
          <p:cNvPr id="10" name="Picture 9"/>
          <p:cNvPicPr>
            <a:picLocks noChangeAspect="1"/>
          </p:cNvPicPr>
          <p:nvPr/>
        </p:nvPicPr>
        <p:blipFill>
          <a:blip r:embed="rId5"/>
          <a:stretch>
            <a:fillRect/>
          </a:stretch>
        </p:blipFill>
        <p:spPr>
          <a:xfrm>
            <a:off x="1152236" y="704850"/>
            <a:ext cx="3648075" cy="6762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183386" y="643127"/>
            <a:ext cx="6466586" cy="489331"/>
          </a:xfrm>
          <a:prstGeom prst="rect">
            <a:avLst/>
          </a:prstGeom>
        </p:spPr>
      </p:pic>
      <p:pic>
        <p:nvPicPr>
          <p:cNvPr id="5" name="Picture 4"/>
          <p:cNvPicPr>
            <a:picLocks noChangeAspect="1"/>
          </p:cNvPicPr>
          <p:nvPr/>
        </p:nvPicPr>
        <p:blipFill>
          <a:blip r:embed="rId3"/>
          <a:stretch>
            <a:fillRect/>
          </a:stretch>
        </p:blipFill>
        <p:spPr>
          <a:xfrm>
            <a:off x="1183386" y="1981200"/>
            <a:ext cx="8524875" cy="1057275"/>
          </a:xfrm>
          <a:prstGeom prst="rect">
            <a:avLst/>
          </a:prstGeom>
        </p:spPr>
      </p:pic>
      <p:pic>
        <p:nvPicPr>
          <p:cNvPr id="6" name="Picture 5" descr="mutating an object"/>
          <p:cNvPicPr/>
          <p:nvPr/>
        </p:nvPicPr>
        <p:blipFill>
          <a:blip r:embed="rId4">
            <a:extLst>
              <a:ext uri="{28A0092B-C50C-407E-A947-70E740481C1C}">
                <a14:useLocalDpi xmlns:a14="http://schemas.microsoft.com/office/drawing/2010/main" val="0"/>
              </a:ext>
            </a:extLst>
          </a:blip>
          <a:srcRect/>
          <a:stretch>
            <a:fillRect/>
          </a:stretch>
        </p:blipFill>
        <p:spPr bwMode="auto">
          <a:xfrm>
            <a:off x="9525000" y="762000"/>
            <a:ext cx="1793240" cy="1054100"/>
          </a:xfrm>
          <a:prstGeom prst="rect">
            <a:avLst/>
          </a:prstGeom>
          <a:noFill/>
          <a:ln>
            <a:noFill/>
          </a:ln>
        </p:spPr>
      </p:pic>
      <p:pic>
        <p:nvPicPr>
          <p:cNvPr id="7" name="Picture 6"/>
          <p:cNvPicPr>
            <a:picLocks noChangeAspect="1"/>
          </p:cNvPicPr>
          <p:nvPr/>
        </p:nvPicPr>
        <p:blipFill>
          <a:blip r:embed="rId5"/>
          <a:stretch>
            <a:fillRect/>
          </a:stretch>
        </p:blipFill>
        <p:spPr>
          <a:xfrm>
            <a:off x="1066800" y="3124200"/>
            <a:ext cx="5048250" cy="1657350"/>
          </a:xfrm>
          <a:prstGeom prst="rect">
            <a:avLst/>
          </a:prstGeom>
        </p:spPr>
      </p:pic>
      <p:sp>
        <p:nvSpPr>
          <p:cNvPr id="9" name="Rectangle 8"/>
          <p:cNvSpPr/>
          <p:nvPr/>
        </p:nvSpPr>
        <p:spPr>
          <a:xfrm>
            <a:off x="4953000" y="4244035"/>
            <a:ext cx="6096000" cy="646331"/>
          </a:xfrm>
          <a:prstGeom prst="rect">
            <a:avLst/>
          </a:prstGeom>
        </p:spPr>
        <p:txBody>
          <a:bodyPr>
            <a:spAutoFit/>
          </a:bodyPr>
          <a:lstStyle/>
          <a:p>
            <a:r>
              <a:rPr lang="en-US" sz="1800" dirty="0">
                <a:solidFill>
                  <a:srgbClr val="212121"/>
                </a:solidFill>
                <a:effectLst/>
                <a:latin typeface="Cambria" panose="02040503050406030204" pitchFamily="18" charset="0"/>
                <a:ea typeface="Cambria" panose="02040503050406030204" pitchFamily="18" charset="0"/>
              </a:rPr>
              <a:t>In the code given above, It has the huge impact of allocated memory because it will not create instance each time.</a:t>
            </a:r>
            <a:endParaRPr lang="en-GB"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5559337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183386" y="643127"/>
            <a:ext cx="6466586" cy="489331"/>
          </a:xfrm>
          <a:prstGeom prst="rect">
            <a:avLst/>
          </a:prstGeom>
        </p:spPr>
      </p:pic>
      <p:pic>
        <p:nvPicPr>
          <p:cNvPr id="6" name="Picture 5" descr="mutating an object"/>
          <p:cNvPicPr/>
          <p:nvPr/>
        </p:nvPicPr>
        <p:blipFill>
          <a:blip r:embed="rId3">
            <a:extLst>
              <a:ext uri="{28A0092B-C50C-407E-A947-70E740481C1C}">
                <a14:useLocalDpi xmlns:a14="http://schemas.microsoft.com/office/drawing/2010/main" val="0"/>
              </a:ext>
            </a:extLst>
          </a:blip>
          <a:srcRect/>
          <a:stretch>
            <a:fillRect/>
          </a:stretch>
        </p:blipFill>
        <p:spPr bwMode="auto">
          <a:xfrm>
            <a:off x="9525000" y="762000"/>
            <a:ext cx="1793240" cy="1054100"/>
          </a:xfrm>
          <a:prstGeom prst="rect">
            <a:avLst/>
          </a:prstGeom>
          <a:noFill/>
          <a:ln>
            <a:noFill/>
          </a:ln>
        </p:spPr>
      </p:pic>
      <p:pic>
        <p:nvPicPr>
          <p:cNvPr id="3" name="Picture 2"/>
          <p:cNvPicPr>
            <a:picLocks noChangeAspect="1"/>
          </p:cNvPicPr>
          <p:nvPr/>
        </p:nvPicPr>
        <p:blipFill>
          <a:blip r:embed="rId4"/>
          <a:stretch>
            <a:fillRect/>
          </a:stretch>
        </p:blipFill>
        <p:spPr>
          <a:xfrm>
            <a:off x="3124200" y="1447800"/>
            <a:ext cx="6824662" cy="5188093"/>
          </a:xfrm>
          <a:prstGeom prst="rect">
            <a:avLst/>
          </a:prstGeom>
        </p:spPr>
      </p:pic>
    </p:spTree>
    <p:extLst>
      <p:ext uri="{BB962C8B-B14F-4D97-AF65-F5344CB8AC3E}">
        <p14:creationId xmlns:p14="http://schemas.microsoft.com/office/powerpoint/2010/main" val="31029006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183386" y="643127"/>
            <a:ext cx="6466586" cy="489331"/>
          </a:xfrm>
          <a:prstGeom prst="rect">
            <a:avLst/>
          </a:prstGeom>
        </p:spPr>
      </p:pic>
      <p:pic>
        <p:nvPicPr>
          <p:cNvPr id="6" name="Picture 5" descr="mutating an object"/>
          <p:cNvPicPr/>
          <p:nvPr/>
        </p:nvPicPr>
        <p:blipFill>
          <a:blip r:embed="rId3">
            <a:extLst>
              <a:ext uri="{28A0092B-C50C-407E-A947-70E740481C1C}">
                <a14:useLocalDpi xmlns:a14="http://schemas.microsoft.com/office/drawing/2010/main" val="0"/>
              </a:ext>
            </a:extLst>
          </a:blip>
          <a:srcRect/>
          <a:stretch>
            <a:fillRect/>
          </a:stretch>
        </p:blipFill>
        <p:spPr bwMode="auto">
          <a:xfrm>
            <a:off x="9525000" y="762000"/>
            <a:ext cx="1793240" cy="1054100"/>
          </a:xfrm>
          <a:prstGeom prst="rect">
            <a:avLst/>
          </a:prstGeom>
          <a:noFill/>
          <a:ln>
            <a:noFill/>
          </a:ln>
        </p:spPr>
      </p:pic>
      <p:pic>
        <p:nvPicPr>
          <p:cNvPr id="4" name="Picture 3"/>
          <p:cNvPicPr>
            <a:picLocks noChangeAspect="1"/>
          </p:cNvPicPr>
          <p:nvPr/>
        </p:nvPicPr>
        <p:blipFill>
          <a:blip r:embed="rId4"/>
          <a:stretch>
            <a:fillRect/>
          </a:stretch>
        </p:blipFill>
        <p:spPr>
          <a:xfrm>
            <a:off x="685800" y="1816100"/>
            <a:ext cx="4857750" cy="1857375"/>
          </a:xfrm>
          <a:prstGeom prst="rect">
            <a:avLst/>
          </a:prstGeom>
        </p:spPr>
      </p:pic>
      <p:sp>
        <p:nvSpPr>
          <p:cNvPr id="5" name="Rectangle 4"/>
          <p:cNvSpPr/>
          <p:nvPr/>
        </p:nvSpPr>
        <p:spPr>
          <a:xfrm>
            <a:off x="685800" y="3962400"/>
            <a:ext cx="10632440" cy="1959511"/>
          </a:xfrm>
          <a:prstGeom prst="rect">
            <a:avLst/>
          </a:prstGeom>
        </p:spPr>
        <p:txBody>
          <a:bodyPr wrap="square">
            <a:spAutoFit/>
          </a:bodyPr>
          <a:lstStyle/>
          <a:p>
            <a:pPr marL="0" marR="0" algn="just">
              <a:spcBef>
                <a:spcPts val="0"/>
              </a:spcBef>
              <a:spcAft>
                <a:spcPts val="750"/>
              </a:spcAft>
            </a:pPr>
            <a:r>
              <a:rPr lang="en-US" sz="1800" dirty="0">
                <a:solidFill>
                  <a:srgbClr val="212121"/>
                </a:solidFill>
                <a:effectLst/>
                <a:latin typeface="Cambria" panose="02040503050406030204" pitchFamily="18" charset="0"/>
                <a:ea typeface="Cambria" panose="02040503050406030204" pitchFamily="18" charset="0"/>
              </a:rPr>
              <a:t>This shows that changing t had no effect on s, but changing </a:t>
            </a:r>
            <a:r>
              <a:rPr lang="en-US" sz="1800" dirty="0" err="1">
                <a:solidFill>
                  <a:srgbClr val="212121"/>
                </a:solidFill>
                <a:effectLst/>
                <a:latin typeface="Cambria" panose="02040503050406030204" pitchFamily="18" charset="0"/>
                <a:ea typeface="Cambria" panose="02040503050406030204" pitchFamily="18" charset="0"/>
              </a:rPr>
              <a:t>tb</a:t>
            </a:r>
            <a:r>
              <a:rPr lang="en-US" sz="1800" dirty="0">
                <a:solidFill>
                  <a:srgbClr val="212121"/>
                </a:solidFill>
                <a:effectLst/>
                <a:latin typeface="Cambria" panose="02040503050406030204" pitchFamily="18" charset="0"/>
                <a:ea typeface="Cambria" panose="02040503050406030204" pitchFamily="18" charset="0"/>
              </a:rPr>
              <a:t> affected </a:t>
            </a:r>
            <a:r>
              <a:rPr lang="en-US" sz="1800" dirty="0" err="1">
                <a:solidFill>
                  <a:srgbClr val="212121"/>
                </a:solidFill>
                <a:effectLst/>
                <a:latin typeface="Cambria" panose="02040503050406030204" pitchFamily="18" charset="0"/>
                <a:ea typeface="Cambria" panose="02040503050406030204" pitchFamily="18" charset="0"/>
              </a:rPr>
              <a:t>sb</a:t>
            </a:r>
            <a:r>
              <a:rPr lang="en-US" sz="1800" dirty="0">
                <a:solidFill>
                  <a:srgbClr val="212121"/>
                </a:solidFill>
                <a:effectLst/>
                <a:latin typeface="Cambria" panose="02040503050406030204" pitchFamily="18" charset="0"/>
                <a:ea typeface="Cambria" panose="02040503050406030204" pitchFamily="18" charset="0"/>
              </a:rPr>
              <a:t> too — possibly to the surprise of the programmer. That’s the essence of the problem we’re going to look at in this reading.</a:t>
            </a:r>
          </a:p>
          <a:p>
            <a:pPr algn="just">
              <a:spcAft>
                <a:spcPts val="750"/>
              </a:spcAft>
            </a:pPr>
            <a:r>
              <a:rPr lang="en-US" sz="1800" dirty="0">
                <a:latin typeface="Cambria" panose="02040503050406030204" pitchFamily="18" charset="0"/>
                <a:ea typeface="Cambria" panose="02040503050406030204" pitchFamily="18" charset="0"/>
              </a:rPr>
              <a:t>Since we have the immutable String class already, why do we even need the mutable </a:t>
            </a:r>
            <a:r>
              <a:rPr lang="en-US" sz="1800" dirty="0" err="1">
                <a:latin typeface="Cambria" panose="02040503050406030204" pitchFamily="18" charset="0"/>
                <a:ea typeface="Cambria" panose="02040503050406030204" pitchFamily="18" charset="0"/>
              </a:rPr>
              <a:t>StringBuilder</a:t>
            </a:r>
            <a:r>
              <a:rPr lang="en-US" sz="1800" dirty="0">
                <a:latin typeface="Cambria" panose="02040503050406030204" pitchFamily="18" charset="0"/>
                <a:ea typeface="Cambria" panose="02040503050406030204" pitchFamily="18" charset="0"/>
              </a:rPr>
              <a:t> in programming? A common use for it is to concatenate a large number of strings together. Consider this code:</a:t>
            </a:r>
            <a:endParaRPr lang="en-GB" sz="1800" dirty="0">
              <a:latin typeface="Cambria" panose="02040503050406030204" pitchFamily="18" charset="0"/>
              <a:ea typeface="Cambria" panose="02040503050406030204" pitchFamily="18" charset="0"/>
            </a:endParaRPr>
          </a:p>
          <a:p>
            <a:pPr marL="0" marR="0" algn="just">
              <a:spcBef>
                <a:spcPts val="0"/>
              </a:spcBef>
              <a:spcAft>
                <a:spcPts val="750"/>
              </a:spcAft>
            </a:pPr>
            <a:endParaRPr lang="en-GB" sz="1800" dirty="0">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0332580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183386" y="643127"/>
            <a:ext cx="6466586" cy="489331"/>
          </a:xfrm>
          <a:prstGeom prst="rect">
            <a:avLst/>
          </a:prstGeom>
        </p:spPr>
      </p:pic>
      <p:pic>
        <p:nvPicPr>
          <p:cNvPr id="6" name="Picture 5" descr="mutating an object"/>
          <p:cNvPicPr/>
          <p:nvPr/>
        </p:nvPicPr>
        <p:blipFill>
          <a:blip r:embed="rId3">
            <a:extLst>
              <a:ext uri="{28A0092B-C50C-407E-A947-70E740481C1C}">
                <a14:useLocalDpi xmlns:a14="http://schemas.microsoft.com/office/drawing/2010/main" val="0"/>
              </a:ext>
            </a:extLst>
          </a:blip>
          <a:srcRect/>
          <a:stretch>
            <a:fillRect/>
          </a:stretch>
        </p:blipFill>
        <p:spPr bwMode="auto">
          <a:xfrm>
            <a:off x="9525000" y="762000"/>
            <a:ext cx="1793240" cy="1054100"/>
          </a:xfrm>
          <a:prstGeom prst="rect">
            <a:avLst/>
          </a:prstGeom>
          <a:noFill/>
          <a:ln>
            <a:noFill/>
          </a:ln>
        </p:spPr>
      </p:pic>
      <p:pic>
        <p:nvPicPr>
          <p:cNvPr id="7" name="Picture 6"/>
          <p:cNvPicPr>
            <a:picLocks noChangeAspect="1"/>
          </p:cNvPicPr>
          <p:nvPr/>
        </p:nvPicPr>
        <p:blipFill>
          <a:blip r:embed="rId4"/>
          <a:stretch>
            <a:fillRect/>
          </a:stretch>
        </p:blipFill>
        <p:spPr>
          <a:xfrm>
            <a:off x="685800" y="1716658"/>
            <a:ext cx="4143375" cy="1562100"/>
          </a:xfrm>
          <a:prstGeom prst="rect">
            <a:avLst/>
          </a:prstGeom>
        </p:spPr>
      </p:pic>
      <p:sp>
        <p:nvSpPr>
          <p:cNvPr id="8" name="Rectangle 7"/>
          <p:cNvSpPr/>
          <p:nvPr/>
        </p:nvSpPr>
        <p:spPr>
          <a:xfrm>
            <a:off x="685800" y="3253358"/>
            <a:ext cx="10591800" cy="1579920"/>
          </a:xfrm>
          <a:prstGeom prst="rect">
            <a:avLst/>
          </a:prstGeom>
        </p:spPr>
        <p:txBody>
          <a:bodyPr wrap="square">
            <a:spAutoFit/>
          </a:bodyPr>
          <a:lstStyle/>
          <a:p>
            <a:pPr marL="0" marR="0" algn="just">
              <a:spcBef>
                <a:spcPts val="0"/>
              </a:spcBef>
              <a:spcAft>
                <a:spcPts val="750"/>
              </a:spcAft>
            </a:pPr>
            <a:r>
              <a:rPr lang="en-US" sz="1800" dirty="0">
                <a:solidFill>
                  <a:srgbClr val="212121"/>
                </a:solidFill>
                <a:effectLst/>
                <a:latin typeface="Times New Roman" panose="02020603050405020304" pitchFamily="18" charset="0"/>
                <a:ea typeface="Times New Roman" panose="02020603050405020304" pitchFamily="18" charset="0"/>
              </a:rPr>
              <a:t>Using immutable strings, this makes a lot of temporary copies — the first number of the string ("0") is actually copied </a:t>
            </a:r>
            <a:r>
              <a:rPr lang="en-US" sz="1800" i="1" dirty="0">
                <a:solidFill>
                  <a:srgbClr val="212121"/>
                </a:solidFill>
                <a:effectLst/>
                <a:latin typeface="Times New Roman" panose="02020603050405020304" pitchFamily="18" charset="0"/>
                <a:ea typeface="Times New Roman" panose="02020603050405020304" pitchFamily="18" charset="0"/>
              </a:rPr>
              <a:t>n</a:t>
            </a:r>
            <a:r>
              <a:rPr lang="en-US" sz="1800" dirty="0">
                <a:solidFill>
                  <a:srgbClr val="212121"/>
                </a:solidFill>
                <a:effectLst/>
                <a:latin typeface="Times New Roman" panose="02020603050405020304" pitchFamily="18" charset="0"/>
                <a:ea typeface="Times New Roman" panose="02020603050405020304" pitchFamily="18" charset="0"/>
              </a:rPr>
              <a:t> times in the course of building up the final string, the second number is copied </a:t>
            </a:r>
            <a:r>
              <a:rPr lang="en-US" sz="1800" i="1" dirty="0">
                <a:solidFill>
                  <a:srgbClr val="212121"/>
                </a:solidFill>
                <a:effectLst/>
                <a:latin typeface="Times New Roman" panose="02020603050405020304" pitchFamily="18" charset="0"/>
                <a:ea typeface="Times New Roman" panose="02020603050405020304" pitchFamily="18" charset="0"/>
              </a:rPr>
              <a:t>n-1</a:t>
            </a:r>
            <a:r>
              <a:rPr lang="en-US" sz="1800" dirty="0">
                <a:solidFill>
                  <a:srgbClr val="212121"/>
                </a:solidFill>
                <a:effectLst/>
                <a:latin typeface="Times New Roman" panose="02020603050405020304" pitchFamily="18" charset="0"/>
                <a:ea typeface="Times New Roman" panose="02020603050405020304" pitchFamily="18" charset="0"/>
              </a:rPr>
              <a:t> times, and so on. It actually costs </a:t>
            </a:r>
            <a:r>
              <a:rPr lang="en-US" sz="1800" i="1" dirty="0">
                <a:solidFill>
                  <a:srgbClr val="212121"/>
                </a:solidFill>
                <a:effectLst/>
                <a:latin typeface="Times New Roman" panose="02020603050405020304" pitchFamily="18" charset="0"/>
                <a:ea typeface="Times New Roman" panose="02020603050405020304" pitchFamily="18" charset="0"/>
              </a:rPr>
              <a:t>O(n2)</a:t>
            </a:r>
            <a:r>
              <a:rPr lang="en-US" sz="1800" dirty="0">
                <a:solidFill>
                  <a:srgbClr val="212121"/>
                </a:solidFill>
                <a:effectLst/>
                <a:latin typeface="Times New Roman" panose="02020603050405020304" pitchFamily="18" charset="0"/>
                <a:ea typeface="Times New Roman" panose="02020603050405020304" pitchFamily="18" charset="0"/>
              </a:rPr>
              <a:t> time just to do all that copying, even though we only concatenated </a:t>
            </a:r>
            <a:r>
              <a:rPr lang="en-US" sz="1800" i="1" dirty="0">
                <a:solidFill>
                  <a:srgbClr val="212121"/>
                </a:solidFill>
                <a:effectLst/>
                <a:latin typeface="Times New Roman" panose="02020603050405020304" pitchFamily="18" charset="0"/>
                <a:ea typeface="Times New Roman" panose="02020603050405020304" pitchFamily="18" charset="0"/>
              </a:rPr>
              <a:t>n</a:t>
            </a:r>
            <a:r>
              <a:rPr lang="en-US" sz="1800" dirty="0">
                <a:solidFill>
                  <a:srgbClr val="212121"/>
                </a:solidFill>
                <a:effectLst/>
                <a:latin typeface="Times New Roman" panose="02020603050405020304" pitchFamily="18" charset="0"/>
                <a:ea typeface="Times New Roman" panose="02020603050405020304" pitchFamily="18" charset="0"/>
              </a:rPr>
              <a:t> elements.</a:t>
            </a:r>
            <a:endParaRPr lang="en-GB" sz="1800" dirty="0">
              <a:effectLst/>
              <a:latin typeface="Times New Roman" panose="02020603050405020304" pitchFamily="18" charset="0"/>
              <a:ea typeface="Times New Roman" panose="02020603050405020304" pitchFamily="18" charset="0"/>
            </a:endParaRPr>
          </a:p>
          <a:p>
            <a:pPr marL="0" marR="0" algn="just">
              <a:spcBef>
                <a:spcPts val="0"/>
              </a:spcBef>
              <a:spcAft>
                <a:spcPts val="750"/>
              </a:spcAft>
            </a:pPr>
            <a:r>
              <a:rPr lang="en-US" sz="1800" dirty="0" err="1">
                <a:solidFill>
                  <a:srgbClr val="212121"/>
                </a:solidFill>
                <a:effectLst/>
                <a:latin typeface="Times New Roman" panose="02020603050405020304" pitchFamily="18" charset="0"/>
                <a:ea typeface="Times New Roman" panose="02020603050405020304" pitchFamily="18" charset="0"/>
              </a:rPr>
              <a:t>StringBuilder</a:t>
            </a:r>
            <a:r>
              <a:rPr lang="en-US" sz="1800" dirty="0">
                <a:solidFill>
                  <a:srgbClr val="212121"/>
                </a:solidFill>
                <a:effectLst/>
                <a:latin typeface="Times New Roman" panose="02020603050405020304" pitchFamily="18" charset="0"/>
                <a:ea typeface="Times New Roman" panose="02020603050405020304" pitchFamily="18" charset="0"/>
              </a:rPr>
              <a:t> is designed to minimize this copying. It uses a simple but clever internal data structure to avoid doing any copying at all until the very end, when you ask for the final String with a </a:t>
            </a:r>
            <a:r>
              <a:rPr lang="en-US" sz="1800" dirty="0" err="1">
                <a:solidFill>
                  <a:srgbClr val="212121"/>
                </a:solidFill>
                <a:effectLst/>
                <a:latin typeface="Times New Roman" panose="02020603050405020304" pitchFamily="18" charset="0"/>
                <a:ea typeface="Times New Roman" panose="02020603050405020304" pitchFamily="18" charset="0"/>
              </a:rPr>
              <a:t>toString</a:t>
            </a:r>
            <a:r>
              <a:rPr lang="en-US" sz="1800" dirty="0">
                <a:solidFill>
                  <a:srgbClr val="212121"/>
                </a:solidFill>
                <a:effectLst/>
                <a:latin typeface="Times New Roman" panose="02020603050405020304" pitchFamily="18" charset="0"/>
                <a:ea typeface="Times New Roman" panose="02020603050405020304" pitchFamily="18" charset="0"/>
              </a:rPr>
              <a:t>() call:</a:t>
            </a:r>
            <a:endParaRPr lang="en-GB" sz="1800" dirty="0">
              <a:effectLst/>
              <a:latin typeface="Times New Roman" panose="02020603050405020304" pitchFamily="18" charset="0"/>
              <a:ea typeface="Times New Roman" panose="02020603050405020304" pitchFamily="18" charset="0"/>
            </a:endParaRPr>
          </a:p>
        </p:txBody>
      </p:sp>
      <p:pic>
        <p:nvPicPr>
          <p:cNvPr id="9" name="Picture 8"/>
          <p:cNvPicPr>
            <a:picLocks noChangeAspect="1"/>
          </p:cNvPicPr>
          <p:nvPr/>
        </p:nvPicPr>
        <p:blipFill>
          <a:blip r:embed="rId5"/>
          <a:stretch>
            <a:fillRect/>
          </a:stretch>
        </p:blipFill>
        <p:spPr>
          <a:xfrm>
            <a:off x="7391400" y="4916845"/>
            <a:ext cx="4543425" cy="1857375"/>
          </a:xfrm>
          <a:prstGeom prst="rect">
            <a:avLst/>
          </a:prstGeom>
        </p:spPr>
      </p:pic>
    </p:spTree>
    <p:extLst>
      <p:ext uri="{BB962C8B-B14F-4D97-AF65-F5344CB8AC3E}">
        <p14:creationId xmlns:p14="http://schemas.microsoft.com/office/powerpoint/2010/main" val="28411340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76200" y="228600"/>
            <a:ext cx="6997101" cy="48006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4" name="Picture 3"/>
          <p:cNvPicPr>
            <a:picLocks noChangeAspect="1"/>
          </p:cNvPicPr>
          <p:nvPr/>
        </p:nvPicPr>
        <p:blipFill>
          <a:blip r:embed="rId3"/>
          <a:stretch>
            <a:fillRect/>
          </a:stretch>
        </p:blipFill>
        <p:spPr>
          <a:xfrm>
            <a:off x="4724400" y="3048000"/>
            <a:ext cx="7153275" cy="348389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3052842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54346" y="351536"/>
            <a:ext cx="5298575" cy="2982341"/>
          </a:xfrm>
          <a:prstGeom prst="rect">
            <a:avLst/>
          </a:prstGeom>
        </p:spPr>
      </p:pic>
      <p:sp>
        <p:nvSpPr>
          <p:cNvPr id="2" name="object 2"/>
          <p:cNvSpPr/>
          <p:nvPr/>
        </p:nvSpPr>
        <p:spPr>
          <a:xfrm>
            <a:off x="555396" y="2973958"/>
            <a:ext cx="928369" cy="253365"/>
          </a:xfrm>
          <a:custGeom>
            <a:avLst/>
            <a:gdLst/>
            <a:ahLst/>
            <a:cxnLst/>
            <a:rect l="l" t="t" r="r" b="b"/>
            <a:pathLst>
              <a:path w="928369" h="253364">
                <a:moveTo>
                  <a:pt x="928116" y="0"/>
                </a:moveTo>
                <a:lnTo>
                  <a:pt x="0" y="0"/>
                </a:lnTo>
                <a:lnTo>
                  <a:pt x="0" y="252984"/>
                </a:lnTo>
                <a:lnTo>
                  <a:pt x="928116" y="252984"/>
                </a:lnTo>
                <a:lnTo>
                  <a:pt x="928116" y="0"/>
                </a:lnTo>
                <a:close/>
              </a:path>
            </a:pathLst>
          </a:custGeom>
          <a:solidFill>
            <a:srgbClr val="FFFF00"/>
          </a:solidFill>
        </p:spPr>
        <p:txBody>
          <a:bodyPr wrap="square" lIns="0" tIns="0" rIns="0" bIns="0" rtlCol="0"/>
          <a:lstStyle/>
          <a:p>
            <a:endParaRPr/>
          </a:p>
        </p:txBody>
      </p:sp>
      <p:sp>
        <p:nvSpPr>
          <p:cNvPr id="3" name="object 3"/>
          <p:cNvSpPr txBox="1"/>
          <p:nvPr/>
        </p:nvSpPr>
        <p:spPr>
          <a:xfrm>
            <a:off x="268325" y="358573"/>
            <a:ext cx="8901430" cy="1759585"/>
          </a:xfrm>
          <a:prstGeom prst="rect">
            <a:avLst/>
          </a:prstGeom>
        </p:spPr>
        <p:txBody>
          <a:bodyPr vert="horz" wrap="square" lIns="0" tIns="187325" rIns="0" bIns="0" rtlCol="0">
            <a:spAutoFit/>
          </a:bodyPr>
          <a:lstStyle/>
          <a:p>
            <a:pPr marL="135255" indent="-133350">
              <a:lnSpc>
                <a:spcPct val="100000"/>
              </a:lnSpc>
              <a:spcBef>
                <a:spcPts val="1475"/>
              </a:spcBef>
              <a:buSzPct val="96428"/>
              <a:buFont typeface="Times New Roman"/>
              <a:buChar char="•"/>
              <a:tabLst>
                <a:tab pos="135255" algn="l"/>
              </a:tabLst>
            </a:pPr>
            <a:r>
              <a:rPr sz="2800" b="1" spc="-10" dirty="0">
                <a:latin typeface="Times New Roman"/>
                <a:cs typeface="Times New Roman"/>
              </a:rPr>
              <a:t>Mutability:</a:t>
            </a:r>
            <a:endParaRPr sz="2800">
              <a:latin typeface="Times New Roman"/>
              <a:cs typeface="Times New Roman"/>
            </a:endParaRPr>
          </a:p>
          <a:p>
            <a:pPr marL="194945" indent="-182245">
              <a:lnSpc>
                <a:spcPts val="2280"/>
              </a:lnSpc>
              <a:spcBef>
                <a:spcPts val="990"/>
              </a:spcBef>
              <a:buClr>
                <a:srgbClr val="9E3611"/>
              </a:buClr>
              <a:buSzPct val="85000"/>
              <a:buFont typeface="Wingdings"/>
              <a:buChar char=""/>
              <a:tabLst>
                <a:tab pos="194945" algn="l"/>
              </a:tabLst>
            </a:pPr>
            <a:r>
              <a:rPr sz="2000" dirty="0">
                <a:latin typeface="Times New Roman"/>
                <a:cs typeface="Times New Roman"/>
              </a:rPr>
              <a:t>Mutability</a:t>
            </a:r>
            <a:r>
              <a:rPr sz="2000" spc="-40" dirty="0">
                <a:latin typeface="Times New Roman"/>
                <a:cs typeface="Times New Roman"/>
              </a:rPr>
              <a:t> </a:t>
            </a:r>
            <a:r>
              <a:rPr sz="2000" dirty="0">
                <a:latin typeface="Times New Roman"/>
                <a:cs typeface="Times New Roman"/>
              </a:rPr>
              <a:t>refers</a:t>
            </a:r>
            <a:r>
              <a:rPr sz="2000" spc="-30" dirty="0">
                <a:latin typeface="Times New Roman"/>
                <a:cs typeface="Times New Roman"/>
              </a:rPr>
              <a:t> </a:t>
            </a:r>
            <a:r>
              <a:rPr sz="2000" dirty="0">
                <a:latin typeface="Times New Roman"/>
                <a:cs typeface="Times New Roman"/>
              </a:rPr>
              <a:t>to</a:t>
            </a:r>
            <a:r>
              <a:rPr sz="2000" spc="-25" dirty="0">
                <a:latin typeface="Times New Roman"/>
                <a:cs typeface="Times New Roman"/>
              </a:rPr>
              <a:t> </a:t>
            </a:r>
            <a:r>
              <a:rPr sz="2000" dirty="0">
                <a:latin typeface="Times New Roman"/>
                <a:cs typeface="Times New Roman"/>
              </a:rPr>
              <a:t>the</a:t>
            </a:r>
            <a:r>
              <a:rPr sz="2000" spc="-10" dirty="0">
                <a:latin typeface="Times New Roman"/>
                <a:cs typeface="Times New Roman"/>
              </a:rPr>
              <a:t> </a:t>
            </a:r>
            <a:r>
              <a:rPr sz="2000" dirty="0">
                <a:latin typeface="Times New Roman"/>
                <a:cs typeface="Times New Roman"/>
              </a:rPr>
              <a:t>ability</a:t>
            </a:r>
            <a:r>
              <a:rPr sz="2000" spc="-25" dirty="0">
                <a:latin typeface="Times New Roman"/>
                <a:cs typeface="Times New Roman"/>
              </a:rPr>
              <a:t> </a:t>
            </a:r>
            <a:r>
              <a:rPr sz="2000" dirty="0">
                <a:latin typeface="Times New Roman"/>
                <a:cs typeface="Times New Roman"/>
              </a:rPr>
              <a:t>of</a:t>
            </a:r>
            <a:r>
              <a:rPr sz="2000" spc="-15" dirty="0">
                <a:latin typeface="Times New Roman"/>
                <a:cs typeface="Times New Roman"/>
              </a:rPr>
              <a:t> </a:t>
            </a:r>
            <a:r>
              <a:rPr sz="2000" dirty="0">
                <a:latin typeface="Times New Roman"/>
                <a:cs typeface="Times New Roman"/>
              </a:rPr>
              <a:t>an</a:t>
            </a:r>
            <a:r>
              <a:rPr sz="2000" spc="-5" dirty="0">
                <a:latin typeface="Times New Roman"/>
                <a:cs typeface="Times New Roman"/>
              </a:rPr>
              <a:t> </a:t>
            </a:r>
            <a:r>
              <a:rPr sz="2000" dirty="0">
                <a:latin typeface="Times New Roman"/>
                <a:cs typeface="Times New Roman"/>
              </a:rPr>
              <a:t>object</a:t>
            </a:r>
            <a:r>
              <a:rPr sz="2000" spc="-40" dirty="0">
                <a:latin typeface="Times New Roman"/>
                <a:cs typeface="Times New Roman"/>
              </a:rPr>
              <a:t> </a:t>
            </a:r>
            <a:r>
              <a:rPr sz="2000" dirty="0">
                <a:latin typeface="Times New Roman"/>
                <a:cs typeface="Times New Roman"/>
              </a:rPr>
              <a:t>or</a:t>
            </a:r>
            <a:r>
              <a:rPr sz="2000" spc="-20" dirty="0">
                <a:latin typeface="Times New Roman"/>
                <a:cs typeface="Times New Roman"/>
              </a:rPr>
              <a:t> </a:t>
            </a:r>
            <a:r>
              <a:rPr sz="2000" dirty="0">
                <a:latin typeface="Times New Roman"/>
                <a:cs typeface="Times New Roman"/>
              </a:rPr>
              <a:t>data</a:t>
            </a:r>
            <a:r>
              <a:rPr sz="2000" spc="-15" dirty="0">
                <a:latin typeface="Times New Roman"/>
                <a:cs typeface="Times New Roman"/>
              </a:rPr>
              <a:t> </a:t>
            </a:r>
            <a:r>
              <a:rPr sz="2000" dirty="0">
                <a:latin typeface="Times New Roman"/>
                <a:cs typeface="Times New Roman"/>
              </a:rPr>
              <a:t>structure</a:t>
            </a:r>
            <a:r>
              <a:rPr sz="2000" spc="-45" dirty="0">
                <a:latin typeface="Times New Roman"/>
                <a:cs typeface="Times New Roman"/>
              </a:rPr>
              <a:t> </a:t>
            </a:r>
            <a:r>
              <a:rPr sz="2000" dirty="0">
                <a:latin typeface="Times New Roman"/>
                <a:cs typeface="Times New Roman"/>
              </a:rPr>
              <a:t>to</a:t>
            </a:r>
            <a:r>
              <a:rPr sz="2000" spc="-10" dirty="0">
                <a:latin typeface="Times New Roman"/>
                <a:cs typeface="Times New Roman"/>
              </a:rPr>
              <a:t> </a:t>
            </a:r>
            <a:r>
              <a:rPr sz="2000" dirty="0">
                <a:latin typeface="Times New Roman"/>
                <a:cs typeface="Times New Roman"/>
              </a:rPr>
              <a:t>be</a:t>
            </a:r>
            <a:r>
              <a:rPr sz="2000" spc="-5" dirty="0">
                <a:latin typeface="Times New Roman"/>
                <a:cs typeface="Times New Roman"/>
              </a:rPr>
              <a:t> </a:t>
            </a:r>
            <a:r>
              <a:rPr sz="2000" dirty="0">
                <a:latin typeface="Times New Roman"/>
                <a:cs typeface="Times New Roman"/>
              </a:rPr>
              <a:t>modified</a:t>
            </a:r>
            <a:r>
              <a:rPr sz="2000" spc="-30" dirty="0">
                <a:latin typeface="Times New Roman"/>
                <a:cs typeface="Times New Roman"/>
              </a:rPr>
              <a:t> </a:t>
            </a:r>
            <a:r>
              <a:rPr sz="2000" dirty="0">
                <a:latin typeface="Times New Roman"/>
                <a:cs typeface="Times New Roman"/>
              </a:rPr>
              <a:t>after</a:t>
            </a:r>
            <a:r>
              <a:rPr sz="2000" spc="-25" dirty="0">
                <a:latin typeface="Times New Roman"/>
                <a:cs typeface="Times New Roman"/>
              </a:rPr>
              <a:t> </a:t>
            </a:r>
            <a:r>
              <a:rPr sz="2000" dirty="0">
                <a:latin typeface="Times New Roman"/>
                <a:cs typeface="Times New Roman"/>
              </a:rPr>
              <a:t>it</a:t>
            </a:r>
            <a:r>
              <a:rPr sz="2000" spc="-20" dirty="0">
                <a:latin typeface="Times New Roman"/>
                <a:cs typeface="Times New Roman"/>
              </a:rPr>
              <a:t> </a:t>
            </a:r>
            <a:r>
              <a:rPr sz="2000" spc="-25" dirty="0">
                <a:latin typeface="Times New Roman"/>
                <a:cs typeface="Times New Roman"/>
              </a:rPr>
              <a:t>has</a:t>
            </a:r>
            <a:endParaRPr sz="2000">
              <a:latin typeface="Times New Roman"/>
              <a:cs typeface="Times New Roman"/>
            </a:endParaRPr>
          </a:p>
          <a:p>
            <a:pPr marR="7357109" algn="r">
              <a:lnSpc>
                <a:spcPts val="2280"/>
              </a:lnSpc>
            </a:pPr>
            <a:r>
              <a:rPr sz="2000" dirty="0">
                <a:latin typeface="Times New Roman"/>
                <a:cs typeface="Times New Roman"/>
              </a:rPr>
              <a:t>been</a:t>
            </a:r>
            <a:r>
              <a:rPr sz="2000" spc="-20" dirty="0">
                <a:latin typeface="Times New Roman"/>
                <a:cs typeface="Times New Roman"/>
              </a:rPr>
              <a:t> </a:t>
            </a:r>
            <a:r>
              <a:rPr sz="2000" spc="-10" dirty="0">
                <a:latin typeface="Times New Roman"/>
                <a:cs typeface="Times New Roman"/>
              </a:rPr>
              <a:t>created.</a:t>
            </a:r>
            <a:endParaRPr sz="2000">
              <a:latin typeface="Times New Roman"/>
              <a:cs typeface="Times New Roman"/>
            </a:endParaRPr>
          </a:p>
          <a:p>
            <a:pPr marL="182245" marR="7339330" indent="-182245" algn="r">
              <a:lnSpc>
                <a:spcPct val="100000"/>
              </a:lnSpc>
              <a:spcBef>
                <a:spcPts val="965"/>
              </a:spcBef>
              <a:buClr>
                <a:srgbClr val="9E3611"/>
              </a:buClr>
              <a:buSzPct val="85000"/>
              <a:buFont typeface="Wingdings"/>
              <a:buChar char=""/>
              <a:tabLst>
                <a:tab pos="182245" algn="l"/>
              </a:tabLst>
            </a:pPr>
            <a:r>
              <a:rPr sz="2000" b="1" spc="-10" dirty="0">
                <a:latin typeface="Times New Roman"/>
                <a:cs typeface="Times New Roman"/>
              </a:rPr>
              <a:t>Advantages:</a:t>
            </a:r>
            <a:endParaRPr sz="2000">
              <a:latin typeface="Times New Roman"/>
              <a:cs typeface="Times New Roman"/>
            </a:endParaRPr>
          </a:p>
        </p:txBody>
      </p:sp>
      <p:sp>
        <p:nvSpPr>
          <p:cNvPr id="4" name="object 4"/>
          <p:cNvSpPr txBox="1"/>
          <p:nvPr/>
        </p:nvSpPr>
        <p:spPr>
          <a:xfrm>
            <a:off x="1678558" y="2157095"/>
            <a:ext cx="3881120" cy="253365"/>
          </a:xfrm>
          <a:prstGeom prst="rect">
            <a:avLst/>
          </a:prstGeom>
          <a:solidFill>
            <a:srgbClr val="FFFF00"/>
          </a:solidFill>
        </p:spPr>
        <p:txBody>
          <a:bodyPr vert="horz" wrap="square" lIns="0" tIns="0" rIns="0" bIns="0" rtlCol="0">
            <a:spAutoFit/>
          </a:bodyPr>
          <a:lstStyle/>
          <a:p>
            <a:pPr>
              <a:lnSpc>
                <a:spcPts val="1935"/>
              </a:lnSpc>
            </a:pPr>
            <a:r>
              <a:rPr sz="1800" dirty="0">
                <a:latin typeface="Times New Roman"/>
                <a:cs typeface="Times New Roman"/>
              </a:rPr>
              <a:t>Mutable</a:t>
            </a:r>
            <a:r>
              <a:rPr sz="1800" spc="-30" dirty="0">
                <a:latin typeface="Times New Roman"/>
                <a:cs typeface="Times New Roman"/>
              </a:rPr>
              <a:t> </a:t>
            </a:r>
            <a:r>
              <a:rPr sz="1800" dirty="0">
                <a:latin typeface="Times New Roman"/>
                <a:cs typeface="Times New Roman"/>
              </a:rPr>
              <a:t>objects</a:t>
            </a:r>
            <a:r>
              <a:rPr sz="1800" spc="-45" dirty="0">
                <a:latin typeface="Times New Roman"/>
                <a:cs typeface="Times New Roman"/>
              </a:rPr>
              <a:t> </a:t>
            </a:r>
            <a:r>
              <a:rPr sz="1800" dirty="0">
                <a:latin typeface="Times New Roman"/>
                <a:cs typeface="Times New Roman"/>
              </a:rPr>
              <a:t>can</a:t>
            </a:r>
            <a:r>
              <a:rPr sz="1800" spc="-45" dirty="0">
                <a:latin typeface="Times New Roman"/>
                <a:cs typeface="Times New Roman"/>
              </a:rPr>
              <a:t> </a:t>
            </a:r>
            <a:r>
              <a:rPr sz="1800" dirty="0">
                <a:latin typeface="Times New Roman"/>
                <a:cs typeface="Times New Roman"/>
              </a:rPr>
              <a:t>be</a:t>
            </a:r>
            <a:r>
              <a:rPr sz="1800" spc="-25" dirty="0">
                <a:latin typeface="Times New Roman"/>
                <a:cs typeface="Times New Roman"/>
              </a:rPr>
              <a:t> </a:t>
            </a:r>
            <a:r>
              <a:rPr sz="1800" dirty="0">
                <a:latin typeface="Times New Roman"/>
                <a:cs typeface="Times New Roman"/>
              </a:rPr>
              <a:t>changed</a:t>
            </a:r>
            <a:r>
              <a:rPr sz="1800" spc="-40" dirty="0">
                <a:latin typeface="Times New Roman"/>
                <a:cs typeface="Times New Roman"/>
              </a:rPr>
              <a:t> </a:t>
            </a:r>
            <a:r>
              <a:rPr sz="1800" dirty="0">
                <a:latin typeface="Times New Roman"/>
                <a:cs typeface="Times New Roman"/>
              </a:rPr>
              <a:t>on</a:t>
            </a:r>
            <a:r>
              <a:rPr sz="1800" spc="-30" dirty="0">
                <a:latin typeface="Times New Roman"/>
                <a:cs typeface="Times New Roman"/>
              </a:rPr>
              <a:t> </a:t>
            </a:r>
            <a:r>
              <a:rPr sz="1800" dirty="0">
                <a:latin typeface="Times New Roman"/>
                <a:cs typeface="Times New Roman"/>
              </a:rPr>
              <a:t>the</a:t>
            </a:r>
            <a:r>
              <a:rPr sz="1800" spc="-40" dirty="0">
                <a:latin typeface="Times New Roman"/>
                <a:cs typeface="Times New Roman"/>
              </a:rPr>
              <a:t> </a:t>
            </a:r>
            <a:r>
              <a:rPr sz="1800" spc="-25" dirty="0">
                <a:latin typeface="Times New Roman"/>
                <a:cs typeface="Times New Roman"/>
              </a:rPr>
              <a:t>fly</a:t>
            </a:r>
            <a:endParaRPr sz="1800">
              <a:latin typeface="Times New Roman"/>
              <a:cs typeface="Times New Roman"/>
            </a:endParaRPr>
          </a:p>
        </p:txBody>
      </p:sp>
      <p:sp>
        <p:nvSpPr>
          <p:cNvPr id="5" name="object 5"/>
          <p:cNvSpPr txBox="1"/>
          <p:nvPr/>
        </p:nvSpPr>
        <p:spPr>
          <a:xfrm>
            <a:off x="542645" y="2116073"/>
            <a:ext cx="8647430" cy="299720"/>
          </a:xfrm>
          <a:prstGeom prst="rect">
            <a:avLst/>
          </a:prstGeom>
        </p:spPr>
        <p:txBody>
          <a:bodyPr vert="horz" wrap="square" lIns="0" tIns="12700" rIns="0" bIns="0" rtlCol="0">
            <a:spAutoFit/>
          </a:bodyPr>
          <a:lstStyle/>
          <a:p>
            <a:pPr marL="12700">
              <a:lnSpc>
                <a:spcPct val="100000"/>
              </a:lnSpc>
              <a:spcBef>
                <a:spcPts val="100"/>
              </a:spcBef>
              <a:tabLst>
                <a:tab pos="4992370" algn="l"/>
              </a:tabLst>
            </a:pPr>
            <a:r>
              <a:rPr sz="1800" b="1" spc="-10" dirty="0">
                <a:latin typeface="Times New Roman"/>
                <a:cs typeface="Times New Roman"/>
              </a:rPr>
              <a:t>Flexibility:</a:t>
            </a:r>
            <a:r>
              <a:rPr sz="1800" b="1" dirty="0">
                <a:latin typeface="Times New Roman"/>
                <a:cs typeface="Times New Roman"/>
              </a:rPr>
              <a:t>	</a:t>
            </a:r>
            <a:r>
              <a:rPr sz="1800" dirty="0">
                <a:latin typeface="Times New Roman"/>
                <a:cs typeface="Times New Roman"/>
              </a:rPr>
              <a:t>,</a:t>
            </a:r>
            <a:r>
              <a:rPr sz="1800" spc="-50" dirty="0">
                <a:latin typeface="Times New Roman"/>
                <a:cs typeface="Times New Roman"/>
              </a:rPr>
              <a:t> </a:t>
            </a:r>
            <a:r>
              <a:rPr sz="1800" dirty="0">
                <a:latin typeface="Times New Roman"/>
                <a:cs typeface="Times New Roman"/>
              </a:rPr>
              <a:t>which</a:t>
            </a:r>
            <a:r>
              <a:rPr sz="1800" spc="-25" dirty="0">
                <a:latin typeface="Times New Roman"/>
                <a:cs typeface="Times New Roman"/>
              </a:rPr>
              <a:t> </a:t>
            </a:r>
            <a:r>
              <a:rPr sz="1800" dirty="0">
                <a:latin typeface="Times New Roman"/>
                <a:cs typeface="Times New Roman"/>
              </a:rPr>
              <a:t>can</a:t>
            </a:r>
            <a:r>
              <a:rPr sz="1800" spc="-30" dirty="0">
                <a:latin typeface="Times New Roman"/>
                <a:cs typeface="Times New Roman"/>
              </a:rPr>
              <a:t> </a:t>
            </a:r>
            <a:r>
              <a:rPr sz="1800" dirty="0">
                <a:latin typeface="Times New Roman"/>
                <a:cs typeface="Times New Roman"/>
              </a:rPr>
              <a:t>be</a:t>
            </a:r>
            <a:r>
              <a:rPr sz="1800" spc="-20" dirty="0">
                <a:latin typeface="Times New Roman"/>
                <a:cs typeface="Times New Roman"/>
              </a:rPr>
              <a:t> </a:t>
            </a:r>
            <a:r>
              <a:rPr sz="1800" dirty="0">
                <a:latin typeface="Times New Roman"/>
                <a:cs typeface="Times New Roman"/>
              </a:rPr>
              <a:t>useful</a:t>
            </a:r>
            <a:r>
              <a:rPr sz="1800" spc="-15" dirty="0">
                <a:latin typeface="Times New Roman"/>
                <a:cs typeface="Times New Roman"/>
              </a:rPr>
              <a:t> </a:t>
            </a:r>
            <a:r>
              <a:rPr sz="1800" dirty="0">
                <a:latin typeface="Times New Roman"/>
                <a:cs typeface="Times New Roman"/>
              </a:rPr>
              <a:t>in</a:t>
            </a:r>
            <a:r>
              <a:rPr sz="1800" spc="-20" dirty="0">
                <a:latin typeface="Times New Roman"/>
                <a:cs typeface="Times New Roman"/>
              </a:rPr>
              <a:t> </a:t>
            </a:r>
            <a:r>
              <a:rPr sz="1800" dirty="0">
                <a:latin typeface="Times New Roman"/>
                <a:cs typeface="Times New Roman"/>
              </a:rPr>
              <a:t>many</a:t>
            </a:r>
            <a:r>
              <a:rPr sz="1800" spc="-20" dirty="0">
                <a:latin typeface="Times New Roman"/>
                <a:cs typeface="Times New Roman"/>
              </a:rPr>
              <a:t> </a:t>
            </a:r>
            <a:r>
              <a:rPr sz="1800" spc="-10" dirty="0">
                <a:latin typeface="Times New Roman"/>
                <a:cs typeface="Times New Roman"/>
              </a:rPr>
              <a:t>scenarios</a:t>
            </a:r>
            <a:endParaRPr sz="1800">
              <a:latin typeface="Times New Roman"/>
              <a:cs typeface="Times New Roman"/>
            </a:endParaRPr>
          </a:p>
        </p:txBody>
      </p:sp>
      <p:sp>
        <p:nvSpPr>
          <p:cNvPr id="6" name="object 6"/>
          <p:cNvSpPr txBox="1"/>
          <p:nvPr/>
        </p:nvSpPr>
        <p:spPr>
          <a:xfrm>
            <a:off x="555396" y="2410079"/>
            <a:ext cx="2923540" cy="247015"/>
          </a:xfrm>
          <a:prstGeom prst="rect">
            <a:avLst/>
          </a:prstGeom>
          <a:solidFill>
            <a:srgbClr val="FFFF00"/>
          </a:solidFill>
        </p:spPr>
        <p:txBody>
          <a:bodyPr vert="horz" wrap="square" lIns="0" tIns="0" rIns="0" bIns="0" rtlCol="0">
            <a:spAutoFit/>
          </a:bodyPr>
          <a:lstStyle/>
          <a:p>
            <a:pPr>
              <a:lnSpc>
                <a:spcPts val="1889"/>
              </a:lnSpc>
            </a:pPr>
            <a:r>
              <a:rPr sz="1800" dirty="0">
                <a:latin typeface="Times New Roman"/>
                <a:cs typeface="Times New Roman"/>
              </a:rPr>
              <a:t>where</a:t>
            </a:r>
            <a:r>
              <a:rPr sz="1800" spc="-25" dirty="0">
                <a:latin typeface="Times New Roman"/>
                <a:cs typeface="Times New Roman"/>
              </a:rPr>
              <a:t> </a:t>
            </a:r>
            <a:r>
              <a:rPr sz="1800" dirty="0">
                <a:latin typeface="Times New Roman"/>
                <a:cs typeface="Times New Roman"/>
              </a:rPr>
              <a:t>data</a:t>
            </a:r>
            <a:r>
              <a:rPr sz="1800" spc="-20" dirty="0">
                <a:latin typeface="Times New Roman"/>
                <a:cs typeface="Times New Roman"/>
              </a:rPr>
              <a:t> </a:t>
            </a:r>
            <a:r>
              <a:rPr sz="1800" dirty="0">
                <a:latin typeface="Times New Roman"/>
                <a:cs typeface="Times New Roman"/>
              </a:rPr>
              <a:t>needs</a:t>
            </a:r>
            <a:r>
              <a:rPr sz="1800" spc="-35" dirty="0">
                <a:latin typeface="Times New Roman"/>
                <a:cs typeface="Times New Roman"/>
              </a:rPr>
              <a:t> </a:t>
            </a:r>
            <a:r>
              <a:rPr sz="1800" dirty="0">
                <a:latin typeface="Times New Roman"/>
                <a:cs typeface="Times New Roman"/>
              </a:rPr>
              <a:t>to</a:t>
            </a:r>
            <a:r>
              <a:rPr sz="1800" spc="-20" dirty="0">
                <a:latin typeface="Times New Roman"/>
                <a:cs typeface="Times New Roman"/>
              </a:rPr>
              <a:t> </a:t>
            </a:r>
            <a:r>
              <a:rPr sz="1800" dirty="0">
                <a:latin typeface="Times New Roman"/>
                <a:cs typeface="Times New Roman"/>
              </a:rPr>
              <a:t>be</a:t>
            </a:r>
            <a:r>
              <a:rPr sz="1800" spc="-25" dirty="0">
                <a:latin typeface="Times New Roman"/>
                <a:cs typeface="Times New Roman"/>
              </a:rPr>
              <a:t> </a:t>
            </a:r>
            <a:r>
              <a:rPr sz="1800" spc="-10" dirty="0">
                <a:latin typeface="Times New Roman"/>
                <a:cs typeface="Times New Roman"/>
              </a:rPr>
              <a:t>updated.</a:t>
            </a:r>
            <a:endParaRPr sz="1800">
              <a:latin typeface="Times New Roman"/>
              <a:cs typeface="Times New Roman"/>
            </a:endParaRPr>
          </a:p>
        </p:txBody>
      </p:sp>
      <p:sp>
        <p:nvSpPr>
          <p:cNvPr id="7" name="object 7"/>
          <p:cNvSpPr txBox="1"/>
          <p:nvPr/>
        </p:nvSpPr>
        <p:spPr>
          <a:xfrm>
            <a:off x="2574670" y="2727070"/>
            <a:ext cx="4000500" cy="253365"/>
          </a:xfrm>
          <a:prstGeom prst="rect">
            <a:avLst/>
          </a:prstGeom>
          <a:solidFill>
            <a:srgbClr val="FFFF00"/>
          </a:solidFill>
        </p:spPr>
        <p:txBody>
          <a:bodyPr vert="horz" wrap="square" lIns="0" tIns="0" rIns="0" bIns="0" rtlCol="0">
            <a:spAutoFit/>
          </a:bodyPr>
          <a:lstStyle/>
          <a:p>
            <a:pPr>
              <a:lnSpc>
                <a:spcPts val="1935"/>
              </a:lnSpc>
            </a:pPr>
            <a:r>
              <a:rPr sz="1800" dirty="0">
                <a:latin typeface="Times New Roman"/>
                <a:cs typeface="Times New Roman"/>
              </a:rPr>
              <a:t>Some</a:t>
            </a:r>
            <a:r>
              <a:rPr sz="1800" spc="-30" dirty="0">
                <a:latin typeface="Times New Roman"/>
                <a:cs typeface="Times New Roman"/>
              </a:rPr>
              <a:t> </a:t>
            </a:r>
            <a:r>
              <a:rPr sz="1800" dirty="0">
                <a:latin typeface="Times New Roman"/>
                <a:cs typeface="Times New Roman"/>
              </a:rPr>
              <a:t>operations</a:t>
            </a:r>
            <a:r>
              <a:rPr sz="1800" spc="-40" dirty="0">
                <a:latin typeface="Times New Roman"/>
                <a:cs typeface="Times New Roman"/>
              </a:rPr>
              <a:t> </a:t>
            </a:r>
            <a:r>
              <a:rPr sz="1800" dirty="0">
                <a:latin typeface="Times New Roman"/>
                <a:cs typeface="Times New Roman"/>
              </a:rPr>
              <a:t>can</a:t>
            </a:r>
            <a:r>
              <a:rPr sz="1800" spc="-45" dirty="0">
                <a:latin typeface="Times New Roman"/>
                <a:cs typeface="Times New Roman"/>
              </a:rPr>
              <a:t> </a:t>
            </a:r>
            <a:r>
              <a:rPr sz="1800" dirty="0">
                <a:latin typeface="Times New Roman"/>
                <a:cs typeface="Times New Roman"/>
              </a:rPr>
              <a:t>be</a:t>
            </a:r>
            <a:r>
              <a:rPr sz="1800" spc="-30" dirty="0">
                <a:latin typeface="Times New Roman"/>
                <a:cs typeface="Times New Roman"/>
              </a:rPr>
              <a:t> </a:t>
            </a:r>
            <a:r>
              <a:rPr sz="1800" dirty="0">
                <a:latin typeface="Times New Roman"/>
                <a:cs typeface="Times New Roman"/>
              </a:rPr>
              <a:t>performed</a:t>
            </a:r>
            <a:r>
              <a:rPr sz="1800" spc="-35" dirty="0">
                <a:latin typeface="Times New Roman"/>
                <a:cs typeface="Times New Roman"/>
              </a:rPr>
              <a:t> </a:t>
            </a:r>
            <a:r>
              <a:rPr sz="1800" spc="-10" dirty="0">
                <a:latin typeface="Times New Roman"/>
                <a:cs typeface="Times New Roman"/>
              </a:rPr>
              <a:t>directly</a:t>
            </a:r>
            <a:endParaRPr sz="1800">
              <a:latin typeface="Times New Roman"/>
              <a:cs typeface="Times New Roman"/>
            </a:endParaRPr>
          </a:p>
        </p:txBody>
      </p:sp>
      <p:sp>
        <p:nvSpPr>
          <p:cNvPr id="8" name="object 8"/>
          <p:cNvSpPr txBox="1"/>
          <p:nvPr/>
        </p:nvSpPr>
        <p:spPr>
          <a:xfrm>
            <a:off x="542645" y="2686050"/>
            <a:ext cx="7226934" cy="299720"/>
          </a:xfrm>
          <a:prstGeom prst="rect">
            <a:avLst/>
          </a:prstGeom>
        </p:spPr>
        <p:txBody>
          <a:bodyPr vert="horz" wrap="square" lIns="0" tIns="12700" rIns="0" bIns="0" rtlCol="0">
            <a:spAutoFit/>
          </a:bodyPr>
          <a:lstStyle/>
          <a:p>
            <a:pPr marL="12700">
              <a:lnSpc>
                <a:spcPct val="100000"/>
              </a:lnSpc>
              <a:spcBef>
                <a:spcPts val="100"/>
              </a:spcBef>
              <a:tabLst>
                <a:tab pos="6033135" algn="l"/>
              </a:tabLst>
            </a:pPr>
            <a:r>
              <a:rPr sz="1800" b="1" spc="-10" dirty="0">
                <a:latin typeface="Times New Roman"/>
                <a:cs typeface="Times New Roman"/>
              </a:rPr>
              <a:t>In-</a:t>
            </a:r>
            <a:r>
              <a:rPr sz="1800" b="1" dirty="0">
                <a:latin typeface="Times New Roman"/>
                <a:cs typeface="Times New Roman"/>
              </a:rPr>
              <a:t>place</a:t>
            </a:r>
            <a:r>
              <a:rPr sz="1800" b="1" spc="-30" dirty="0">
                <a:latin typeface="Times New Roman"/>
                <a:cs typeface="Times New Roman"/>
              </a:rPr>
              <a:t> </a:t>
            </a:r>
            <a:r>
              <a:rPr sz="1800" b="1" spc="-10" dirty="0">
                <a:latin typeface="Times New Roman"/>
                <a:cs typeface="Times New Roman"/>
              </a:rPr>
              <a:t>operations:</a:t>
            </a:r>
            <a:r>
              <a:rPr sz="1800" b="1" dirty="0">
                <a:latin typeface="Times New Roman"/>
                <a:cs typeface="Times New Roman"/>
              </a:rPr>
              <a:t>	</a:t>
            </a:r>
            <a:r>
              <a:rPr sz="1800" dirty="0">
                <a:latin typeface="Times New Roman"/>
                <a:cs typeface="Times New Roman"/>
              </a:rPr>
              <a:t>on</a:t>
            </a:r>
            <a:r>
              <a:rPr sz="1800" spc="-15" dirty="0">
                <a:latin typeface="Times New Roman"/>
                <a:cs typeface="Times New Roman"/>
              </a:rPr>
              <a:t> </a:t>
            </a:r>
            <a:r>
              <a:rPr sz="1800" dirty="0">
                <a:latin typeface="Times New Roman"/>
                <a:cs typeface="Times New Roman"/>
              </a:rPr>
              <a:t>the</a:t>
            </a:r>
            <a:r>
              <a:rPr sz="1800" spc="-25" dirty="0">
                <a:latin typeface="Times New Roman"/>
                <a:cs typeface="Times New Roman"/>
              </a:rPr>
              <a:t> </a:t>
            </a:r>
            <a:r>
              <a:rPr sz="1800" spc="-10" dirty="0">
                <a:latin typeface="Times New Roman"/>
                <a:cs typeface="Times New Roman"/>
              </a:rPr>
              <a:t>object</a:t>
            </a:r>
            <a:endParaRPr sz="1800">
              <a:latin typeface="Times New Roman"/>
              <a:cs typeface="Times New Roman"/>
            </a:endParaRPr>
          </a:p>
        </p:txBody>
      </p:sp>
      <p:sp>
        <p:nvSpPr>
          <p:cNvPr id="9" name="object 9"/>
          <p:cNvSpPr txBox="1"/>
          <p:nvPr/>
        </p:nvSpPr>
        <p:spPr>
          <a:xfrm>
            <a:off x="7814182" y="2727070"/>
            <a:ext cx="1548765" cy="253365"/>
          </a:xfrm>
          <a:prstGeom prst="rect">
            <a:avLst/>
          </a:prstGeom>
          <a:solidFill>
            <a:srgbClr val="FFFF00"/>
          </a:solidFill>
        </p:spPr>
        <p:txBody>
          <a:bodyPr vert="horz" wrap="square" lIns="0" tIns="0" rIns="0" bIns="0" rtlCol="0">
            <a:spAutoFit/>
          </a:bodyPr>
          <a:lstStyle/>
          <a:p>
            <a:pPr marL="635">
              <a:lnSpc>
                <a:spcPts val="1935"/>
              </a:lnSpc>
            </a:pPr>
            <a:r>
              <a:rPr sz="1800" dirty="0">
                <a:latin typeface="Times New Roman"/>
                <a:cs typeface="Times New Roman"/>
              </a:rPr>
              <a:t>without</a:t>
            </a:r>
            <a:r>
              <a:rPr sz="1800" spc="-15" dirty="0">
                <a:latin typeface="Times New Roman"/>
                <a:cs typeface="Times New Roman"/>
              </a:rPr>
              <a:t> </a:t>
            </a:r>
            <a:r>
              <a:rPr sz="1800" spc="-10" dirty="0">
                <a:latin typeface="Times New Roman"/>
                <a:cs typeface="Times New Roman"/>
              </a:rPr>
              <a:t>creating</a:t>
            </a:r>
            <a:endParaRPr sz="1800">
              <a:latin typeface="Times New Roman"/>
              <a:cs typeface="Times New Roman"/>
            </a:endParaRPr>
          </a:p>
        </p:txBody>
      </p:sp>
      <p:sp>
        <p:nvSpPr>
          <p:cNvPr id="10" name="object 10"/>
          <p:cNvSpPr txBox="1"/>
          <p:nvPr/>
        </p:nvSpPr>
        <p:spPr>
          <a:xfrm>
            <a:off x="542645" y="2932633"/>
            <a:ext cx="2272665" cy="300355"/>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a</a:t>
            </a:r>
            <a:r>
              <a:rPr sz="1800" spc="-10" dirty="0">
                <a:latin typeface="Times New Roman"/>
                <a:cs typeface="Times New Roman"/>
              </a:rPr>
              <a:t> </a:t>
            </a:r>
            <a:r>
              <a:rPr sz="1800" dirty="0">
                <a:latin typeface="Times New Roman"/>
                <a:cs typeface="Times New Roman"/>
              </a:rPr>
              <a:t>new one,</a:t>
            </a:r>
            <a:r>
              <a:rPr sz="1800" spc="-15" dirty="0">
                <a:latin typeface="Times New Roman"/>
                <a:cs typeface="Times New Roman"/>
              </a:rPr>
              <a:t> </a:t>
            </a:r>
            <a:r>
              <a:rPr sz="1800" dirty="0">
                <a:latin typeface="Times New Roman"/>
                <a:cs typeface="Times New Roman"/>
              </a:rPr>
              <a:t>which</a:t>
            </a:r>
            <a:r>
              <a:rPr sz="1800" spc="-5" dirty="0">
                <a:latin typeface="Times New Roman"/>
                <a:cs typeface="Times New Roman"/>
              </a:rPr>
              <a:t> </a:t>
            </a:r>
            <a:r>
              <a:rPr sz="1800" dirty="0">
                <a:latin typeface="Times New Roman"/>
                <a:cs typeface="Times New Roman"/>
              </a:rPr>
              <a:t>can</a:t>
            </a:r>
            <a:r>
              <a:rPr sz="1800" spc="-20" dirty="0">
                <a:latin typeface="Times New Roman"/>
                <a:cs typeface="Times New Roman"/>
              </a:rPr>
              <a:t> </a:t>
            </a:r>
            <a:r>
              <a:rPr sz="1800" spc="-25" dirty="0">
                <a:latin typeface="Times New Roman"/>
                <a:cs typeface="Times New Roman"/>
              </a:rPr>
              <a:t>be</a:t>
            </a:r>
            <a:endParaRPr sz="1800" dirty="0">
              <a:latin typeface="Times New Roman"/>
              <a:cs typeface="Times New Roman"/>
            </a:endParaRPr>
          </a:p>
        </p:txBody>
      </p:sp>
      <p:sp>
        <p:nvSpPr>
          <p:cNvPr id="11" name="object 11"/>
          <p:cNvSpPr txBox="1"/>
          <p:nvPr/>
        </p:nvSpPr>
        <p:spPr>
          <a:xfrm>
            <a:off x="2861182" y="2980054"/>
            <a:ext cx="2118995" cy="247015"/>
          </a:xfrm>
          <a:prstGeom prst="rect">
            <a:avLst/>
          </a:prstGeom>
          <a:solidFill>
            <a:srgbClr val="FFFF00"/>
          </a:solidFill>
        </p:spPr>
        <p:txBody>
          <a:bodyPr vert="horz" wrap="square" lIns="0" tIns="0" rIns="0" bIns="0" rtlCol="0">
            <a:spAutoFit/>
          </a:bodyPr>
          <a:lstStyle/>
          <a:p>
            <a:pPr>
              <a:lnSpc>
                <a:spcPts val="1889"/>
              </a:lnSpc>
            </a:pPr>
            <a:r>
              <a:rPr sz="1800" dirty="0">
                <a:latin typeface="Times New Roman"/>
                <a:cs typeface="Times New Roman"/>
              </a:rPr>
              <a:t>more</a:t>
            </a:r>
            <a:r>
              <a:rPr sz="1800" spc="-20" dirty="0">
                <a:latin typeface="Times New Roman"/>
                <a:cs typeface="Times New Roman"/>
              </a:rPr>
              <a:t> </a:t>
            </a:r>
            <a:r>
              <a:rPr sz="1800" dirty="0">
                <a:latin typeface="Times New Roman"/>
                <a:cs typeface="Times New Roman"/>
              </a:rPr>
              <a:t>memory </a:t>
            </a:r>
            <a:r>
              <a:rPr sz="1800" spc="-10" dirty="0">
                <a:latin typeface="Times New Roman"/>
                <a:cs typeface="Times New Roman"/>
              </a:rPr>
              <a:t>efficient</a:t>
            </a:r>
            <a:endParaRPr sz="1800">
              <a:latin typeface="Times New Roman"/>
              <a:cs typeface="Times New Roman"/>
            </a:endParaRPr>
          </a:p>
        </p:txBody>
      </p:sp>
      <p:sp>
        <p:nvSpPr>
          <p:cNvPr id="12" name="object 12"/>
          <p:cNvSpPr txBox="1"/>
          <p:nvPr/>
        </p:nvSpPr>
        <p:spPr>
          <a:xfrm>
            <a:off x="4955285" y="2932633"/>
            <a:ext cx="83185" cy="300355"/>
          </a:xfrm>
          <a:prstGeom prst="rect">
            <a:avLst/>
          </a:prstGeom>
        </p:spPr>
        <p:txBody>
          <a:bodyPr vert="horz" wrap="square" lIns="0" tIns="12700" rIns="0" bIns="0" rtlCol="0">
            <a:spAutoFit/>
          </a:bodyPr>
          <a:lstStyle/>
          <a:p>
            <a:pPr marL="12700">
              <a:lnSpc>
                <a:spcPct val="100000"/>
              </a:lnSpc>
              <a:spcBef>
                <a:spcPts val="100"/>
              </a:spcBef>
            </a:pPr>
            <a:r>
              <a:rPr sz="1800" spc="-50" dirty="0">
                <a:latin typeface="Times New Roman"/>
                <a:cs typeface="Times New Roman"/>
              </a:rPr>
              <a:t>.</a:t>
            </a:r>
            <a:endParaRPr sz="1800">
              <a:latin typeface="Times New Roman"/>
              <a:cs typeface="Times New Roman"/>
            </a:endParaRPr>
          </a:p>
        </p:txBody>
      </p:sp>
      <p:sp>
        <p:nvSpPr>
          <p:cNvPr id="13" name="object 13"/>
          <p:cNvSpPr txBox="1"/>
          <p:nvPr/>
        </p:nvSpPr>
        <p:spPr>
          <a:xfrm>
            <a:off x="268325" y="3681476"/>
            <a:ext cx="1693545" cy="299720"/>
          </a:xfrm>
          <a:prstGeom prst="rect">
            <a:avLst/>
          </a:prstGeom>
        </p:spPr>
        <p:txBody>
          <a:bodyPr vert="horz" wrap="square" lIns="0" tIns="12700" rIns="0" bIns="0" rtlCol="0">
            <a:spAutoFit/>
          </a:bodyPr>
          <a:lstStyle/>
          <a:p>
            <a:pPr marL="194945" indent="-182245">
              <a:lnSpc>
                <a:spcPct val="100000"/>
              </a:lnSpc>
              <a:spcBef>
                <a:spcPts val="100"/>
              </a:spcBef>
              <a:buClr>
                <a:srgbClr val="9E3611"/>
              </a:buClr>
              <a:buSzPct val="83333"/>
              <a:buFont typeface="Wingdings"/>
              <a:buChar char=""/>
              <a:tabLst>
                <a:tab pos="194945" algn="l"/>
              </a:tabLst>
            </a:pPr>
            <a:r>
              <a:rPr sz="1800" b="1" spc="-10" dirty="0">
                <a:latin typeface="Times New Roman"/>
                <a:cs typeface="Times New Roman"/>
              </a:rPr>
              <a:t>Disadvantages:</a:t>
            </a:r>
            <a:endParaRPr sz="1800">
              <a:latin typeface="Times New Roman"/>
              <a:cs typeface="Times New Roman"/>
            </a:endParaRPr>
          </a:p>
        </p:txBody>
      </p:sp>
      <p:sp>
        <p:nvSpPr>
          <p:cNvPr id="14" name="object 14"/>
          <p:cNvSpPr txBox="1"/>
          <p:nvPr/>
        </p:nvSpPr>
        <p:spPr>
          <a:xfrm>
            <a:off x="2858135" y="4121530"/>
            <a:ext cx="5247640" cy="253365"/>
          </a:xfrm>
          <a:prstGeom prst="rect">
            <a:avLst/>
          </a:prstGeom>
          <a:solidFill>
            <a:srgbClr val="FFFF00"/>
          </a:solidFill>
        </p:spPr>
        <p:txBody>
          <a:bodyPr vert="horz" wrap="square" lIns="0" tIns="0" rIns="0" bIns="0" rtlCol="0">
            <a:spAutoFit/>
          </a:bodyPr>
          <a:lstStyle/>
          <a:p>
            <a:pPr>
              <a:lnSpc>
                <a:spcPts val="1939"/>
              </a:lnSpc>
            </a:pPr>
            <a:r>
              <a:rPr sz="1800" dirty="0">
                <a:latin typeface="Times New Roman"/>
                <a:cs typeface="Times New Roman"/>
              </a:rPr>
              <a:t>If</a:t>
            </a:r>
            <a:r>
              <a:rPr sz="1800" spc="-30" dirty="0">
                <a:latin typeface="Times New Roman"/>
                <a:cs typeface="Times New Roman"/>
              </a:rPr>
              <a:t> </a:t>
            </a:r>
            <a:r>
              <a:rPr sz="1800" dirty="0">
                <a:latin typeface="Times New Roman"/>
                <a:cs typeface="Times New Roman"/>
              </a:rPr>
              <a:t>an</a:t>
            </a:r>
            <a:r>
              <a:rPr sz="1800" spc="-30" dirty="0">
                <a:latin typeface="Times New Roman"/>
                <a:cs typeface="Times New Roman"/>
              </a:rPr>
              <a:t> </a:t>
            </a:r>
            <a:r>
              <a:rPr sz="1800" dirty="0">
                <a:latin typeface="Times New Roman"/>
                <a:cs typeface="Times New Roman"/>
              </a:rPr>
              <a:t>object</a:t>
            </a:r>
            <a:r>
              <a:rPr sz="1800" spc="-40" dirty="0">
                <a:latin typeface="Times New Roman"/>
                <a:cs typeface="Times New Roman"/>
              </a:rPr>
              <a:t> </a:t>
            </a:r>
            <a:r>
              <a:rPr sz="1800" dirty="0">
                <a:latin typeface="Times New Roman"/>
                <a:cs typeface="Times New Roman"/>
              </a:rPr>
              <a:t>is</a:t>
            </a:r>
            <a:r>
              <a:rPr sz="1800" spc="-40" dirty="0">
                <a:latin typeface="Times New Roman"/>
                <a:cs typeface="Times New Roman"/>
              </a:rPr>
              <a:t> </a:t>
            </a:r>
            <a:r>
              <a:rPr sz="1800" dirty="0">
                <a:latin typeface="Times New Roman"/>
                <a:cs typeface="Times New Roman"/>
              </a:rPr>
              <a:t>passed</a:t>
            </a:r>
            <a:r>
              <a:rPr sz="1800" spc="-25" dirty="0">
                <a:latin typeface="Times New Roman"/>
                <a:cs typeface="Times New Roman"/>
              </a:rPr>
              <a:t> </a:t>
            </a:r>
            <a:r>
              <a:rPr sz="1800" dirty="0">
                <a:latin typeface="Times New Roman"/>
                <a:cs typeface="Times New Roman"/>
              </a:rPr>
              <a:t>around</a:t>
            </a:r>
            <a:r>
              <a:rPr sz="1800" spc="-35" dirty="0">
                <a:latin typeface="Times New Roman"/>
                <a:cs typeface="Times New Roman"/>
              </a:rPr>
              <a:t> </a:t>
            </a:r>
            <a:r>
              <a:rPr sz="1800" dirty="0">
                <a:latin typeface="Times New Roman"/>
                <a:cs typeface="Times New Roman"/>
              </a:rPr>
              <a:t>different</a:t>
            </a:r>
            <a:r>
              <a:rPr sz="1800" spc="-45" dirty="0">
                <a:latin typeface="Times New Roman"/>
                <a:cs typeface="Times New Roman"/>
              </a:rPr>
              <a:t> </a:t>
            </a:r>
            <a:r>
              <a:rPr sz="1800" dirty="0">
                <a:latin typeface="Times New Roman"/>
                <a:cs typeface="Times New Roman"/>
              </a:rPr>
              <a:t>parts</a:t>
            </a:r>
            <a:r>
              <a:rPr sz="1800" spc="-35" dirty="0">
                <a:latin typeface="Times New Roman"/>
                <a:cs typeface="Times New Roman"/>
              </a:rPr>
              <a:t> </a:t>
            </a:r>
            <a:r>
              <a:rPr sz="1800" dirty="0">
                <a:latin typeface="Times New Roman"/>
                <a:cs typeface="Times New Roman"/>
              </a:rPr>
              <a:t>of</a:t>
            </a:r>
            <a:r>
              <a:rPr sz="1800" spc="-25" dirty="0">
                <a:latin typeface="Times New Roman"/>
                <a:cs typeface="Times New Roman"/>
              </a:rPr>
              <a:t> </a:t>
            </a:r>
            <a:r>
              <a:rPr sz="1800" dirty="0">
                <a:latin typeface="Times New Roman"/>
                <a:cs typeface="Times New Roman"/>
              </a:rPr>
              <a:t>a</a:t>
            </a:r>
            <a:r>
              <a:rPr sz="1800" spc="-30" dirty="0">
                <a:latin typeface="Times New Roman"/>
                <a:cs typeface="Times New Roman"/>
              </a:rPr>
              <a:t> </a:t>
            </a:r>
            <a:r>
              <a:rPr sz="1800" spc="-10" dirty="0">
                <a:latin typeface="Times New Roman"/>
                <a:cs typeface="Times New Roman"/>
              </a:rPr>
              <a:t>program</a:t>
            </a:r>
            <a:endParaRPr sz="1800">
              <a:latin typeface="Times New Roman"/>
              <a:cs typeface="Times New Roman"/>
            </a:endParaRPr>
          </a:p>
        </p:txBody>
      </p:sp>
      <p:sp>
        <p:nvSpPr>
          <p:cNvPr id="15" name="object 15"/>
          <p:cNvSpPr txBox="1"/>
          <p:nvPr/>
        </p:nvSpPr>
        <p:spPr>
          <a:xfrm>
            <a:off x="268325" y="4080764"/>
            <a:ext cx="8390890" cy="299720"/>
          </a:xfrm>
          <a:prstGeom prst="rect">
            <a:avLst/>
          </a:prstGeom>
        </p:spPr>
        <p:txBody>
          <a:bodyPr vert="horz" wrap="square" lIns="0" tIns="12700" rIns="0" bIns="0" rtlCol="0">
            <a:spAutoFit/>
          </a:bodyPr>
          <a:lstStyle/>
          <a:p>
            <a:pPr marL="194945" indent="-182245">
              <a:lnSpc>
                <a:spcPct val="100000"/>
              </a:lnSpc>
              <a:spcBef>
                <a:spcPts val="100"/>
              </a:spcBef>
              <a:buClr>
                <a:srgbClr val="9E3611"/>
              </a:buClr>
              <a:buSzPct val="83333"/>
              <a:buFont typeface="Wingdings"/>
              <a:buChar char=""/>
              <a:tabLst>
                <a:tab pos="194945" algn="l"/>
                <a:tab pos="7837805" algn="l"/>
              </a:tabLst>
            </a:pPr>
            <a:r>
              <a:rPr sz="1800" b="1" dirty="0">
                <a:latin typeface="Times New Roman"/>
                <a:cs typeface="Times New Roman"/>
              </a:rPr>
              <a:t>Unintended</a:t>
            </a:r>
            <a:r>
              <a:rPr sz="1800" b="1" spc="-20" dirty="0">
                <a:latin typeface="Times New Roman"/>
                <a:cs typeface="Times New Roman"/>
              </a:rPr>
              <a:t> </a:t>
            </a:r>
            <a:r>
              <a:rPr sz="1800" b="1" dirty="0">
                <a:latin typeface="Times New Roman"/>
                <a:cs typeface="Times New Roman"/>
              </a:rPr>
              <a:t>side</a:t>
            </a:r>
            <a:r>
              <a:rPr sz="1800" b="1" spc="-15" dirty="0">
                <a:latin typeface="Times New Roman"/>
                <a:cs typeface="Times New Roman"/>
              </a:rPr>
              <a:t> </a:t>
            </a:r>
            <a:r>
              <a:rPr sz="1800" b="1" spc="-10" dirty="0">
                <a:latin typeface="Times New Roman"/>
                <a:cs typeface="Times New Roman"/>
              </a:rPr>
              <a:t>effects:</a:t>
            </a:r>
            <a:r>
              <a:rPr sz="1800" b="1" dirty="0">
                <a:latin typeface="Times New Roman"/>
                <a:cs typeface="Times New Roman"/>
              </a:rPr>
              <a:t>	</a:t>
            </a:r>
            <a:r>
              <a:rPr sz="1800" dirty="0">
                <a:latin typeface="Times New Roman"/>
                <a:cs typeface="Times New Roman"/>
              </a:rPr>
              <a:t>and</a:t>
            </a:r>
            <a:r>
              <a:rPr sz="1800" spc="-30" dirty="0">
                <a:latin typeface="Times New Roman"/>
                <a:cs typeface="Times New Roman"/>
              </a:rPr>
              <a:t> </a:t>
            </a:r>
            <a:r>
              <a:rPr sz="1800" spc="-25" dirty="0">
                <a:latin typeface="Times New Roman"/>
                <a:cs typeface="Times New Roman"/>
              </a:rPr>
              <a:t>is</a:t>
            </a:r>
            <a:endParaRPr sz="1800">
              <a:latin typeface="Times New Roman"/>
              <a:cs typeface="Times New Roman"/>
            </a:endParaRPr>
          </a:p>
        </p:txBody>
      </p:sp>
      <p:sp>
        <p:nvSpPr>
          <p:cNvPr id="16" name="object 16"/>
          <p:cNvSpPr txBox="1"/>
          <p:nvPr/>
        </p:nvSpPr>
        <p:spPr>
          <a:xfrm>
            <a:off x="451205" y="4327652"/>
            <a:ext cx="8686800" cy="547370"/>
          </a:xfrm>
          <a:prstGeom prst="rect">
            <a:avLst/>
          </a:prstGeom>
        </p:spPr>
        <p:txBody>
          <a:bodyPr vert="horz" wrap="square" lIns="0" tIns="43180" rIns="0" bIns="0" rtlCol="0">
            <a:spAutoFit/>
          </a:bodyPr>
          <a:lstStyle/>
          <a:p>
            <a:pPr marL="12700" marR="5080">
              <a:lnSpc>
                <a:spcPts val="1950"/>
              </a:lnSpc>
              <a:spcBef>
                <a:spcPts val="340"/>
              </a:spcBef>
            </a:pPr>
            <a:r>
              <a:rPr sz="1800" dirty="0">
                <a:latin typeface="Times New Roman"/>
                <a:cs typeface="Times New Roman"/>
              </a:rPr>
              <a:t>modified</a:t>
            </a:r>
            <a:r>
              <a:rPr sz="1800" spc="-30" dirty="0">
                <a:latin typeface="Times New Roman"/>
                <a:cs typeface="Times New Roman"/>
              </a:rPr>
              <a:t> </a:t>
            </a:r>
            <a:r>
              <a:rPr sz="1800" dirty="0">
                <a:latin typeface="Times New Roman"/>
                <a:cs typeface="Times New Roman"/>
              </a:rPr>
              <a:t>in</a:t>
            </a:r>
            <a:r>
              <a:rPr sz="1800" spc="-30" dirty="0">
                <a:latin typeface="Times New Roman"/>
                <a:cs typeface="Times New Roman"/>
              </a:rPr>
              <a:t> </a:t>
            </a:r>
            <a:r>
              <a:rPr sz="1800" dirty="0">
                <a:latin typeface="Times New Roman"/>
                <a:cs typeface="Times New Roman"/>
              </a:rPr>
              <a:t>one</a:t>
            </a:r>
            <a:r>
              <a:rPr sz="1800" spc="-25" dirty="0">
                <a:latin typeface="Times New Roman"/>
                <a:cs typeface="Times New Roman"/>
              </a:rPr>
              <a:t> </a:t>
            </a:r>
            <a:r>
              <a:rPr sz="1800" dirty="0">
                <a:latin typeface="Times New Roman"/>
                <a:cs typeface="Times New Roman"/>
              </a:rPr>
              <a:t>place,</a:t>
            </a:r>
            <a:r>
              <a:rPr sz="1800" spc="-40" dirty="0">
                <a:latin typeface="Times New Roman"/>
                <a:cs typeface="Times New Roman"/>
              </a:rPr>
              <a:t> </a:t>
            </a:r>
            <a:r>
              <a:rPr sz="1800" dirty="0">
                <a:latin typeface="Times New Roman"/>
                <a:cs typeface="Times New Roman"/>
              </a:rPr>
              <a:t>it</a:t>
            </a:r>
            <a:r>
              <a:rPr sz="1800" spc="-30" dirty="0">
                <a:latin typeface="Times New Roman"/>
                <a:cs typeface="Times New Roman"/>
              </a:rPr>
              <a:t> </a:t>
            </a:r>
            <a:r>
              <a:rPr sz="1800" dirty="0">
                <a:latin typeface="Times New Roman"/>
                <a:cs typeface="Times New Roman"/>
              </a:rPr>
              <a:t>can</a:t>
            </a:r>
            <a:r>
              <a:rPr sz="1800" spc="-35" dirty="0">
                <a:latin typeface="Times New Roman"/>
                <a:cs typeface="Times New Roman"/>
              </a:rPr>
              <a:t> </a:t>
            </a:r>
            <a:r>
              <a:rPr sz="1800" dirty="0">
                <a:latin typeface="Times New Roman"/>
                <a:cs typeface="Times New Roman"/>
              </a:rPr>
              <a:t>lead</a:t>
            </a:r>
            <a:r>
              <a:rPr sz="1800" spc="-45" dirty="0">
                <a:latin typeface="Times New Roman"/>
                <a:cs typeface="Times New Roman"/>
              </a:rPr>
              <a:t> </a:t>
            </a:r>
            <a:r>
              <a:rPr sz="1800" dirty="0">
                <a:latin typeface="Times New Roman"/>
                <a:cs typeface="Times New Roman"/>
              </a:rPr>
              <a:t>to</a:t>
            </a:r>
            <a:r>
              <a:rPr sz="1800" spc="-20" dirty="0">
                <a:latin typeface="Times New Roman"/>
                <a:cs typeface="Times New Roman"/>
              </a:rPr>
              <a:t> </a:t>
            </a:r>
            <a:r>
              <a:rPr sz="1800" dirty="0">
                <a:latin typeface="Times New Roman"/>
                <a:cs typeface="Times New Roman"/>
              </a:rPr>
              <a:t>unexpected</a:t>
            </a:r>
            <a:r>
              <a:rPr sz="1800" spc="-60" dirty="0">
                <a:latin typeface="Times New Roman"/>
                <a:cs typeface="Times New Roman"/>
              </a:rPr>
              <a:t> </a:t>
            </a:r>
            <a:r>
              <a:rPr sz="1800" dirty="0">
                <a:latin typeface="Times New Roman"/>
                <a:cs typeface="Times New Roman"/>
              </a:rPr>
              <a:t>behavior</a:t>
            </a:r>
            <a:r>
              <a:rPr sz="1800" spc="-25" dirty="0">
                <a:latin typeface="Times New Roman"/>
                <a:cs typeface="Times New Roman"/>
              </a:rPr>
              <a:t> </a:t>
            </a:r>
            <a:r>
              <a:rPr sz="1800" dirty="0">
                <a:latin typeface="Times New Roman"/>
                <a:cs typeface="Times New Roman"/>
              </a:rPr>
              <a:t>in</a:t>
            </a:r>
            <a:r>
              <a:rPr sz="1800" spc="-30" dirty="0">
                <a:latin typeface="Times New Roman"/>
                <a:cs typeface="Times New Roman"/>
              </a:rPr>
              <a:t> </a:t>
            </a:r>
            <a:r>
              <a:rPr sz="1800" dirty="0">
                <a:latin typeface="Times New Roman"/>
                <a:cs typeface="Times New Roman"/>
              </a:rPr>
              <a:t>other</a:t>
            </a:r>
            <a:r>
              <a:rPr sz="1800" spc="-30" dirty="0">
                <a:latin typeface="Times New Roman"/>
                <a:cs typeface="Times New Roman"/>
              </a:rPr>
              <a:t> </a:t>
            </a:r>
            <a:r>
              <a:rPr sz="1800" dirty="0">
                <a:latin typeface="Times New Roman"/>
                <a:cs typeface="Times New Roman"/>
              </a:rPr>
              <a:t>parts</a:t>
            </a:r>
            <a:r>
              <a:rPr sz="1800" spc="-40" dirty="0">
                <a:latin typeface="Times New Roman"/>
                <a:cs typeface="Times New Roman"/>
              </a:rPr>
              <a:t> </a:t>
            </a:r>
            <a:r>
              <a:rPr sz="1800" dirty="0">
                <a:latin typeface="Times New Roman"/>
                <a:cs typeface="Times New Roman"/>
              </a:rPr>
              <a:t>that</a:t>
            </a:r>
            <a:r>
              <a:rPr sz="1800" spc="-30" dirty="0">
                <a:latin typeface="Times New Roman"/>
                <a:cs typeface="Times New Roman"/>
              </a:rPr>
              <a:t> </a:t>
            </a:r>
            <a:r>
              <a:rPr sz="1800" dirty="0">
                <a:latin typeface="Times New Roman"/>
                <a:cs typeface="Times New Roman"/>
              </a:rPr>
              <a:t>reference</a:t>
            </a:r>
            <a:r>
              <a:rPr sz="1800" spc="-50" dirty="0">
                <a:latin typeface="Times New Roman"/>
                <a:cs typeface="Times New Roman"/>
              </a:rPr>
              <a:t> </a:t>
            </a:r>
            <a:r>
              <a:rPr sz="1800" dirty="0">
                <a:latin typeface="Times New Roman"/>
                <a:cs typeface="Times New Roman"/>
              </a:rPr>
              <a:t>the</a:t>
            </a:r>
            <a:r>
              <a:rPr sz="1800" spc="-30" dirty="0">
                <a:latin typeface="Times New Roman"/>
                <a:cs typeface="Times New Roman"/>
              </a:rPr>
              <a:t> </a:t>
            </a:r>
            <a:r>
              <a:rPr sz="1800" spc="-20" dirty="0">
                <a:latin typeface="Times New Roman"/>
                <a:cs typeface="Times New Roman"/>
              </a:rPr>
              <a:t>same </a:t>
            </a:r>
            <a:r>
              <a:rPr sz="1800" spc="-10" dirty="0">
                <a:latin typeface="Times New Roman"/>
                <a:cs typeface="Times New Roman"/>
              </a:rPr>
              <a:t>object.</a:t>
            </a:r>
            <a:endParaRPr sz="1800">
              <a:latin typeface="Times New Roman"/>
              <a:cs typeface="Times New Roman"/>
            </a:endParaRPr>
          </a:p>
        </p:txBody>
      </p:sp>
      <p:sp>
        <p:nvSpPr>
          <p:cNvPr id="17" name="object 17"/>
          <p:cNvSpPr txBox="1"/>
          <p:nvPr/>
        </p:nvSpPr>
        <p:spPr>
          <a:xfrm>
            <a:off x="2492375" y="5014595"/>
            <a:ext cx="5118100" cy="253365"/>
          </a:xfrm>
          <a:prstGeom prst="rect">
            <a:avLst/>
          </a:prstGeom>
          <a:solidFill>
            <a:srgbClr val="FFFF00"/>
          </a:solidFill>
        </p:spPr>
        <p:txBody>
          <a:bodyPr vert="horz" wrap="square" lIns="0" tIns="0" rIns="0" bIns="0" rtlCol="0">
            <a:spAutoFit/>
          </a:bodyPr>
          <a:lstStyle/>
          <a:p>
            <a:pPr>
              <a:lnSpc>
                <a:spcPts val="1939"/>
              </a:lnSpc>
            </a:pPr>
            <a:r>
              <a:rPr sz="1800" dirty="0">
                <a:latin typeface="Times New Roman"/>
                <a:cs typeface="Times New Roman"/>
              </a:rPr>
              <a:t>Mutable</a:t>
            </a:r>
            <a:r>
              <a:rPr sz="1800" spc="-45" dirty="0">
                <a:latin typeface="Times New Roman"/>
                <a:cs typeface="Times New Roman"/>
              </a:rPr>
              <a:t> </a:t>
            </a:r>
            <a:r>
              <a:rPr sz="1800" dirty="0">
                <a:latin typeface="Times New Roman"/>
                <a:cs typeface="Times New Roman"/>
              </a:rPr>
              <a:t>objects</a:t>
            </a:r>
            <a:r>
              <a:rPr sz="1800" spc="-40" dirty="0">
                <a:latin typeface="Times New Roman"/>
                <a:cs typeface="Times New Roman"/>
              </a:rPr>
              <a:t> </a:t>
            </a:r>
            <a:r>
              <a:rPr sz="1800" dirty="0">
                <a:latin typeface="Times New Roman"/>
                <a:cs typeface="Times New Roman"/>
              </a:rPr>
              <a:t>can</a:t>
            </a:r>
            <a:r>
              <a:rPr sz="1800" spc="-45" dirty="0">
                <a:latin typeface="Times New Roman"/>
                <a:cs typeface="Times New Roman"/>
              </a:rPr>
              <a:t> </a:t>
            </a:r>
            <a:r>
              <a:rPr sz="1800" dirty="0">
                <a:latin typeface="Times New Roman"/>
                <a:cs typeface="Times New Roman"/>
              </a:rPr>
              <a:t>lead</a:t>
            </a:r>
            <a:r>
              <a:rPr sz="1800" spc="-25" dirty="0">
                <a:latin typeface="Times New Roman"/>
                <a:cs typeface="Times New Roman"/>
              </a:rPr>
              <a:t> </a:t>
            </a:r>
            <a:r>
              <a:rPr sz="1800" dirty="0">
                <a:latin typeface="Times New Roman"/>
                <a:cs typeface="Times New Roman"/>
              </a:rPr>
              <a:t>to</a:t>
            </a:r>
            <a:r>
              <a:rPr sz="1800" spc="-30" dirty="0">
                <a:latin typeface="Times New Roman"/>
                <a:cs typeface="Times New Roman"/>
              </a:rPr>
              <a:t> </a:t>
            </a:r>
            <a:r>
              <a:rPr sz="1800" dirty="0">
                <a:latin typeface="Times New Roman"/>
                <a:cs typeface="Times New Roman"/>
              </a:rPr>
              <a:t>problems</a:t>
            </a:r>
            <a:r>
              <a:rPr sz="1800" spc="-30" dirty="0">
                <a:latin typeface="Times New Roman"/>
                <a:cs typeface="Times New Roman"/>
              </a:rPr>
              <a:t> </a:t>
            </a:r>
            <a:r>
              <a:rPr sz="1800" dirty="0">
                <a:latin typeface="Times New Roman"/>
                <a:cs typeface="Times New Roman"/>
              </a:rPr>
              <a:t>in</a:t>
            </a:r>
            <a:r>
              <a:rPr sz="1800" spc="-25" dirty="0">
                <a:latin typeface="Times New Roman"/>
                <a:cs typeface="Times New Roman"/>
              </a:rPr>
              <a:t> </a:t>
            </a:r>
            <a:r>
              <a:rPr sz="1800" dirty="0">
                <a:latin typeface="Times New Roman"/>
                <a:cs typeface="Times New Roman"/>
              </a:rPr>
              <a:t>multi-</a:t>
            </a:r>
            <a:r>
              <a:rPr sz="1800" spc="-10" dirty="0">
                <a:latin typeface="Times New Roman"/>
                <a:cs typeface="Times New Roman"/>
              </a:rPr>
              <a:t>threaded</a:t>
            </a:r>
            <a:endParaRPr sz="1800">
              <a:latin typeface="Times New Roman"/>
              <a:cs typeface="Times New Roman"/>
            </a:endParaRPr>
          </a:p>
        </p:txBody>
      </p:sp>
      <p:sp>
        <p:nvSpPr>
          <p:cNvPr id="18" name="object 18"/>
          <p:cNvSpPr txBox="1"/>
          <p:nvPr/>
        </p:nvSpPr>
        <p:spPr>
          <a:xfrm>
            <a:off x="268325" y="4974082"/>
            <a:ext cx="8601075" cy="299720"/>
          </a:xfrm>
          <a:prstGeom prst="rect">
            <a:avLst/>
          </a:prstGeom>
        </p:spPr>
        <p:txBody>
          <a:bodyPr vert="horz" wrap="square" lIns="0" tIns="12700" rIns="0" bIns="0" rtlCol="0">
            <a:spAutoFit/>
          </a:bodyPr>
          <a:lstStyle/>
          <a:p>
            <a:pPr marL="194945" indent="-182245">
              <a:lnSpc>
                <a:spcPct val="100000"/>
              </a:lnSpc>
              <a:spcBef>
                <a:spcPts val="100"/>
              </a:spcBef>
              <a:buClr>
                <a:srgbClr val="9E3611"/>
              </a:buClr>
              <a:buSzPct val="83333"/>
              <a:buFont typeface="Wingdings"/>
              <a:buChar char=""/>
              <a:tabLst>
                <a:tab pos="194945" algn="l"/>
                <a:tab pos="7342505" algn="l"/>
              </a:tabLst>
            </a:pPr>
            <a:r>
              <a:rPr sz="1800" b="1" spc="-10" dirty="0">
                <a:latin typeface="Times New Roman"/>
                <a:cs typeface="Times New Roman"/>
              </a:rPr>
              <a:t>Concurrency</a:t>
            </a:r>
            <a:r>
              <a:rPr sz="1800" b="1" spc="-5" dirty="0">
                <a:latin typeface="Times New Roman"/>
                <a:cs typeface="Times New Roman"/>
              </a:rPr>
              <a:t> </a:t>
            </a:r>
            <a:r>
              <a:rPr sz="1800" b="1" spc="-10" dirty="0">
                <a:latin typeface="Times New Roman"/>
                <a:cs typeface="Times New Roman"/>
              </a:rPr>
              <a:t>issues:</a:t>
            </a:r>
            <a:r>
              <a:rPr sz="1800" b="1" dirty="0">
                <a:latin typeface="Times New Roman"/>
                <a:cs typeface="Times New Roman"/>
              </a:rPr>
              <a:t>	</a:t>
            </a:r>
            <a:r>
              <a:rPr sz="1800" spc="-10" dirty="0">
                <a:latin typeface="Times New Roman"/>
                <a:cs typeface="Times New Roman"/>
              </a:rPr>
              <a:t>environments</a:t>
            </a:r>
            <a:endParaRPr sz="1800">
              <a:latin typeface="Times New Roman"/>
              <a:cs typeface="Times New Roman"/>
            </a:endParaRPr>
          </a:p>
        </p:txBody>
      </p:sp>
      <p:sp>
        <p:nvSpPr>
          <p:cNvPr id="19" name="object 19"/>
          <p:cNvSpPr txBox="1"/>
          <p:nvPr/>
        </p:nvSpPr>
        <p:spPr>
          <a:xfrm>
            <a:off x="1079652" y="5267578"/>
            <a:ext cx="6256655" cy="247015"/>
          </a:xfrm>
          <a:prstGeom prst="rect">
            <a:avLst/>
          </a:prstGeom>
          <a:solidFill>
            <a:srgbClr val="FFFF00"/>
          </a:solidFill>
        </p:spPr>
        <p:txBody>
          <a:bodyPr vert="horz" wrap="square" lIns="0" tIns="0" rIns="0" bIns="0" rtlCol="0">
            <a:spAutoFit/>
          </a:bodyPr>
          <a:lstStyle/>
          <a:p>
            <a:pPr>
              <a:lnSpc>
                <a:spcPts val="1895"/>
              </a:lnSpc>
            </a:pPr>
            <a:r>
              <a:rPr sz="1800" dirty="0">
                <a:latin typeface="Times New Roman"/>
                <a:cs typeface="Times New Roman"/>
              </a:rPr>
              <a:t>multiple</a:t>
            </a:r>
            <a:r>
              <a:rPr sz="1800" spc="-30" dirty="0">
                <a:latin typeface="Times New Roman"/>
                <a:cs typeface="Times New Roman"/>
              </a:rPr>
              <a:t> </a:t>
            </a:r>
            <a:r>
              <a:rPr sz="1800" dirty="0">
                <a:latin typeface="Times New Roman"/>
                <a:cs typeface="Times New Roman"/>
              </a:rPr>
              <a:t>threads</a:t>
            </a:r>
            <a:r>
              <a:rPr sz="1800" spc="-35" dirty="0">
                <a:latin typeface="Times New Roman"/>
                <a:cs typeface="Times New Roman"/>
              </a:rPr>
              <a:t> </a:t>
            </a:r>
            <a:r>
              <a:rPr sz="1800" dirty="0">
                <a:latin typeface="Times New Roman"/>
                <a:cs typeface="Times New Roman"/>
              </a:rPr>
              <a:t>might</a:t>
            </a:r>
            <a:r>
              <a:rPr sz="1800" spc="-30" dirty="0">
                <a:latin typeface="Times New Roman"/>
                <a:cs typeface="Times New Roman"/>
              </a:rPr>
              <a:t> </a:t>
            </a:r>
            <a:r>
              <a:rPr sz="1800" dirty="0">
                <a:latin typeface="Times New Roman"/>
                <a:cs typeface="Times New Roman"/>
              </a:rPr>
              <a:t>try</a:t>
            </a:r>
            <a:r>
              <a:rPr sz="1800" spc="-30" dirty="0">
                <a:latin typeface="Times New Roman"/>
                <a:cs typeface="Times New Roman"/>
              </a:rPr>
              <a:t> </a:t>
            </a:r>
            <a:r>
              <a:rPr sz="1800" dirty="0">
                <a:latin typeface="Times New Roman"/>
                <a:cs typeface="Times New Roman"/>
              </a:rPr>
              <a:t>to</a:t>
            </a:r>
            <a:r>
              <a:rPr sz="1800" spc="-30" dirty="0">
                <a:latin typeface="Times New Roman"/>
                <a:cs typeface="Times New Roman"/>
              </a:rPr>
              <a:t> </a:t>
            </a:r>
            <a:r>
              <a:rPr sz="1800" dirty="0">
                <a:latin typeface="Times New Roman"/>
                <a:cs typeface="Times New Roman"/>
              </a:rPr>
              <a:t>modify</a:t>
            </a:r>
            <a:r>
              <a:rPr sz="1800" spc="-20" dirty="0">
                <a:latin typeface="Times New Roman"/>
                <a:cs typeface="Times New Roman"/>
              </a:rPr>
              <a:t> </a:t>
            </a:r>
            <a:r>
              <a:rPr sz="1800" dirty="0">
                <a:latin typeface="Times New Roman"/>
                <a:cs typeface="Times New Roman"/>
              </a:rPr>
              <a:t>the</a:t>
            </a:r>
            <a:r>
              <a:rPr sz="1800" spc="-30" dirty="0">
                <a:latin typeface="Times New Roman"/>
                <a:cs typeface="Times New Roman"/>
              </a:rPr>
              <a:t> </a:t>
            </a:r>
            <a:r>
              <a:rPr sz="1800" dirty="0">
                <a:latin typeface="Times New Roman"/>
                <a:cs typeface="Times New Roman"/>
              </a:rPr>
              <a:t>same</a:t>
            </a:r>
            <a:r>
              <a:rPr sz="1800" spc="-20" dirty="0">
                <a:latin typeface="Times New Roman"/>
                <a:cs typeface="Times New Roman"/>
              </a:rPr>
              <a:t> </a:t>
            </a:r>
            <a:r>
              <a:rPr sz="1800" dirty="0">
                <a:latin typeface="Times New Roman"/>
                <a:cs typeface="Times New Roman"/>
              </a:rPr>
              <a:t>object</a:t>
            </a:r>
            <a:r>
              <a:rPr sz="1800" spc="-45" dirty="0">
                <a:latin typeface="Times New Roman"/>
                <a:cs typeface="Times New Roman"/>
              </a:rPr>
              <a:t> </a:t>
            </a:r>
            <a:r>
              <a:rPr sz="1800" spc="-10" dirty="0">
                <a:latin typeface="Times New Roman"/>
                <a:cs typeface="Times New Roman"/>
              </a:rPr>
              <a:t>simultaneously</a:t>
            </a:r>
            <a:endParaRPr sz="1800">
              <a:latin typeface="Times New Roman"/>
              <a:cs typeface="Times New Roman"/>
            </a:endParaRPr>
          </a:p>
        </p:txBody>
      </p:sp>
      <p:sp>
        <p:nvSpPr>
          <p:cNvPr id="20" name="object 20"/>
          <p:cNvSpPr txBox="1"/>
          <p:nvPr/>
        </p:nvSpPr>
        <p:spPr>
          <a:xfrm>
            <a:off x="451205" y="5220970"/>
            <a:ext cx="6943090" cy="299720"/>
          </a:xfrm>
          <a:prstGeom prst="rect">
            <a:avLst/>
          </a:prstGeom>
        </p:spPr>
        <p:txBody>
          <a:bodyPr vert="horz" wrap="square" lIns="0" tIns="12700" rIns="0" bIns="0" rtlCol="0">
            <a:spAutoFit/>
          </a:bodyPr>
          <a:lstStyle/>
          <a:p>
            <a:pPr marL="12700">
              <a:lnSpc>
                <a:spcPct val="100000"/>
              </a:lnSpc>
              <a:spcBef>
                <a:spcPts val="100"/>
              </a:spcBef>
              <a:tabLst>
                <a:tab pos="6872605" algn="l"/>
              </a:tabLst>
            </a:pPr>
            <a:r>
              <a:rPr sz="1800" spc="-10" dirty="0">
                <a:latin typeface="Times New Roman"/>
                <a:cs typeface="Times New Roman"/>
              </a:rPr>
              <a:t>where</a:t>
            </a:r>
            <a:r>
              <a:rPr sz="1800" dirty="0">
                <a:latin typeface="Times New Roman"/>
                <a:cs typeface="Times New Roman"/>
              </a:rPr>
              <a:t>	</a:t>
            </a:r>
            <a:r>
              <a:rPr sz="1800" spc="-50" dirty="0">
                <a:latin typeface="Times New Roman"/>
                <a:cs typeface="Times New Roman"/>
              </a:rPr>
              <a:t>.</a:t>
            </a:r>
            <a:endParaRPr sz="1800">
              <a:latin typeface="Times New Roman"/>
              <a:cs typeface="Times New Roman"/>
            </a:endParaRPr>
          </a:p>
        </p:txBody>
      </p:sp>
      <p:pic>
        <p:nvPicPr>
          <p:cNvPr id="21" name="object 21"/>
          <p:cNvPicPr/>
          <p:nvPr/>
        </p:nvPicPr>
        <p:blipFill>
          <a:blip r:embed="rId4" cstate="print"/>
          <a:stretch>
            <a:fillRect/>
          </a:stretch>
        </p:blipFill>
        <p:spPr>
          <a:xfrm>
            <a:off x="9637776" y="3038789"/>
            <a:ext cx="2273807" cy="3057211"/>
          </a:xfrm>
          <a:prstGeom prst="rect">
            <a:avLst/>
          </a:prstGeom>
        </p:spPr>
      </p:pic>
      <p:sp>
        <p:nvSpPr>
          <p:cNvPr id="22" name="AutoShape 2" descr="C Sharp (programming language) - Wikipedi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73672" y="329691"/>
            <a:ext cx="3057613" cy="465073"/>
          </a:xfrm>
          <a:prstGeom prst="rect">
            <a:avLst/>
          </a:prstGeom>
        </p:spPr>
      </p:pic>
      <p:sp>
        <p:nvSpPr>
          <p:cNvPr id="3" name="object 3"/>
          <p:cNvSpPr/>
          <p:nvPr/>
        </p:nvSpPr>
        <p:spPr>
          <a:xfrm>
            <a:off x="2408428" y="3465575"/>
            <a:ext cx="4211320" cy="253365"/>
          </a:xfrm>
          <a:custGeom>
            <a:avLst/>
            <a:gdLst/>
            <a:ahLst/>
            <a:cxnLst/>
            <a:rect l="l" t="t" r="r" b="b"/>
            <a:pathLst>
              <a:path w="4211320" h="253364">
                <a:moveTo>
                  <a:pt x="4210812" y="0"/>
                </a:moveTo>
                <a:lnTo>
                  <a:pt x="3842004" y="0"/>
                </a:lnTo>
                <a:lnTo>
                  <a:pt x="3765804" y="0"/>
                </a:lnTo>
                <a:lnTo>
                  <a:pt x="118872" y="0"/>
                </a:lnTo>
                <a:lnTo>
                  <a:pt x="0" y="0"/>
                </a:lnTo>
                <a:lnTo>
                  <a:pt x="0" y="252984"/>
                </a:lnTo>
                <a:lnTo>
                  <a:pt x="118872" y="252984"/>
                </a:lnTo>
                <a:lnTo>
                  <a:pt x="3765804" y="252984"/>
                </a:lnTo>
                <a:lnTo>
                  <a:pt x="3842004" y="252984"/>
                </a:lnTo>
                <a:lnTo>
                  <a:pt x="4210812" y="252984"/>
                </a:lnTo>
                <a:lnTo>
                  <a:pt x="4210812" y="0"/>
                </a:lnTo>
                <a:close/>
              </a:path>
            </a:pathLst>
          </a:custGeom>
          <a:solidFill>
            <a:srgbClr val="FFFF00"/>
          </a:solidFill>
        </p:spPr>
        <p:txBody>
          <a:bodyPr wrap="square" lIns="0" tIns="0" rIns="0" bIns="0" rtlCol="0"/>
          <a:lstStyle/>
          <a:p>
            <a:endParaRPr/>
          </a:p>
        </p:txBody>
      </p:sp>
      <p:sp>
        <p:nvSpPr>
          <p:cNvPr id="4" name="object 4"/>
          <p:cNvSpPr txBox="1"/>
          <p:nvPr/>
        </p:nvSpPr>
        <p:spPr>
          <a:xfrm>
            <a:off x="658469" y="1276393"/>
            <a:ext cx="8371205" cy="1579880"/>
          </a:xfrm>
          <a:prstGeom prst="rect">
            <a:avLst/>
          </a:prstGeom>
        </p:spPr>
        <p:txBody>
          <a:bodyPr vert="horz" wrap="square" lIns="0" tIns="133985" rIns="0" bIns="0" rtlCol="0">
            <a:spAutoFit/>
          </a:bodyPr>
          <a:lstStyle/>
          <a:p>
            <a:pPr marL="194945" indent="-182245">
              <a:lnSpc>
                <a:spcPct val="100000"/>
              </a:lnSpc>
              <a:spcBef>
                <a:spcPts val="1055"/>
              </a:spcBef>
              <a:buClr>
                <a:srgbClr val="9E3611"/>
              </a:buClr>
              <a:buSzPct val="85000"/>
              <a:buFont typeface="Wingdings"/>
              <a:buChar char=""/>
              <a:tabLst>
                <a:tab pos="194945" algn="l"/>
              </a:tabLst>
            </a:pPr>
            <a:r>
              <a:rPr sz="2000" b="1" spc="-10" dirty="0">
                <a:latin typeface="Times New Roman"/>
                <a:cs typeface="Times New Roman"/>
              </a:rPr>
              <a:t>Immutability</a:t>
            </a:r>
            <a:endParaRPr sz="2000">
              <a:latin typeface="Times New Roman"/>
              <a:cs typeface="Times New Roman"/>
            </a:endParaRPr>
          </a:p>
          <a:p>
            <a:pPr marL="194945" indent="-182245">
              <a:lnSpc>
                <a:spcPts val="2280"/>
              </a:lnSpc>
              <a:spcBef>
                <a:spcPts val="960"/>
              </a:spcBef>
              <a:buClr>
                <a:srgbClr val="9E3611"/>
              </a:buClr>
              <a:buSzPct val="85000"/>
              <a:buFont typeface="Wingdings"/>
              <a:buChar char=""/>
              <a:tabLst>
                <a:tab pos="194945" algn="l"/>
              </a:tabLst>
            </a:pPr>
            <a:r>
              <a:rPr sz="2000" b="1" dirty="0">
                <a:latin typeface="Times New Roman"/>
                <a:cs typeface="Times New Roman"/>
              </a:rPr>
              <a:t>Immutability</a:t>
            </a:r>
            <a:r>
              <a:rPr sz="2000" b="1" spc="-40" dirty="0">
                <a:latin typeface="Times New Roman"/>
                <a:cs typeface="Times New Roman"/>
              </a:rPr>
              <a:t> </a:t>
            </a:r>
            <a:r>
              <a:rPr sz="2000" dirty="0">
                <a:latin typeface="Times New Roman"/>
                <a:cs typeface="Times New Roman"/>
              </a:rPr>
              <a:t>means</a:t>
            </a:r>
            <a:r>
              <a:rPr sz="2000" spc="-5" dirty="0">
                <a:latin typeface="Times New Roman"/>
                <a:cs typeface="Times New Roman"/>
              </a:rPr>
              <a:t> </a:t>
            </a:r>
            <a:r>
              <a:rPr sz="2000" dirty="0">
                <a:latin typeface="Times New Roman"/>
                <a:cs typeface="Times New Roman"/>
              </a:rPr>
              <a:t>that</a:t>
            </a:r>
            <a:r>
              <a:rPr sz="2000" spc="-20" dirty="0">
                <a:latin typeface="Times New Roman"/>
                <a:cs typeface="Times New Roman"/>
              </a:rPr>
              <a:t> </a:t>
            </a:r>
            <a:r>
              <a:rPr sz="2000" dirty="0">
                <a:latin typeface="Times New Roman"/>
                <a:cs typeface="Times New Roman"/>
              </a:rPr>
              <a:t>once</a:t>
            </a:r>
            <a:r>
              <a:rPr sz="2000" spc="-35" dirty="0">
                <a:latin typeface="Times New Roman"/>
                <a:cs typeface="Times New Roman"/>
              </a:rPr>
              <a:t> </a:t>
            </a:r>
            <a:r>
              <a:rPr sz="2000" dirty="0">
                <a:latin typeface="Times New Roman"/>
                <a:cs typeface="Times New Roman"/>
              </a:rPr>
              <a:t>an</a:t>
            </a:r>
            <a:r>
              <a:rPr sz="2000" spc="-10" dirty="0">
                <a:latin typeface="Times New Roman"/>
                <a:cs typeface="Times New Roman"/>
              </a:rPr>
              <a:t> </a:t>
            </a:r>
            <a:r>
              <a:rPr sz="2000" dirty="0">
                <a:latin typeface="Times New Roman"/>
                <a:cs typeface="Times New Roman"/>
              </a:rPr>
              <a:t>object</a:t>
            </a:r>
            <a:r>
              <a:rPr sz="2000" spc="-50" dirty="0">
                <a:latin typeface="Times New Roman"/>
                <a:cs typeface="Times New Roman"/>
              </a:rPr>
              <a:t> </a:t>
            </a:r>
            <a:r>
              <a:rPr sz="2000" dirty="0">
                <a:latin typeface="Times New Roman"/>
                <a:cs typeface="Times New Roman"/>
              </a:rPr>
              <a:t>or</a:t>
            </a:r>
            <a:r>
              <a:rPr sz="2000" spc="-15" dirty="0">
                <a:latin typeface="Times New Roman"/>
                <a:cs typeface="Times New Roman"/>
              </a:rPr>
              <a:t> </a:t>
            </a:r>
            <a:r>
              <a:rPr sz="2000" dirty="0">
                <a:latin typeface="Times New Roman"/>
                <a:cs typeface="Times New Roman"/>
              </a:rPr>
              <a:t>data</a:t>
            </a:r>
            <a:r>
              <a:rPr sz="2000" spc="-20" dirty="0">
                <a:latin typeface="Times New Roman"/>
                <a:cs typeface="Times New Roman"/>
              </a:rPr>
              <a:t> </a:t>
            </a:r>
            <a:r>
              <a:rPr sz="2000" dirty="0">
                <a:latin typeface="Times New Roman"/>
                <a:cs typeface="Times New Roman"/>
              </a:rPr>
              <a:t>structure</a:t>
            </a:r>
            <a:r>
              <a:rPr sz="2000" spc="-40" dirty="0">
                <a:latin typeface="Times New Roman"/>
                <a:cs typeface="Times New Roman"/>
              </a:rPr>
              <a:t> </a:t>
            </a:r>
            <a:r>
              <a:rPr sz="2000" dirty="0">
                <a:latin typeface="Times New Roman"/>
                <a:cs typeface="Times New Roman"/>
              </a:rPr>
              <a:t>is</a:t>
            </a:r>
            <a:r>
              <a:rPr sz="2000" spc="-20" dirty="0">
                <a:latin typeface="Times New Roman"/>
                <a:cs typeface="Times New Roman"/>
              </a:rPr>
              <a:t> </a:t>
            </a:r>
            <a:r>
              <a:rPr sz="2000" dirty="0">
                <a:latin typeface="Times New Roman"/>
                <a:cs typeface="Times New Roman"/>
              </a:rPr>
              <a:t>created,</a:t>
            </a:r>
            <a:r>
              <a:rPr sz="2000" spc="-35" dirty="0">
                <a:latin typeface="Times New Roman"/>
                <a:cs typeface="Times New Roman"/>
              </a:rPr>
              <a:t> </a:t>
            </a:r>
            <a:r>
              <a:rPr sz="2000" dirty="0">
                <a:latin typeface="Times New Roman"/>
                <a:cs typeface="Times New Roman"/>
              </a:rPr>
              <a:t>it</a:t>
            </a:r>
            <a:r>
              <a:rPr sz="2000" spc="-15" dirty="0">
                <a:latin typeface="Times New Roman"/>
                <a:cs typeface="Times New Roman"/>
              </a:rPr>
              <a:t> </a:t>
            </a:r>
            <a:r>
              <a:rPr sz="2000" dirty="0">
                <a:latin typeface="Times New Roman"/>
                <a:cs typeface="Times New Roman"/>
              </a:rPr>
              <a:t>cannot</a:t>
            </a:r>
            <a:r>
              <a:rPr sz="2000" spc="-40" dirty="0">
                <a:latin typeface="Times New Roman"/>
                <a:cs typeface="Times New Roman"/>
              </a:rPr>
              <a:t> </a:t>
            </a:r>
            <a:r>
              <a:rPr sz="2000" spc="-25" dirty="0">
                <a:latin typeface="Times New Roman"/>
                <a:cs typeface="Times New Roman"/>
              </a:rPr>
              <a:t>be</a:t>
            </a:r>
            <a:endParaRPr sz="2000">
              <a:latin typeface="Times New Roman"/>
              <a:cs typeface="Times New Roman"/>
            </a:endParaRPr>
          </a:p>
          <a:p>
            <a:pPr marL="195580">
              <a:lnSpc>
                <a:spcPts val="2280"/>
              </a:lnSpc>
            </a:pPr>
            <a:r>
              <a:rPr sz="2000" dirty="0">
                <a:latin typeface="Times New Roman"/>
                <a:cs typeface="Times New Roman"/>
              </a:rPr>
              <a:t>changed.</a:t>
            </a:r>
            <a:r>
              <a:rPr sz="2000" spc="-35" dirty="0">
                <a:latin typeface="Times New Roman"/>
                <a:cs typeface="Times New Roman"/>
              </a:rPr>
              <a:t> </a:t>
            </a:r>
            <a:r>
              <a:rPr sz="2000" dirty="0">
                <a:latin typeface="Times New Roman"/>
                <a:cs typeface="Times New Roman"/>
              </a:rPr>
              <a:t>If</a:t>
            </a:r>
            <a:r>
              <a:rPr sz="2000" spc="-15" dirty="0">
                <a:latin typeface="Times New Roman"/>
                <a:cs typeface="Times New Roman"/>
              </a:rPr>
              <a:t> </a:t>
            </a:r>
            <a:r>
              <a:rPr sz="2000" dirty="0">
                <a:latin typeface="Times New Roman"/>
                <a:cs typeface="Times New Roman"/>
              </a:rPr>
              <a:t>you</a:t>
            </a:r>
            <a:r>
              <a:rPr sz="2000" spc="-15" dirty="0">
                <a:latin typeface="Times New Roman"/>
                <a:cs typeface="Times New Roman"/>
              </a:rPr>
              <a:t> </a:t>
            </a:r>
            <a:r>
              <a:rPr sz="2000" dirty="0">
                <a:latin typeface="Times New Roman"/>
                <a:cs typeface="Times New Roman"/>
              </a:rPr>
              <a:t>want</a:t>
            </a:r>
            <a:r>
              <a:rPr sz="2000" spc="-20" dirty="0">
                <a:latin typeface="Times New Roman"/>
                <a:cs typeface="Times New Roman"/>
              </a:rPr>
              <a:t> </a:t>
            </a:r>
            <a:r>
              <a:rPr sz="2000" dirty="0">
                <a:latin typeface="Times New Roman"/>
                <a:cs typeface="Times New Roman"/>
              </a:rPr>
              <a:t>to</a:t>
            </a:r>
            <a:r>
              <a:rPr sz="2000" spc="-10" dirty="0">
                <a:latin typeface="Times New Roman"/>
                <a:cs typeface="Times New Roman"/>
              </a:rPr>
              <a:t> </a:t>
            </a:r>
            <a:r>
              <a:rPr sz="2000" dirty="0">
                <a:latin typeface="Times New Roman"/>
                <a:cs typeface="Times New Roman"/>
              </a:rPr>
              <a:t>modify</a:t>
            </a:r>
            <a:r>
              <a:rPr sz="2000" spc="-15" dirty="0">
                <a:latin typeface="Times New Roman"/>
                <a:cs typeface="Times New Roman"/>
              </a:rPr>
              <a:t> </a:t>
            </a:r>
            <a:r>
              <a:rPr sz="2000" dirty="0">
                <a:latin typeface="Times New Roman"/>
                <a:cs typeface="Times New Roman"/>
              </a:rPr>
              <a:t>it,</a:t>
            </a:r>
            <a:r>
              <a:rPr sz="2000" spc="-5" dirty="0">
                <a:latin typeface="Times New Roman"/>
                <a:cs typeface="Times New Roman"/>
              </a:rPr>
              <a:t> </a:t>
            </a:r>
            <a:r>
              <a:rPr sz="2000" dirty="0">
                <a:latin typeface="Times New Roman"/>
                <a:cs typeface="Times New Roman"/>
              </a:rPr>
              <a:t>you</a:t>
            </a:r>
            <a:r>
              <a:rPr sz="2000" spc="-10" dirty="0">
                <a:latin typeface="Times New Roman"/>
                <a:cs typeface="Times New Roman"/>
              </a:rPr>
              <a:t> </a:t>
            </a:r>
            <a:r>
              <a:rPr sz="2000" dirty="0">
                <a:latin typeface="Times New Roman"/>
                <a:cs typeface="Times New Roman"/>
              </a:rPr>
              <a:t>have</a:t>
            </a:r>
            <a:r>
              <a:rPr sz="2000" spc="-15" dirty="0">
                <a:latin typeface="Times New Roman"/>
                <a:cs typeface="Times New Roman"/>
              </a:rPr>
              <a:t> </a:t>
            </a:r>
            <a:r>
              <a:rPr sz="2000" dirty="0">
                <a:latin typeface="Times New Roman"/>
                <a:cs typeface="Times New Roman"/>
              </a:rPr>
              <a:t>to</a:t>
            </a:r>
            <a:r>
              <a:rPr sz="2000" spc="-20" dirty="0">
                <a:latin typeface="Times New Roman"/>
                <a:cs typeface="Times New Roman"/>
              </a:rPr>
              <a:t> </a:t>
            </a:r>
            <a:r>
              <a:rPr sz="2000" dirty="0">
                <a:latin typeface="Times New Roman"/>
                <a:cs typeface="Times New Roman"/>
              </a:rPr>
              <a:t>create</a:t>
            </a:r>
            <a:r>
              <a:rPr sz="2000" spc="-15" dirty="0">
                <a:latin typeface="Times New Roman"/>
                <a:cs typeface="Times New Roman"/>
              </a:rPr>
              <a:t> </a:t>
            </a:r>
            <a:r>
              <a:rPr sz="2000" dirty="0">
                <a:latin typeface="Times New Roman"/>
                <a:cs typeface="Times New Roman"/>
              </a:rPr>
              <a:t>a</a:t>
            </a:r>
            <a:r>
              <a:rPr sz="2000" spc="-5" dirty="0">
                <a:latin typeface="Times New Roman"/>
                <a:cs typeface="Times New Roman"/>
              </a:rPr>
              <a:t> </a:t>
            </a:r>
            <a:r>
              <a:rPr sz="2000" dirty="0">
                <a:latin typeface="Times New Roman"/>
                <a:cs typeface="Times New Roman"/>
              </a:rPr>
              <a:t>new</a:t>
            </a:r>
            <a:r>
              <a:rPr sz="2000" spc="-20" dirty="0">
                <a:latin typeface="Times New Roman"/>
                <a:cs typeface="Times New Roman"/>
              </a:rPr>
              <a:t> </a:t>
            </a:r>
            <a:r>
              <a:rPr sz="2000" spc="-10" dirty="0">
                <a:latin typeface="Times New Roman"/>
                <a:cs typeface="Times New Roman"/>
              </a:rPr>
              <a:t>object.</a:t>
            </a:r>
            <a:endParaRPr sz="2000">
              <a:latin typeface="Times New Roman"/>
              <a:cs typeface="Times New Roman"/>
            </a:endParaRPr>
          </a:p>
          <a:p>
            <a:pPr marL="194945" indent="-182245">
              <a:lnSpc>
                <a:spcPct val="100000"/>
              </a:lnSpc>
              <a:spcBef>
                <a:spcPts val="960"/>
              </a:spcBef>
              <a:buClr>
                <a:srgbClr val="9E3611"/>
              </a:buClr>
              <a:buSzPct val="85000"/>
              <a:buFont typeface="Wingdings"/>
              <a:buChar char=""/>
              <a:tabLst>
                <a:tab pos="194945" algn="l"/>
              </a:tabLst>
            </a:pPr>
            <a:r>
              <a:rPr sz="2000" b="1" spc="-10" dirty="0">
                <a:latin typeface="Times New Roman"/>
                <a:cs typeface="Times New Roman"/>
              </a:rPr>
              <a:t>Advantages</a:t>
            </a:r>
            <a:r>
              <a:rPr sz="2000" spc="-10" dirty="0">
                <a:latin typeface="Times New Roman"/>
                <a:cs typeface="Times New Roman"/>
              </a:rPr>
              <a:t>:</a:t>
            </a:r>
            <a:endParaRPr sz="2000">
              <a:latin typeface="Times New Roman"/>
              <a:cs typeface="Times New Roman"/>
            </a:endParaRPr>
          </a:p>
        </p:txBody>
      </p:sp>
      <p:sp>
        <p:nvSpPr>
          <p:cNvPr id="5" name="object 5"/>
          <p:cNvSpPr txBox="1"/>
          <p:nvPr/>
        </p:nvSpPr>
        <p:spPr>
          <a:xfrm>
            <a:off x="2577592" y="2895600"/>
            <a:ext cx="2590800" cy="253365"/>
          </a:xfrm>
          <a:prstGeom prst="rect">
            <a:avLst/>
          </a:prstGeom>
          <a:solidFill>
            <a:srgbClr val="FFFF00"/>
          </a:solidFill>
        </p:spPr>
        <p:txBody>
          <a:bodyPr vert="horz" wrap="square" lIns="0" tIns="0" rIns="0" bIns="0" rtlCol="0">
            <a:spAutoFit/>
          </a:bodyPr>
          <a:lstStyle/>
          <a:p>
            <a:pPr>
              <a:lnSpc>
                <a:spcPts val="1935"/>
              </a:lnSpc>
            </a:pPr>
            <a:r>
              <a:rPr sz="1800" dirty="0">
                <a:latin typeface="Times New Roman"/>
                <a:cs typeface="Times New Roman"/>
              </a:rPr>
              <a:t>Immutable</a:t>
            </a:r>
            <a:r>
              <a:rPr sz="1800" spc="-40" dirty="0">
                <a:latin typeface="Times New Roman"/>
                <a:cs typeface="Times New Roman"/>
              </a:rPr>
              <a:t> </a:t>
            </a:r>
            <a:r>
              <a:rPr sz="1800" dirty="0">
                <a:latin typeface="Times New Roman"/>
                <a:cs typeface="Times New Roman"/>
              </a:rPr>
              <a:t>objects</a:t>
            </a:r>
            <a:r>
              <a:rPr sz="1800" spc="-65" dirty="0">
                <a:latin typeface="Times New Roman"/>
                <a:cs typeface="Times New Roman"/>
              </a:rPr>
              <a:t> </a:t>
            </a:r>
            <a:r>
              <a:rPr sz="1800" dirty="0">
                <a:latin typeface="Times New Roman"/>
                <a:cs typeface="Times New Roman"/>
              </a:rPr>
              <a:t>are</a:t>
            </a:r>
            <a:r>
              <a:rPr sz="1800" spc="-45" dirty="0">
                <a:latin typeface="Times New Roman"/>
                <a:cs typeface="Times New Roman"/>
              </a:rPr>
              <a:t> </a:t>
            </a:r>
            <a:r>
              <a:rPr sz="1800" spc="-10" dirty="0">
                <a:latin typeface="Times New Roman"/>
                <a:cs typeface="Times New Roman"/>
              </a:rPr>
              <a:t>safer</a:t>
            </a:r>
            <a:endParaRPr sz="1800">
              <a:latin typeface="Times New Roman"/>
              <a:cs typeface="Times New Roman"/>
            </a:endParaRPr>
          </a:p>
        </p:txBody>
      </p:sp>
      <p:sp>
        <p:nvSpPr>
          <p:cNvPr id="6" name="object 6"/>
          <p:cNvSpPr txBox="1"/>
          <p:nvPr/>
        </p:nvSpPr>
        <p:spPr>
          <a:xfrm>
            <a:off x="932789" y="2854578"/>
            <a:ext cx="7759700" cy="299720"/>
          </a:xfrm>
          <a:prstGeom prst="rect">
            <a:avLst/>
          </a:prstGeom>
        </p:spPr>
        <p:txBody>
          <a:bodyPr vert="horz" wrap="square" lIns="0" tIns="12700" rIns="0" bIns="0" rtlCol="0">
            <a:spAutoFit/>
          </a:bodyPr>
          <a:lstStyle/>
          <a:p>
            <a:pPr marL="194945" indent="-182245">
              <a:lnSpc>
                <a:spcPct val="100000"/>
              </a:lnSpc>
              <a:spcBef>
                <a:spcPts val="100"/>
              </a:spcBef>
              <a:buClr>
                <a:srgbClr val="9E3611"/>
              </a:buClr>
              <a:buSzPct val="83333"/>
              <a:buFont typeface="Wingdings"/>
              <a:buChar char=""/>
              <a:tabLst>
                <a:tab pos="194945" algn="l"/>
                <a:tab pos="4236085" algn="l"/>
              </a:tabLst>
            </a:pPr>
            <a:r>
              <a:rPr sz="1800" b="1" spc="-10" dirty="0">
                <a:latin typeface="Times New Roman"/>
                <a:cs typeface="Times New Roman"/>
              </a:rPr>
              <a:t>Predictability</a:t>
            </a:r>
            <a:r>
              <a:rPr sz="1800" spc="-10" dirty="0">
                <a:latin typeface="Times New Roman"/>
                <a:cs typeface="Times New Roman"/>
              </a:rPr>
              <a:t>:</a:t>
            </a:r>
            <a:r>
              <a:rPr sz="1800" dirty="0">
                <a:latin typeface="Times New Roman"/>
                <a:cs typeface="Times New Roman"/>
              </a:rPr>
              <a:t>	to</a:t>
            </a:r>
            <a:r>
              <a:rPr sz="1800" spc="-15" dirty="0">
                <a:latin typeface="Times New Roman"/>
                <a:cs typeface="Times New Roman"/>
              </a:rPr>
              <a:t> </a:t>
            </a:r>
            <a:r>
              <a:rPr sz="1800" dirty="0">
                <a:latin typeface="Times New Roman"/>
                <a:cs typeface="Times New Roman"/>
              </a:rPr>
              <a:t>use</a:t>
            </a:r>
            <a:r>
              <a:rPr sz="1800" spc="-30" dirty="0">
                <a:latin typeface="Times New Roman"/>
                <a:cs typeface="Times New Roman"/>
              </a:rPr>
              <a:t> </a:t>
            </a:r>
            <a:r>
              <a:rPr sz="1800" dirty="0">
                <a:latin typeface="Times New Roman"/>
                <a:cs typeface="Times New Roman"/>
              </a:rPr>
              <a:t>in</a:t>
            </a:r>
            <a:r>
              <a:rPr sz="1800" spc="-15" dirty="0">
                <a:latin typeface="Times New Roman"/>
                <a:cs typeface="Times New Roman"/>
              </a:rPr>
              <a:t> </a:t>
            </a:r>
            <a:r>
              <a:rPr sz="1800" dirty="0">
                <a:latin typeface="Times New Roman"/>
                <a:cs typeface="Times New Roman"/>
              </a:rPr>
              <a:t>a</a:t>
            </a:r>
            <a:r>
              <a:rPr sz="1800" spc="-20" dirty="0">
                <a:latin typeface="Times New Roman"/>
                <a:cs typeface="Times New Roman"/>
              </a:rPr>
              <a:t> </a:t>
            </a:r>
            <a:r>
              <a:rPr sz="1800" dirty="0">
                <a:latin typeface="Times New Roman"/>
                <a:cs typeface="Times New Roman"/>
              </a:rPr>
              <a:t>program</a:t>
            </a:r>
            <a:r>
              <a:rPr sz="1800" spc="-25" dirty="0">
                <a:latin typeface="Times New Roman"/>
                <a:cs typeface="Times New Roman"/>
              </a:rPr>
              <a:t> </a:t>
            </a:r>
            <a:r>
              <a:rPr sz="1800" dirty="0">
                <a:latin typeface="Times New Roman"/>
                <a:cs typeface="Times New Roman"/>
              </a:rPr>
              <a:t>because</a:t>
            </a:r>
            <a:r>
              <a:rPr sz="1800" spc="-20" dirty="0">
                <a:latin typeface="Times New Roman"/>
                <a:cs typeface="Times New Roman"/>
              </a:rPr>
              <a:t> </a:t>
            </a:r>
            <a:r>
              <a:rPr sz="1800" dirty="0">
                <a:latin typeface="Times New Roman"/>
                <a:cs typeface="Times New Roman"/>
              </a:rPr>
              <a:t>you</a:t>
            </a:r>
            <a:r>
              <a:rPr sz="1800" spc="-50" dirty="0">
                <a:latin typeface="Times New Roman"/>
                <a:cs typeface="Times New Roman"/>
              </a:rPr>
              <a:t> </a:t>
            </a:r>
            <a:r>
              <a:rPr sz="1800" spc="-20" dirty="0">
                <a:latin typeface="Times New Roman"/>
                <a:cs typeface="Times New Roman"/>
              </a:rPr>
              <a:t>know</a:t>
            </a:r>
            <a:endParaRPr sz="1800">
              <a:latin typeface="Times New Roman"/>
              <a:cs typeface="Times New Roman"/>
            </a:endParaRPr>
          </a:p>
        </p:txBody>
      </p:sp>
      <p:sp>
        <p:nvSpPr>
          <p:cNvPr id="7" name="object 7"/>
          <p:cNvSpPr txBox="1"/>
          <p:nvPr/>
        </p:nvSpPr>
        <p:spPr>
          <a:xfrm>
            <a:off x="8737600" y="2895600"/>
            <a:ext cx="451484" cy="253365"/>
          </a:xfrm>
          <a:prstGeom prst="rect">
            <a:avLst/>
          </a:prstGeom>
          <a:solidFill>
            <a:srgbClr val="FFFF00"/>
          </a:solidFill>
        </p:spPr>
        <p:txBody>
          <a:bodyPr vert="horz" wrap="square" lIns="0" tIns="0" rIns="0" bIns="0" rtlCol="0">
            <a:spAutoFit/>
          </a:bodyPr>
          <a:lstStyle/>
          <a:p>
            <a:pPr marL="1270">
              <a:lnSpc>
                <a:spcPts val="1935"/>
              </a:lnSpc>
            </a:pPr>
            <a:r>
              <a:rPr sz="1800" spc="-20" dirty="0">
                <a:latin typeface="Times New Roman"/>
                <a:cs typeface="Times New Roman"/>
              </a:rPr>
              <a:t>they</a:t>
            </a:r>
            <a:endParaRPr sz="1800">
              <a:latin typeface="Times New Roman"/>
              <a:cs typeface="Times New Roman"/>
            </a:endParaRPr>
          </a:p>
        </p:txBody>
      </p:sp>
      <p:sp>
        <p:nvSpPr>
          <p:cNvPr id="8" name="object 8"/>
          <p:cNvSpPr txBox="1"/>
          <p:nvPr/>
        </p:nvSpPr>
        <p:spPr>
          <a:xfrm>
            <a:off x="1128293" y="3148583"/>
            <a:ext cx="2527300" cy="247015"/>
          </a:xfrm>
          <a:prstGeom prst="rect">
            <a:avLst/>
          </a:prstGeom>
          <a:solidFill>
            <a:srgbClr val="FFFF00"/>
          </a:solidFill>
        </p:spPr>
        <p:txBody>
          <a:bodyPr vert="horz" wrap="square" lIns="0" tIns="0" rIns="0" bIns="0" rtlCol="0">
            <a:spAutoFit/>
          </a:bodyPr>
          <a:lstStyle/>
          <a:p>
            <a:pPr>
              <a:lnSpc>
                <a:spcPts val="1889"/>
              </a:lnSpc>
            </a:pPr>
            <a:r>
              <a:rPr sz="1800" dirty="0">
                <a:latin typeface="Times New Roman"/>
                <a:cs typeface="Times New Roman"/>
              </a:rPr>
              <a:t>won't</a:t>
            </a:r>
            <a:r>
              <a:rPr sz="1800" spc="-40" dirty="0">
                <a:latin typeface="Times New Roman"/>
                <a:cs typeface="Times New Roman"/>
              </a:rPr>
              <a:t> </a:t>
            </a:r>
            <a:r>
              <a:rPr sz="1800" dirty="0">
                <a:latin typeface="Times New Roman"/>
                <a:cs typeface="Times New Roman"/>
              </a:rPr>
              <a:t>change</a:t>
            </a:r>
            <a:r>
              <a:rPr sz="1800" spc="-55" dirty="0">
                <a:latin typeface="Times New Roman"/>
                <a:cs typeface="Times New Roman"/>
              </a:rPr>
              <a:t> </a:t>
            </a:r>
            <a:r>
              <a:rPr sz="1800" spc="-10" dirty="0">
                <a:latin typeface="Times New Roman"/>
                <a:cs typeface="Times New Roman"/>
              </a:rPr>
              <a:t>unexpectedly.</a:t>
            </a:r>
            <a:endParaRPr sz="1800">
              <a:latin typeface="Times New Roman"/>
              <a:cs typeface="Times New Roman"/>
            </a:endParaRPr>
          </a:p>
        </p:txBody>
      </p:sp>
      <p:sp>
        <p:nvSpPr>
          <p:cNvPr id="9" name="object 9"/>
          <p:cNvSpPr txBox="1"/>
          <p:nvPr/>
        </p:nvSpPr>
        <p:spPr>
          <a:xfrm>
            <a:off x="658469" y="3424250"/>
            <a:ext cx="8613775" cy="2684145"/>
          </a:xfrm>
          <a:prstGeom prst="rect">
            <a:avLst/>
          </a:prstGeom>
        </p:spPr>
        <p:txBody>
          <a:bodyPr vert="horz" wrap="square" lIns="0" tIns="12700" rIns="0" bIns="0" rtlCol="0">
            <a:spAutoFit/>
          </a:bodyPr>
          <a:lstStyle/>
          <a:p>
            <a:pPr marL="468630" indent="-182245">
              <a:lnSpc>
                <a:spcPts val="2055"/>
              </a:lnSpc>
              <a:spcBef>
                <a:spcPts val="100"/>
              </a:spcBef>
              <a:buClr>
                <a:srgbClr val="9E3611"/>
              </a:buClr>
              <a:buSzPct val="83333"/>
              <a:buFont typeface="Wingdings"/>
              <a:buChar char=""/>
              <a:tabLst>
                <a:tab pos="468630" algn="l"/>
              </a:tabLst>
            </a:pPr>
            <a:r>
              <a:rPr sz="1800" b="1" dirty="0">
                <a:latin typeface="Times New Roman"/>
                <a:cs typeface="Times New Roman"/>
              </a:rPr>
              <a:t>Concurrency</a:t>
            </a:r>
            <a:r>
              <a:rPr sz="1800" dirty="0">
                <a:latin typeface="Times New Roman"/>
                <a:cs typeface="Times New Roman"/>
              </a:rPr>
              <a:t>:</a:t>
            </a:r>
            <a:r>
              <a:rPr sz="1800" spc="-25" dirty="0">
                <a:latin typeface="Times New Roman"/>
                <a:cs typeface="Times New Roman"/>
              </a:rPr>
              <a:t> </a:t>
            </a:r>
            <a:r>
              <a:rPr sz="1800" dirty="0">
                <a:latin typeface="Times New Roman"/>
                <a:cs typeface="Times New Roman"/>
              </a:rPr>
              <a:t>Immutable</a:t>
            </a:r>
            <a:r>
              <a:rPr sz="1800" spc="-5" dirty="0">
                <a:latin typeface="Times New Roman"/>
                <a:cs typeface="Times New Roman"/>
              </a:rPr>
              <a:t> </a:t>
            </a:r>
            <a:r>
              <a:rPr sz="1800" dirty="0">
                <a:latin typeface="Times New Roman"/>
                <a:cs typeface="Times New Roman"/>
              </a:rPr>
              <a:t>objects</a:t>
            </a:r>
            <a:r>
              <a:rPr sz="1800" spc="-35" dirty="0">
                <a:latin typeface="Times New Roman"/>
                <a:cs typeface="Times New Roman"/>
              </a:rPr>
              <a:t> </a:t>
            </a:r>
            <a:r>
              <a:rPr sz="1800" dirty="0">
                <a:latin typeface="Times New Roman"/>
                <a:cs typeface="Times New Roman"/>
              </a:rPr>
              <a:t>are</a:t>
            </a:r>
            <a:r>
              <a:rPr sz="1800" spc="-10" dirty="0">
                <a:latin typeface="Times New Roman"/>
                <a:cs typeface="Times New Roman"/>
              </a:rPr>
              <a:t> </a:t>
            </a:r>
            <a:r>
              <a:rPr sz="1800" dirty="0">
                <a:latin typeface="Times New Roman"/>
                <a:cs typeface="Times New Roman"/>
              </a:rPr>
              <a:t>inherently</a:t>
            </a:r>
            <a:r>
              <a:rPr sz="1800" spc="-30" dirty="0">
                <a:latin typeface="Times New Roman"/>
                <a:cs typeface="Times New Roman"/>
              </a:rPr>
              <a:t> </a:t>
            </a:r>
            <a:r>
              <a:rPr sz="1800" dirty="0">
                <a:latin typeface="Times New Roman"/>
                <a:cs typeface="Times New Roman"/>
              </a:rPr>
              <a:t>thread-safe,</a:t>
            </a:r>
            <a:r>
              <a:rPr sz="1800" spc="-30" dirty="0">
                <a:latin typeface="Times New Roman"/>
                <a:cs typeface="Times New Roman"/>
              </a:rPr>
              <a:t> </a:t>
            </a:r>
            <a:r>
              <a:rPr sz="1800" dirty="0">
                <a:latin typeface="Times New Roman"/>
                <a:cs typeface="Times New Roman"/>
              </a:rPr>
              <a:t>making</a:t>
            </a:r>
            <a:r>
              <a:rPr sz="1800" spc="-5" dirty="0">
                <a:latin typeface="Times New Roman"/>
                <a:cs typeface="Times New Roman"/>
              </a:rPr>
              <a:t> </a:t>
            </a:r>
            <a:r>
              <a:rPr sz="1800" dirty="0">
                <a:latin typeface="Times New Roman"/>
                <a:cs typeface="Times New Roman"/>
              </a:rPr>
              <a:t>them</a:t>
            </a:r>
            <a:r>
              <a:rPr sz="1800" spc="-25" dirty="0">
                <a:latin typeface="Times New Roman"/>
                <a:cs typeface="Times New Roman"/>
              </a:rPr>
              <a:t> </a:t>
            </a:r>
            <a:r>
              <a:rPr sz="1800" dirty="0">
                <a:latin typeface="Times New Roman"/>
                <a:cs typeface="Times New Roman"/>
              </a:rPr>
              <a:t>a good</a:t>
            </a:r>
            <a:r>
              <a:rPr sz="1800" spc="-25" dirty="0">
                <a:latin typeface="Times New Roman"/>
                <a:cs typeface="Times New Roman"/>
              </a:rPr>
              <a:t> </a:t>
            </a:r>
            <a:r>
              <a:rPr sz="1800" spc="-10" dirty="0">
                <a:latin typeface="Times New Roman"/>
                <a:cs typeface="Times New Roman"/>
              </a:rPr>
              <a:t>choice</a:t>
            </a:r>
            <a:endParaRPr sz="1800" dirty="0">
              <a:latin typeface="Times New Roman"/>
              <a:cs typeface="Times New Roman"/>
            </a:endParaRPr>
          </a:p>
          <a:p>
            <a:pPr marL="469900">
              <a:lnSpc>
                <a:spcPts val="2055"/>
              </a:lnSpc>
            </a:pPr>
            <a:r>
              <a:rPr sz="1800" dirty="0">
                <a:latin typeface="Times New Roman"/>
                <a:cs typeface="Times New Roman"/>
              </a:rPr>
              <a:t>in </a:t>
            </a:r>
            <a:r>
              <a:rPr sz="1800" spc="-10" dirty="0">
                <a:latin typeface="Times New Roman"/>
                <a:cs typeface="Times New Roman"/>
              </a:rPr>
              <a:t>multi-</a:t>
            </a:r>
            <a:r>
              <a:rPr sz="1800" dirty="0">
                <a:latin typeface="Times New Roman"/>
                <a:cs typeface="Times New Roman"/>
              </a:rPr>
              <a:t>threaded</a:t>
            </a:r>
            <a:r>
              <a:rPr sz="1800" spc="-15" dirty="0">
                <a:latin typeface="Times New Roman"/>
                <a:cs typeface="Times New Roman"/>
              </a:rPr>
              <a:t> </a:t>
            </a:r>
            <a:r>
              <a:rPr sz="1800" spc="-10" dirty="0">
                <a:latin typeface="Times New Roman"/>
                <a:cs typeface="Times New Roman"/>
              </a:rPr>
              <a:t>environments.</a:t>
            </a:r>
            <a:endParaRPr sz="1800" dirty="0">
              <a:latin typeface="Times New Roman"/>
              <a:cs typeface="Times New Roman"/>
            </a:endParaRPr>
          </a:p>
          <a:p>
            <a:pPr marL="469900" marR="80645" indent="-182880">
              <a:lnSpc>
                <a:spcPts val="1939"/>
              </a:lnSpc>
              <a:spcBef>
                <a:spcPts val="635"/>
              </a:spcBef>
              <a:buClr>
                <a:srgbClr val="9E3611"/>
              </a:buClr>
              <a:buSzPct val="83333"/>
              <a:buFont typeface="Wingdings"/>
              <a:buChar char=""/>
              <a:tabLst>
                <a:tab pos="469900" algn="l"/>
              </a:tabLst>
            </a:pPr>
            <a:r>
              <a:rPr sz="1800" b="1" dirty="0">
                <a:latin typeface="Times New Roman"/>
                <a:cs typeface="Times New Roman"/>
              </a:rPr>
              <a:t>Functional</a:t>
            </a:r>
            <a:r>
              <a:rPr sz="1800" b="1" spc="-45" dirty="0">
                <a:latin typeface="Times New Roman"/>
                <a:cs typeface="Times New Roman"/>
              </a:rPr>
              <a:t> </a:t>
            </a:r>
            <a:r>
              <a:rPr sz="1800" b="1" dirty="0">
                <a:latin typeface="Times New Roman"/>
                <a:cs typeface="Times New Roman"/>
              </a:rPr>
              <a:t>programming</a:t>
            </a:r>
            <a:r>
              <a:rPr sz="1800" dirty="0">
                <a:latin typeface="Times New Roman"/>
                <a:cs typeface="Times New Roman"/>
              </a:rPr>
              <a:t>:</a:t>
            </a:r>
            <a:r>
              <a:rPr sz="1800" spc="-35" dirty="0">
                <a:latin typeface="Times New Roman"/>
                <a:cs typeface="Times New Roman"/>
              </a:rPr>
              <a:t> </a:t>
            </a:r>
            <a:r>
              <a:rPr sz="1800" dirty="0">
                <a:latin typeface="Times New Roman"/>
                <a:cs typeface="Times New Roman"/>
              </a:rPr>
              <a:t>Immutability</a:t>
            </a:r>
            <a:r>
              <a:rPr sz="1800" spc="-45" dirty="0">
                <a:latin typeface="Times New Roman"/>
                <a:cs typeface="Times New Roman"/>
              </a:rPr>
              <a:t> </a:t>
            </a:r>
            <a:r>
              <a:rPr sz="1800" dirty="0">
                <a:latin typeface="Times New Roman"/>
                <a:cs typeface="Times New Roman"/>
              </a:rPr>
              <a:t>is</a:t>
            </a:r>
            <a:r>
              <a:rPr sz="1800" spc="-35" dirty="0">
                <a:latin typeface="Times New Roman"/>
                <a:cs typeface="Times New Roman"/>
              </a:rPr>
              <a:t> </a:t>
            </a:r>
            <a:r>
              <a:rPr sz="1800" dirty="0">
                <a:latin typeface="Times New Roman"/>
                <a:cs typeface="Times New Roman"/>
              </a:rPr>
              <a:t>a</a:t>
            </a:r>
            <a:r>
              <a:rPr sz="1800" spc="-35" dirty="0">
                <a:latin typeface="Times New Roman"/>
                <a:cs typeface="Times New Roman"/>
              </a:rPr>
              <a:t> </a:t>
            </a:r>
            <a:r>
              <a:rPr sz="1800" dirty="0">
                <a:latin typeface="Times New Roman"/>
                <a:cs typeface="Times New Roman"/>
              </a:rPr>
              <a:t>core</a:t>
            </a:r>
            <a:r>
              <a:rPr sz="1800" spc="-35" dirty="0">
                <a:latin typeface="Times New Roman"/>
                <a:cs typeface="Times New Roman"/>
              </a:rPr>
              <a:t> </a:t>
            </a:r>
            <a:r>
              <a:rPr sz="1800" dirty="0">
                <a:latin typeface="Times New Roman"/>
                <a:cs typeface="Times New Roman"/>
              </a:rPr>
              <a:t>principle</a:t>
            </a:r>
            <a:r>
              <a:rPr sz="1800" spc="-60" dirty="0">
                <a:latin typeface="Times New Roman"/>
                <a:cs typeface="Times New Roman"/>
              </a:rPr>
              <a:t> </a:t>
            </a:r>
            <a:r>
              <a:rPr sz="1800" dirty="0">
                <a:latin typeface="Times New Roman"/>
                <a:cs typeface="Times New Roman"/>
              </a:rPr>
              <a:t>of</a:t>
            </a:r>
            <a:r>
              <a:rPr sz="1800" spc="-30" dirty="0">
                <a:latin typeface="Times New Roman"/>
                <a:cs typeface="Times New Roman"/>
              </a:rPr>
              <a:t> </a:t>
            </a:r>
            <a:r>
              <a:rPr sz="1800" dirty="0">
                <a:latin typeface="Times New Roman"/>
                <a:cs typeface="Times New Roman"/>
              </a:rPr>
              <a:t>functional</a:t>
            </a:r>
            <a:r>
              <a:rPr sz="1800" spc="-50" dirty="0">
                <a:latin typeface="Times New Roman"/>
                <a:cs typeface="Times New Roman"/>
              </a:rPr>
              <a:t> </a:t>
            </a:r>
            <a:r>
              <a:rPr sz="1800" spc="-10" dirty="0">
                <a:latin typeface="Times New Roman"/>
                <a:cs typeface="Times New Roman"/>
              </a:rPr>
              <a:t>programming, </a:t>
            </a:r>
            <a:r>
              <a:rPr sz="1800" dirty="0">
                <a:latin typeface="Times New Roman"/>
                <a:cs typeface="Times New Roman"/>
              </a:rPr>
              <a:t>leading</a:t>
            </a:r>
            <a:r>
              <a:rPr sz="1800" spc="-55" dirty="0">
                <a:latin typeface="Times New Roman"/>
                <a:cs typeface="Times New Roman"/>
              </a:rPr>
              <a:t> </a:t>
            </a:r>
            <a:r>
              <a:rPr sz="1800" dirty="0">
                <a:latin typeface="Times New Roman"/>
                <a:cs typeface="Times New Roman"/>
              </a:rPr>
              <a:t>to</a:t>
            </a:r>
            <a:r>
              <a:rPr sz="1800" spc="-35" dirty="0">
                <a:latin typeface="Times New Roman"/>
                <a:cs typeface="Times New Roman"/>
              </a:rPr>
              <a:t> </a:t>
            </a:r>
            <a:r>
              <a:rPr sz="1800" dirty="0">
                <a:latin typeface="Times New Roman"/>
                <a:cs typeface="Times New Roman"/>
              </a:rPr>
              <a:t>cleaner</a:t>
            </a:r>
            <a:r>
              <a:rPr sz="1800" spc="-50" dirty="0">
                <a:latin typeface="Times New Roman"/>
                <a:cs typeface="Times New Roman"/>
              </a:rPr>
              <a:t> </a:t>
            </a:r>
            <a:r>
              <a:rPr sz="1800" dirty="0">
                <a:latin typeface="Times New Roman"/>
                <a:cs typeface="Times New Roman"/>
              </a:rPr>
              <a:t>and</a:t>
            </a:r>
            <a:r>
              <a:rPr sz="1800" spc="-35" dirty="0">
                <a:latin typeface="Times New Roman"/>
                <a:cs typeface="Times New Roman"/>
              </a:rPr>
              <a:t> </a:t>
            </a:r>
            <a:r>
              <a:rPr sz="1800" dirty="0">
                <a:latin typeface="Times New Roman"/>
                <a:cs typeface="Times New Roman"/>
              </a:rPr>
              <a:t>more</a:t>
            </a:r>
            <a:r>
              <a:rPr sz="1800" spc="-30" dirty="0">
                <a:latin typeface="Times New Roman"/>
                <a:cs typeface="Times New Roman"/>
              </a:rPr>
              <a:t> </a:t>
            </a:r>
            <a:r>
              <a:rPr sz="1800" dirty="0">
                <a:latin typeface="Times New Roman"/>
                <a:cs typeface="Times New Roman"/>
              </a:rPr>
              <a:t>maintainable</a:t>
            </a:r>
            <a:r>
              <a:rPr sz="1800" spc="-45" dirty="0">
                <a:latin typeface="Times New Roman"/>
                <a:cs typeface="Times New Roman"/>
              </a:rPr>
              <a:t> </a:t>
            </a:r>
            <a:r>
              <a:rPr sz="1800" spc="-10" dirty="0">
                <a:latin typeface="Times New Roman"/>
                <a:cs typeface="Times New Roman"/>
              </a:rPr>
              <a:t>code.</a:t>
            </a:r>
            <a:endParaRPr sz="1800" dirty="0">
              <a:latin typeface="Times New Roman"/>
              <a:cs typeface="Times New Roman"/>
            </a:endParaRPr>
          </a:p>
          <a:p>
            <a:pPr marL="194945" indent="-182245">
              <a:lnSpc>
                <a:spcPct val="100000"/>
              </a:lnSpc>
              <a:spcBef>
                <a:spcPts val="1130"/>
              </a:spcBef>
              <a:buClr>
                <a:srgbClr val="9E3611"/>
              </a:buClr>
              <a:buSzPct val="85000"/>
              <a:buFont typeface="Wingdings"/>
              <a:buChar char=""/>
              <a:tabLst>
                <a:tab pos="194945" algn="l"/>
              </a:tabLst>
            </a:pPr>
            <a:r>
              <a:rPr sz="2000" b="1" spc="-10" dirty="0">
                <a:latin typeface="Times New Roman"/>
                <a:cs typeface="Times New Roman"/>
              </a:rPr>
              <a:t>Disadvantages</a:t>
            </a:r>
            <a:r>
              <a:rPr sz="2000" spc="-10" dirty="0">
                <a:latin typeface="Times New Roman"/>
                <a:cs typeface="Times New Roman"/>
              </a:rPr>
              <a:t>:</a:t>
            </a:r>
            <a:endParaRPr sz="2000" dirty="0">
              <a:latin typeface="Times New Roman"/>
              <a:cs typeface="Times New Roman"/>
            </a:endParaRPr>
          </a:p>
          <a:p>
            <a:pPr marL="469900" marR="360045" lvl="1" indent="-182880">
              <a:lnSpc>
                <a:spcPts val="1939"/>
              </a:lnSpc>
              <a:spcBef>
                <a:spcPts val="440"/>
              </a:spcBef>
              <a:buClr>
                <a:srgbClr val="9E3611"/>
              </a:buClr>
              <a:buSzPct val="83333"/>
              <a:buFont typeface="Wingdings"/>
              <a:buChar char=""/>
              <a:tabLst>
                <a:tab pos="469900" algn="l"/>
              </a:tabLst>
            </a:pPr>
            <a:r>
              <a:rPr sz="1800" b="1" dirty="0">
                <a:latin typeface="Times New Roman"/>
                <a:cs typeface="Times New Roman"/>
              </a:rPr>
              <a:t>Overhead</a:t>
            </a:r>
            <a:r>
              <a:rPr sz="1800" dirty="0">
                <a:latin typeface="Times New Roman"/>
                <a:cs typeface="Times New Roman"/>
              </a:rPr>
              <a:t>:</a:t>
            </a:r>
            <a:r>
              <a:rPr sz="1800" spc="-35" dirty="0">
                <a:latin typeface="Times New Roman"/>
                <a:cs typeface="Times New Roman"/>
              </a:rPr>
              <a:t> </a:t>
            </a:r>
            <a:r>
              <a:rPr sz="1800" dirty="0">
                <a:latin typeface="Times New Roman"/>
                <a:cs typeface="Times New Roman"/>
              </a:rPr>
              <a:t>Every</a:t>
            </a:r>
            <a:r>
              <a:rPr sz="1800" spc="-30" dirty="0">
                <a:latin typeface="Times New Roman"/>
                <a:cs typeface="Times New Roman"/>
              </a:rPr>
              <a:t> </a:t>
            </a:r>
            <a:r>
              <a:rPr sz="1800" dirty="0">
                <a:latin typeface="Times New Roman"/>
                <a:cs typeface="Times New Roman"/>
              </a:rPr>
              <a:t>time</a:t>
            </a:r>
            <a:r>
              <a:rPr sz="1800" spc="-20" dirty="0">
                <a:latin typeface="Times New Roman"/>
                <a:cs typeface="Times New Roman"/>
              </a:rPr>
              <a:t> </a:t>
            </a:r>
            <a:r>
              <a:rPr sz="1800" dirty="0">
                <a:latin typeface="Times New Roman"/>
                <a:cs typeface="Times New Roman"/>
              </a:rPr>
              <a:t>you</a:t>
            </a:r>
            <a:r>
              <a:rPr sz="1800" spc="-50" dirty="0">
                <a:latin typeface="Times New Roman"/>
                <a:cs typeface="Times New Roman"/>
              </a:rPr>
              <a:t> </a:t>
            </a:r>
            <a:r>
              <a:rPr sz="1800" dirty="0">
                <a:latin typeface="Times New Roman"/>
                <a:cs typeface="Times New Roman"/>
              </a:rPr>
              <a:t>want</a:t>
            </a:r>
            <a:r>
              <a:rPr sz="1800" spc="-25" dirty="0">
                <a:latin typeface="Times New Roman"/>
                <a:cs typeface="Times New Roman"/>
              </a:rPr>
              <a:t> </a:t>
            </a:r>
            <a:r>
              <a:rPr sz="1800" dirty="0">
                <a:latin typeface="Times New Roman"/>
                <a:cs typeface="Times New Roman"/>
              </a:rPr>
              <a:t>to</a:t>
            </a:r>
            <a:r>
              <a:rPr sz="1800" spc="-20" dirty="0">
                <a:latin typeface="Times New Roman"/>
                <a:cs typeface="Times New Roman"/>
              </a:rPr>
              <a:t> </a:t>
            </a:r>
            <a:r>
              <a:rPr sz="1800" dirty="0">
                <a:latin typeface="Times New Roman"/>
                <a:cs typeface="Times New Roman"/>
              </a:rPr>
              <a:t>make</a:t>
            </a:r>
            <a:r>
              <a:rPr sz="1800" spc="-10" dirty="0">
                <a:latin typeface="Times New Roman"/>
                <a:cs typeface="Times New Roman"/>
              </a:rPr>
              <a:t> </a:t>
            </a:r>
            <a:r>
              <a:rPr sz="1800" dirty="0">
                <a:latin typeface="Times New Roman"/>
                <a:cs typeface="Times New Roman"/>
              </a:rPr>
              <a:t>a</a:t>
            </a:r>
            <a:r>
              <a:rPr sz="1800" spc="-20" dirty="0">
                <a:latin typeface="Times New Roman"/>
                <a:cs typeface="Times New Roman"/>
              </a:rPr>
              <a:t> </a:t>
            </a:r>
            <a:r>
              <a:rPr sz="1800" dirty="0">
                <a:latin typeface="Times New Roman"/>
                <a:cs typeface="Times New Roman"/>
              </a:rPr>
              <a:t>change,</a:t>
            </a:r>
            <a:r>
              <a:rPr sz="1800" spc="-30" dirty="0">
                <a:latin typeface="Times New Roman"/>
                <a:cs typeface="Times New Roman"/>
              </a:rPr>
              <a:t> </a:t>
            </a:r>
            <a:r>
              <a:rPr sz="1800" dirty="0">
                <a:latin typeface="Times New Roman"/>
                <a:cs typeface="Times New Roman"/>
              </a:rPr>
              <a:t>a</a:t>
            </a:r>
            <a:r>
              <a:rPr sz="1800" spc="-20" dirty="0">
                <a:latin typeface="Times New Roman"/>
                <a:cs typeface="Times New Roman"/>
              </a:rPr>
              <a:t> </a:t>
            </a:r>
            <a:r>
              <a:rPr sz="1800" dirty="0">
                <a:latin typeface="Times New Roman"/>
                <a:cs typeface="Times New Roman"/>
              </a:rPr>
              <a:t>new</a:t>
            </a:r>
            <a:r>
              <a:rPr sz="1800" spc="-20" dirty="0">
                <a:latin typeface="Times New Roman"/>
                <a:cs typeface="Times New Roman"/>
              </a:rPr>
              <a:t> </a:t>
            </a:r>
            <a:r>
              <a:rPr sz="1800" dirty="0">
                <a:latin typeface="Times New Roman"/>
                <a:cs typeface="Times New Roman"/>
              </a:rPr>
              <a:t>object</a:t>
            </a:r>
            <a:r>
              <a:rPr sz="1800" spc="-35" dirty="0">
                <a:latin typeface="Times New Roman"/>
                <a:cs typeface="Times New Roman"/>
              </a:rPr>
              <a:t> </a:t>
            </a:r>
            <a:r>
              <a:rPr sz="1800" dirty="0">
                <a:latin typeface="Times New Roman"/>
                <a:cs typeface="Times New Roman"/>
              </a:rPr>
              <a:t>needs</a:t>
            </a:r>
            <a:r>
              <a:rPr sz="1800" spc="-35" dirty="0">
                <a:latin typeface="Times New Roman"/>
                <a:cs typeface="Times New Roman"/>
              </a:rPr>
              <a:t> </a:t>
            </a:r>
            <a:r>
              <a:rPr sz="1800" dirty="0">
                <a:latin typeface="Times New Roman"/>
                <a:cs typeface="Times New Roman"/>
              </a:rPr>
              <a:t>to</a:t>
            </a:r>
            <a:r>
              <a:rPr sz="1800" spc="-20" dirty="0">
                <a:latin typeface="Times New Roman"/>
                <a:cs typeface="Times New Roman"/>
              </a:rPr>
              <a:t> </a:t>
            </a:r>
            <a:r>
              <a:rPr sz="1800" dirty="0">
                <a:latin typeface="Times New Roman"/>
                <a:cs typeface="Times New Roman"/>
              </a:rPr>
              <a:t>be</a:t>
            </a:r>
            <a:r>
              <a:rPr sz="1800" spc="-20" dirty="0">
                <a:latin typeface="Times New Roman"/>
                <a:cs typeface="Times New Roman"/>
              </a:rPr>
              <a:t> </a:t>
            </a:r>
            <a:r>
              <a:rPr sz="1800" spc="-10" dirty="0">
                <a:latin typeface="Times New Roman"/>
                <a:cs typeface="Times New Roman"/>
              </a:rPr>
              <a:t>created, </a:t>
            </a:r>
            <a:r>
              <a:rPr sz="1800" dirty="0">
                <a:latin typeface="Times New Roman"/>
                <a:cs typeface="Times New Roman"/>
              </a:rPr>
              <a:t>which</a:t>
            </a:r>
            <a:r>
              <a:rPr sz="1800" spc="-40" dirty="0">
                <a:latin typeface="Times New Roman"/>
                <a:cs typeface="Times New Roman"/>
              </a:rPr>
              <a:t> </a:t>
            </a:r>
            <a:r>
              <a:rPr sz="1800" dirty="0">
                <a:latin typeface="Times New Roman"/>
                <a:cs typeface="Times New Roman"/>
              </a:rPr>
              <a:t>can</a:t>
            </a:r>
            <a:r>
              <a:rPr sz="1800" spc="-50" dirty="0">
                <a:latin typeface="Times New Roman"/>
                <a:cs typeface="Times New Roman"/>
              </a:rPr>
              <a:t> </a:t>
            </a:r>
            <a:r>
              <a:rPr sz="1800" dirty="0">
                <a:latin typeface="Times New Roman"/>
                <a:cs typeface="Times New Roman"/>
              </a:rPr>
              <a:t>lead</a:t>
            </a:r>
            <a:r>
              <a:rPr sz="1800" spc="-55" dirty="0">
                <a:latin typeface="Times New Roman"/>
                <a:cs typeface="Times New Roman"/>
              </a:rPr>
              <a:t> </a:t>
            </a:r>
            <a:r>
              <a:rPr sz="1800" dirty="0">
                <a:latin typeface="Times New Roman"/>
                <a:cs typeface="Times New Roman"/>
              </a:rPr>
              <a:t>to</a:t>
            </a:r>
            <a:r>
              <a:rPr sz="1800" spc="-35" dirty="0">
                <a:latin typeface="Times New Roman"/>
                <a:cs typeface="Times New Roman"/>
              </a:rPr>
              <a:t> </a:t>
            </a:r>
            <a:r>
              <a:rPr sz="1800" dirty="0">
                <a:latin typeface="Times New Roman"/>
                <a:cs typeface="Times New Roman"/>
              </a:rPr>
              <a:t>increased</a:t>
            </a:r>
            <a:r>
              <a:rPr sz="1800" spc="-55" dirty="0">
                <a:latin typeface="Times New Roman"/>
                <a:cs typeface="Times New Roman"/>
              </a:rPr>
              <a:t> </a:t>
            </a:r>
            <a:r>
              <a:rPr sz="1800" dirty="0">
                <a:latin typeface="Times New Roman"/>
                <a:cs typeface="Times New Roman"/>
              </a:rPr>
              <a:t>memory</a:t>
            </a:r>
            <a:r>
              <a:rPr sz="1800" spc="-40" dirty="0">
                <a:latin typeface="Times New Roman"/>
                <a:cs typeface="Times New Roman"/>
              </a:rPr>
              <a:t> </a:t>
            </a:r>
            <a:r>
              <a:rPr sz="1800" dirty="0">
                <a:latin typeface="Times New Roman"/>
                <a:cs typeface="Times New Roman"/>
              </a:rPr>
              <a:t>usage</a:t>
            </a:r>
            <a:r>
              <a:rPr sz="1800" spc="-35" dirty="0">
                <a:latin typeface="Times New Roman"/>
                <a:cs typeface="Times New Roman"/>
              </a:rPr>
              <a:t> </a:t>
            </a:r>
            <a:r>
              <a:rPr sz="1800" dirty="0">
                <a:latin typeface="Times New Roman"/>
                <a:cs typeface="Times New Roman"/>
              </a:rPr>
              <a:t>and</a:t>
            </a:r>
            <a:r>
              <a:rPr sz="1800" spc="-40" dirty="0">
                <a:latin typeface="Times New Roman"/>
                <a:cs typeface="Times New Roman"/>
              </a:rPr>
              <a:t> </a:t>
            </a:r>
            <a:r>
              <a:rPr sz="1800" dirty="0">
                <a:latin typeface="Times New Roman"/>
                <a:cs typeface="Times New Roman"/>
              </a:rPr>
              <a:t>potential</a:t>
            </a:r>
            <a:r>
              <a:rPr sz="1800" spc="-65" dirty="0">
                <a:latin typeface="Times New Roman"/>
                <a:cs typeface="Times New Roman"/>
              </a:rPr>
              <a:t> </a:t>
            </a:r>
            <a:r>
              <a:rPr sz="1800" dirty="0">
                <a:latin typeface="Times New Roman"/>
                <a:cs typeface="Times New Roman"/>
              </a:rPr>
              <a:t>performance</a:t>
            </a:r>
            <a:r>
              <a:rPr sz="1800" spc="-40" dirty="0">
                <a:latin typeface="Times New Roman"/>
                <a:cs typeface="Times New Roman"/>
              </a:rPr>
              <a:t> </a:t>
            </a:r>
            <a:r>
              <a:rPr sz="1800" spc="-10" dirty="0">
                <a:latin typeface="Times New Roman"/>
                <a:cs typeface="Times New Roman"/>
              </a:rPr>
              <a:t>overhead.</a:t>
            </a:r>
            <a:endParaRPr sz="1800" dirty="0">
              <a:latin typeface="Times New Roman"/>
              <a:cs typeface="Times New Roman"/>
            </a:endParaRPr>
          </a:p>
          <a:p>
            <a:pPr marL="469900" marR="49530" lvl="1" indent="-182880">
              <a:lnSpc>
                <a:spcPts val="1939"/>
              </a:lnSpc>
              <a:spcBef>
                <a:spcPts val="605"/>
              </a:spcBef>
              <a:buClr>
                <a:srgbClr val="9E3611"/>
              </a:buClr>
              <a:buSzPct val="83333"/>
              <a:buFont typeface="Wingdings"/>
              <a:buChar char=""/>
              <a:tabLst>
                <a:tab pos="469900" algn="l"/>
              </a:tabLst>
            </a:pPr>
            <a:r>
              <a:rPr sz="1800" b="1" dirty="0">
                <a:latin typeface="Times New Roman"/>
                <a:cs typeface="Times New Roman"/>
              </a:rPr>
              <a:t>Complexity</a:t>
            </a:r>
            <a:r>
              <a:rPr sz="1800" dirty="0">
                <a:latin typeface="Times New Roman"/>
                <a:cs typeface="Times New Roman"/>
              </a:rPr>
              <a:t>:</a:t>
            </a:r>
            <a:r>
              <a:rPr sz="1800" spc="-35" dirty="0">
                <a:latin typeface="Times New Roman"/>
                <a:cs typeface="Times New Roman"/>
              </a:rPr>
              <a:t> </a:t>
            </a:r>
            <a:r>
              <a:rPr sz="1800" dirty="0">
                <a:latin typeface="Times New Roman"/>
                <a:cs typeface="Times New Roman"/>
              </a:rPr>
              <a:t>Some</a:t>
            </a:r>
            <a:r>
              <a:rPr sz="1800" spc="-15" dirty="0">
                <a:latin typeface="Times New Roman"/>
                <a:cs typeface="Times New Roman"/>
              </a:rPr>
              <a:t> </a:t>
            </a:r>
            <a:r>
              <a:rPr sz="1800" dirty="0">
                <a:latin typeface="Times New Roman"/>
                <a:cs typeface="Times New Roman"/>
              </a:rPr>
              <a:t>operations</a:t>
            </a:r>
            <a:r>
              <a:rPr sz="1800" spc="-30" dirty="0">
                <a:latin typeface="Times New Roman"/>
                <a:cs typeface="Times New Roman"/>
              </a:rPr>
              <a:t> </a:t>
            </a:r>
            <a:r>
              <a:rPr sz="1800" dirty="0">
                <a:latin typeface="Times New Roman"/>
                <a:cs typeface="Times New Roman"/>
              </a:rPr>
              <a:t>that</a:t>
            </a:r>
            <a:r>
              <a:rPr sz="1800" spc="-30" dirty="0">
                <a:latin typeface="Times New Roman"/>
                <a:cs typeface="Times New Roman"/>
              </a:rPr>
              <a:t> </a:t>
            </a:r>
            <a:r>
              <a:rPr sz="1800" dirty="0">
                <a:latin typeface="Times New Roman"/>
                <a:cs typeface="Times New Roman"/>
              </a:rPr>
              <a:t>are</a:t>
            </a:r>
            <a:r>
              <a:rPr sz="1800" spc="-20" dirty="0">
                <a:latin typeface="Times New Roman"/>
                <a:cs typeface="Times New Roman"/>
              </a:rPr>
              <a:t> </a:t>
            </a:r>
            <a:r>
              <a:rPr sz="1800" spc="-10" dirty="0">
                <a:latin typeface="Times New Roman"/>
                <a:cs typeface="Times New Roman"/>
              </a:rPr>
              <a:t>straightforward</a:t>
            </a:r>
            <a:r>
              <a:rPr sz="1800" spc="-40" dirty="0">
                <a:latin typeface="Times New Roman"/>
                <a:cs typeface="Times New Roman"/>
              </a:rPr>
              <a:t> </a:t>
            </a:r>
            <a:r>
              <a:rPr sz="1800" dirty="0">
                <a:latin typeface="Times New Roman"/>
                <a:cs typeface="Times New Roman"/>
              </a:rPr>
              <a:t>with</a:t>
            </a:r>
            <a:r>
              <a:rPr sz="1800" spc="-10" dirty="0">
                <a:latin typeface="Times New Roman"/>
                <a:cs typeface="Times New Roman"/>
              </a:rPr>
              <a:t> </a:t>
            </a:r>
            <a:r>
              <a:rPr sz="1800" dirty="0">
                <a:latin typeface="Times New Roman"/>
                <a:cs typeface="Times New Roman"/>
              </a:rPr>
              <a:t>mutable</a:t>
            </a:r>
            <a:r>
              <a:rPr sz="1800" spc="-35" dirty="0">
                <a:latin typeface="Times New Roman"/>
                <a:cs typeface="Times New Roman"/>
              </a:rPr>
              <a:t> </a:t>
            </a:r>
            <a:r>
              <a:rPr sz="1800" dirty="0">
                <a:latin typeface="Times New Roman"/>
                <a:cs typeface="Times New Roman"/>
              </a:rPr>
              <a:t>objects</a:t>
            </a:r>
            <a:r>
              <a:rPr sz="1800" spc="-35" dirty="0">
                <a:latin typeface="Times New Roman"/>
                <a:cs typeface="Times New Roman"/>
              </a:rPr>
              <a:t> </a:t>
            </a:r>
            <a:r>
              <a:rPr sz="1800" dirty="0">
                <a:latin typeface="Times New Roman"/>
                <a:cs typeface="Times New Roman"/>
              </a:rPr>
              <a:t>can</a:t>
            </a:r>
            <a:r>
              <a:rPr sz="1800" spc="-25" dirty="0">
                <a:latin typeface="Times New Roman"/>
                <a:cs typeface="Times New Roman"/>
              </a:rPr>
              <a:t> </a:t>
            </a:r>
            <a:r>
              <a:rPr sz="1800" spc="-10" dirty="0">
                <a:latin typeface="Times New Roman"/>
                <a:cs typeface="Times New Roman"/>
              </a:rPr>
              <a:t>become </a:t>
            </a:r>
            <a:r>
              <a:rPr sz="1800" dirty="0">
                <a:latin typeface="Times New Roman"/>
                <a:cs typeface="Times New Roman"/>
              </a:rPr>
              <a:t>more</a:t>
            </a:r>
            <a:r>
              <a:rPr sz="1800" spc="-35" dirty="0">
                <a:latin typeface="Times New Roman"/>
                <a:cs typeface="Times New Roman"/>
              </a:rPr>
              <a:t> </a:t>
            </a:r>
            <a:r>
              <a:rPr sz="1800" dirty="0">
                <a:latin typeface="Times New Roman"/>
                <a:cs typeface="Times New Roman"/>
              </a:rPr>
              <a:t>complex</a:t>
            </a:r>
            <a:r>
              <a:rPr sz="1800" spc="-40" dirty="0">
                <a:latin typeface="Times New Roman"/>
                <a:cs typeface="Times New Roman"/>
              </a:rPr>
              <a:t> </a:t>
            </a:r>
            <a:r>
              <a:rPr sz="1800" dirty="0">
                <a:latin typeface="Times New Roman"/>
                <a:cs typeface="Times New Roman"/>
              </a:rPr>
              <a:t>with</a:t>
            </a:r>
            <a:r>
              <a:rPr sz="1800" spc="-40" dirty="0">
                <a:latin typeface="Times New Roman"/>
                <a:cs typeface="Times New Roman"/>
              </a:rPr>
              <a:t> </a:t>
            </a:r>
            <a:r>
              <a:rPr sz="1800" dirty="0">
                <a:latin typeface="Times New Roman"/>
                <a:cs typeface="Times New Roman"/>
              </a:rPr>
              <a:t>immutable</a:t>
            </a:r>
            <a:r>
              <a:rPr sz="1800" spc="-35" dirty="0">
                <a:latin typeface="Times New Roman"/>
                <a:cs typeface="Times New Roman"/>
              </a:rPr>
              <a:t> </a:t>
            </a:r>
            <a:r>
              <a:rPr sz="1800" spc="-10" dirty="0">
                <a:latin typeface="Times New Roman"/>
                <a:cs typeface="Times New Roman"/>
              </a:rPr>
              <a:t>ones.</a:t>
            </a:r>
            <a:endParaRPr sz="1800" dirty="0">
              <a:latin typeface="Times New Roman"/>
              <a:cs typeface="Times New Roman"/>
            </a:endParaRPr>
          </a:p>
        </p:txBody>
      </p:sp>
      <p:pic>
        <p:nvPicPr>
          <p:cNvPr id="10" name="object 10"/>
          <p:cNvPicPr/>
          <p:nvPr/>
        </p:nvPicPr>
        <p:blipFill>
          <a:blip r:embed="rId3" cstate="print"/>
          <a:stretch>
            <a:fillRect/>
          </a:stretch>
        </p:blipFill>
        <p:spPr>
          <a:xfrm>
            <a:off x="9637776" y="3048000"/>
            <a:ext cx="2273807" cy="3057211"/>
          </a:xfrm>
          <a:prstGeom prst="rect">
            <a:avLst/>
          </a:prstGeom>
        </p:spPr>
      </p:pic>
      <p:pic>
        <p:nvPicPr>
          <p:cNvPr id="12" name="Picture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954346" y="351536"/>
            <a:ext cx="5298575" cy="298234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11987" y="233045"/>
            <a:ext cx="1993773" cy="457580"/>
          </a:xfrm>
          <a:prstGeom prst="rect">
            <a:avLst/>
          </a:prstGeom>
        </p:spPr>
      </p:pic>
      <p:sp>
        <p:nvSpPr>
          <p:cNvPr id="3" name="object 3"/>
          <p:cNvSpPr/>
          <p:nvPr/>
        </p:nvSpPr>
        <p:spPr>
          <a:xfrm>
            <a:off x="646582" y="1784985"/>
            <a:ext cx="1624965" cy="281940"/>
          </a:xfrm>
          <a:custGeom>
            <a:avLst/>
            <a:gdLst/>
            <a:ahLst/>
            <a:cxnLst/>
            <a:rect l="l" t="t" r="r" b="b"/>
            <a:pathLst>
              <a:path w="1624964" h="281939">
                <a:moveTo>
                  <a:pt x="1624583" y="0"/>
                </a:moveTo>
                <a:lnTo>
                  <a:pt x="0" y="0"/>
                </a:lnTo>
                <a:lnTo>
                  <a:pt x="0" y="281939"/>
                </a:lnTo>
                <a:lnTo>
                  <a:pt x="1624583" y="281939"/>
                </a:lnTo>
                <a:lnTo>
                  <a:pt x="1624583" y="0"/>
                </a:lnTo>
                <a:close/>
              </a:path>
            </a:pathLst>
          </a:custGeom>
          <a:solidFill>
            <a:srgbClr val="FFFF00"/>
          </a:solidFill>
        </p:spPr>
        <p:txBody>
          <a:bodyPr wrap="square" lIns="0" tIns="0" rIns="0" bIns="0" rtlCol="0"/>
          <a:lstStyle/>
          <a:p>
            <a:endParaRPr/>
          </a:p>
        </p:txBody>
      </p:sp>
      <p:sp>
        <p:nvSpPr>
          <p:cNvPr id="4" name="object 4"/>
          <p:cNvSpPr/>
          <p:nvPr/>
        </p:nvSpPr>
        <p:spPr>
          <a:xfrm>
            <a:off x="3991736" y="1784985"/>
            <a:ext cx="1455420" cy="281940"/>
          </a:xfrm>
          <a:custGeom>
            <a:avLst/>
            <a:gdLst/>
            <a:ahLst/>
            <a:cxnLst/>
            <a:rect l="l" t="t" r="r" b="b"/>
            <a:pathLst>
              <a:path w="1455420" h="281939">
                <a:moveTo>
                  <a:pt x="1455419" y="0"/>
                </a:moveTo>
                <a:lnTo>
                  <a:pt x="0" y="0"/>
                </a:lnTo>
                <a:lnTo>
                  <a:pt x="0" y="281939"/>
                </a:lnTo>
                <a:lnTo>
                  <a:pt x="1455419" y="281939"/>
                </a:lnTo>
                <a:lnTo>
                  <a:pt x="1455419" y="0"/>
                </a:lnTo>
                <a:close/>
              </a:path>
            </a:pathLst>
          </a:custGeom>
          <a:solidFill>
            <a:srgbClr val="FFFF00"/>
          </a:solidFill>
        </p:spPr>
        <p:txBody>
          <a:bodyPr wrap="square" lIns="0" tIns="0" rIns="0" bIns="0" rtlCol="0"/>
          <a:lstStyle/>
          <a:p>
            <a:endParaRPr/>
          </a:p>
        </p:txBody>
      </p:sp>
      <p:sp>
        <p:nvSpPr>
          <p:cNvPr id="5" name="object 5"/>
          <p:cNvSpPr/>
          <p:nvPr/>
        </p:nvSpPr>
        <p:spPr>
          <a:xfrm>
            <a:off x="646582" y="2486025"/>
            <a:ext cx="1640205" cy="281940"/>
          </a:xfrm>
          <a:custGeom>
            <a:avLst/>
            <a:gdLst/>
            <a:ahLst/>
            <a:cxnLst/>
            <a:rect l="l" t="t" r="r" b="b"/>
            <a:pathLst>
              <a:path w="1640205" h="281939">
                <a:moveTo>
                  <a:pt x="1639824" y="0"/>
                </a:moveTo>
                <a:lnTo>
                  <a:pt x="0" y="0"/>
                </a:lnTo>
                <a:lnTo>
                  <a:pt x="0" y="281939"/>
                </a:lnTo>
                <a:lnTo>
                  <a:pt x="1639824" y="281939"/>
                </a:lnTo>
                <a:lnTo>
                  <a:pt x="1639824" y="0"/>
                </a:lnTo>
                <a:close/>
              </a:path>
            </a:pathLst>
          </a:custGeom>
          <a:solidFill>
            <a:srgbClr val="FFFF00"/>
          </a:solidFill>
        </p:spPr>
        <p:txBody>
          <a:bodyPr wrap="square" lIns="0" tIns="0" rIns="0" bIns="0" rtlCol="0"/>
          <a:lstStyle/>
          <a:p>
            <a:endParaRPr/>
          </a:p>
        </p:txBody>
      </p:sp>
      <p:sp>
        <p:nvSpPr>
          <p:cNvPr id="6" name="object 6"/>
          <p:cNvSpPr/>
          <p:nvPr/>
        </p:nvSpPr>
        <p:spPr>
          <a:xfrm>
            <a:off x="4013072" y="2486025"/>
            <a:ext cx="1190625" cy="281940"/>
          </a:xfrm>
          <a:custGeom>
            <a:avLst/>
            <a:gdLst/>
            <a:ahLst/>
            <a:cxnLst/>
            <a:rect l="l" t="t" r="r" b="b"/>
            <a:pathLst>
              <a:path w="1190625" h="281939">
                <a:moveTo>
                  <a:pt x="1190244" y="0"/>
                </a:moveTo>
                <a:lnTo>
                  <a:pt x="0" y="0"/>
                </a:lnTo>
                <a:lnTo>
                  <a:pt x="0" y="281939"/>
                </a:lnTo>
                <a:lnTo>
                  <a:pt x="1190244" y="281939"/>
                </a:lnTo>
                <a:lnTo>
                  <a:pt x="1190244" y="0"/>
                </a:lnTo>
                <a:close/>
              </a:path>
            </a:pathLst>
          </a:custGeom>
          <a:solidFill>
            <a:srgbClr val="FFFF00"/>
          </a:solidFill>
        </p:spPr>
        <p:txBody>
          <a:bodyPr wrap="square" lIns="0" tIns="0" rIns="0" bIns="0" rtlCol="0"/>
          <a:lstStyle/>
          <a:p>
            <a:endParaRPr/>
          </a:p>
        </p:txBody>
      </p:sp>
      <p:sp>
        <p:nvSpPr>
          <p:cNvPr id="9" name="object 9"/>
          <p:cNvSpPr txBox="1"/>
          <p:nvPr/>
        </p:nvSpPr>
        <p:spPr>
          <a:xfrm>
            <a:off x="451205" y="1192250"/>
            <a:ext cx="9796780" cy="1880002"/>
          </a:xfrm>
          <a:prstGeom prst="rect">
            <a:avLst/>
          </a:prstGeom>
        </p:spPr>
        <p:txBody>
          <a:bodyPr vert="horz" wrap="square" lIns="0" tIns="134620" rIns="0" bIns="0" rtlCol="0">
            <a:spAutoFit/>
          </a:bodyPr>
          <a:lstStyle/>
          <a:p>
            <a:pPr marL="194945" indent="-182245">
              <a:lnSpc>
                <a:spcPct val="100000"/>
              </a:lnSpc>
              <a:spcBef>
                <a:spcPts val="1060"/>
              </a:spcBef>
              <a:buClr>
                <a:srgbClr val="9E3611"/>
              </a:buClr>
              <a:buSzPct val="85000"/>
              <a:buFont typeface="Wingdings"/>
              <a:buChar char=""/>
              <a:tabLst>
                <a:tab pos="194945" algn="l"/>
              </a:tabLst>
            </a:pPr>
            <a:r>
              <a:rPr sz="2000" b="1" spc="-10" dirty="0">
                <a:latin typeface="Times New Roman"/>
                <a:cs typeface="Times New Roman"/>
              </a:rPr>
              <a:t>Examples:</a:t>
            </a:r>
            <a:endParaRPr sz="2000" dirty="0">
              <a:latin typeface="Times New Roman"/>
              <a:cs typeface="Times New Roman"/>
            </a:endParaRPr>
          </a:p>
          <a:p>
            <a:pPr marL="194945" marR="154940" indent="-182880">
              <a:lnSpc>
                <a:spcPts val="2160"/>
              </a:lnSpc>
              <a:spcBef>
                <a:spcPts val="1235"/>
              </a:spcBef>
              <a:buClr>
                <a:srgbClr val="9E3611"/>
              </a:buClr>
              <a:buSzPct val="85000"/>
              <a:buFont typeface="Wingdings"/>
              <a:buChar char=""/>
              <a:tabLst>
                <a:tab pos="194945" algn="l"/>
              </a:tabLst>
            </a:pPr>
            <a:r>
              <a:rPr sz="2000" b="1" dirty="0">
                <a:latin typeface="Times New Roman"/>
                <a:cs typeface="Times New Roman"/>
              </a:rPr>
              <a:t>Strings</a:t>
            </a:r>
            <a:r>
              <a:rPr sz="2000" b="1" spc="-45" dirty="0">
                <a:latin typeface="Times New Roman"/>
                <a:cs typeface="Times New Roman"/>
              </a:rPr>
              <a:t> </a:t>
            </a:r>
            <a:r>
              <a:rPr sz="2000" b="1" dirty="0">
                <a:latin typeface="Times New Roman"/>
                <a:cs typeface="Times New Roman"/>
              </a:rPr>
              <a:t>in</a:t>
            </a:r>
            <a:r>
              <a:rPr sz="2000" b="1" spc="-20" dirty="0">
                <a:latin typeface="Times New Roman"/>
                <a:cs typeface="Times New Roman"/>
              </a:rPr>
              <a:t> </a:t>
            </a:r>
            <a:r>
              <a:rPr sz="2000" b="1" dirty="0">
                <a:latin typeface="Times New Roman"/>
                <a:cs typeface="Times New Roman"/>
              </a:rPr>
              <a:t>Java</a:t>
            </a:r>
            <a:r>
              <a:rPr sz="2000" dirty="0">
                <a:latin typeface="Times New Roman"/>
                <a:cs typeface="Times New Roman"/>
              </a:rPr>
              <a:t>:</a:t>
            </a:r>
            <a:r>
              <a:rPr sz="2000" spc="-45" dirty="0">
                <a:latin typeface="Times New Roman"/>
                <a:cs typeface="Times New Roman"/>
              </a:rPr>
              <a:t> </a:t>
            </a:r>
            <a:r>
              <a:rPr sz="2000" dirty="0">
                <a:latin typeface="Times New Roman"/>
                <a:cs typeface="Times New Roman"/>
              </a:rPr>
              <a:t>In</a:t>
            </a:r>
            <a:r>
              <a:rPr sz="2000" spc="-20" dirty="0">
                <a:latin typeface="Times New Roman"/>
                <a:cs typeface="Times New Roman"/>
              </a:rPr>
              <a:t> </a:t>
            </a:r>
            <a:r>
              <a:rPr sz="2000" dirty="0">
                <a:latin typeface="Times New Roman"/>
                <a:cs typeface="Times New Roman"/>
              </a:rPr>
              <a:t>Java,</a:t>
            </a:r>
            <a:r>
              <a:rPr sz="2000" spc="-20" dirty="0">
                <a:latin typeface="Times New Roman"/>
                <a:cs typeface="Times New Roman"/>
              </a:rPr>
              <a:t> </a:t>
            </a:r>
            <a:r>
              <a:rPr sz="2000" dirty="0">
                <a:latin typeface="Times New Roman"/>
                <a:cs typeface="Times New Roman"/>
              </a:rPr>
              <a:t>strings</a:t>
            </a:r>
            <a:r>
              <a:rPr sz="2000" spc="-30" dirty="0">
                <a:latin typeface="Times New Roman"/>
                <a:cs typeface="Times New Roman"/>
              </a:rPr>
              <a:t> </a:t>
            </a:r>
            <a:r>
              <a:rPr sz="2000" dirty="0">
                <a:latin typeface="Times New Roman"/>
                <a:cs typeface="Times New Roman"/>
              </a:rPr>
              <a:t>are</a:t>
            </a:r>
            <a:r>
              <a:rPr sz="2000" spc="-15" dirty="0">
                <a:latin typeface="Times New Roman"/>
                <a:cs typeface="Times New Roman"/>
              </a:rPr>
              <a:t> </a:t>
            </a:r>
            <a:r>
              <a:rPr sz="2000" dirty="0">
                <a:latin typeface="Times New Roman"/>
                <a:cs typeface="Times New Roman"/>
              </a:rPr>
              <a:t>immutable.</a:t>
            </a:r>
            <a:r>
              <a:rPr sz="2000" spc="-50" dirty="0">
                <a:latin typeface="Times New Roman"/>
                <a:cs typeface="Times New Roman"/>
              </a:rPr>
              <a:t> </a:t>
            </a:r>
            <a:r>
              <a:rPr sz="2000" dirty="0">
                <a:latin typeface="Times New Roman"/>
                <a:cs typeface="Times New Roman"/>
              </a:rPr>
              <a:t>This</a:t>
            </a:r>
            <a:r>
              <a:rPr sz="2000" spc="-15" dirty="0">
                <a:latin typeface="Times New Roman"/>
                <a:cs typeface="Times New Roman"/>
              </a:rPr>
              <a:t> </a:t>
            </a:r>
            <a:r>
              <a:rPr sz="2000" dirty="0">
                <a:latin typeface="Times New Roman"/>
                <a:cs typeface="Times New Roman"/>
              </a:rPr>
              <a:t>means</a:t>
            </a:r>
            <a:r>
              <a:rPr sz="2000" spc="-5" dirty="0">
                <a:latin typeface="Times New Roman"/>
                <a:cs typeface="Times New Roman"/>
              </a:rPr>
              <a:t> </a:t>
            </a:r>
            <a:r>
              <a:rPr sz="2000" dirty="0">
                <a:latin typeface="Times New Roman"/>
                <a:cs typeface="Times New Roman"/>
              </a:rPr>
              <a:t>that</a:t>
            </a:r>
            <a:r>
              <a:rPr sz="2000" spc="-35" dirty="0">
                <a:latin typeface="Times New Roman"/>
                <a:cs typeface="Times New Roman"/>
              </a:rPr>
              <a:t> </a:t>
            </a:r>
            <a:r>
              <a:rPr sz="2000" dirty="0">
                <a:latin typeface="Times New Roman"/>
                <a:cs typeface="Times New Roman"/>
              </a:rPr>
              <a:t>when</a:t>
            </a:r>
            <a:r>
              <a:rPr sz="2000" spc="-20" dirty="0">
                <a:latin typeface="Times New Roman"/>
                <a:cs typeface="Times New Roman"/>
              </a:rPr>
              <a:t> </a:t>
            </a:r>
            <a:r>
              <a:rPr sz="2000" dirty="0">
                <a:latin typeface="Times New Roman"/>
                <a:cs typeface="Times New Roman"/>
              </a:rPr>
              <a:t>you</a:t>
            </a:r>
            <a:r>
              <a:rPr sz="2000" spc="-5" dirty="0">
                <a:latin typeface="Times New Roman"/>
                <a:cs typeface="Times New Roman"/>
              </a:rPr>
              <a:t> </a:t>
            </a:r>
            <a:r>
              <a:rPr sz="2000" dirty="0">
                <a:latin typeface="Times New Roman"/>
                <a:cs typeface="Times New Roman"/>
              </a:rPr>
              <a:t>modify</a:t>
            </a:r>
            <a:r>
              <a:rPr sz="2000" spc="-20" dirty="0">
                <a:latin typeface="Times New Roman"/>
                <a:cs typeface="Times New Roman"/>
              </a:rPr>
              <a:t> </a:t>
            </a:r>
            <a:r>
              <a:rPr sz="2000" dirty="0">
                <a:latin typeface="Times New Roman"/>
                <a:cs typeface="Times New Roman"/>
              </a:rPr>
              <a:t>a</a:t>
            </a:r>
            <a:r>
              <a:rPr sz="2000" spc="-15" dirty="0">
                <a:latin typeface="Times New Roman"/>
                <a:cs typeface="Times New Roman"/>
              </a:rPr>
              <a:t> </a:t>
            </a:r>
            <a:r>
              <a:rPr sz="2000" dirty="0">
                <a:latin typeface="Times New Roman"/>
                <a:cs typeface="Times New Roman"/>
              </a:rPr>
              <a:t>string,</a:t>
            </a:r>
            <a:r>
              <a:rPr sz="2000" spc="-35" dirty="0">
                <a:latin typeface="Times New Roman"/>
                <a:cs typeface="Times New Roman"/>
              </a:rPr>
              <a:t> </a:t>
            </a:r>
            <a:r>
              <a:rPr sz="2000" spc="-50" dirty="0">
                <a:latin typeface="Times New Roman"/>
                <a:cs typeface="Times New Roman"/>
              </a:rPr>
              <a:t>a </a:t>
            </a:r>
            <a:r>
              <a:rPr sz="2000" dirty="0">
                <a:latin typeface="Times New Roman"/>
                <a:cs typeface="Times New Roman"/>
              </a:rPr>
              <a:t>new</a:t>
            </a:r>
            <a:r>
              <a:rPr sz="2000" spc="-5" dirty="0">
                <a:latin typeface="Times New Roman"/>
                <a:cs typeface="Times New Roman"/>
              </a:rPr>
              <a:t> </a:t>
            </a:r>
            <a:r>
              <a:rPr sz="2000" dirty="0">
                <a:latin typeface="Times New Roman"/>
                <a:cs typeface="Times New Roman"/>
              </a:rPr>
              <a:t>string</a:t>
            </a:r>
            <a:r>
              <a:rPr sz="2000" spc="-30" dirty="0">
                <a:latin typeface="Times New Roman"/>
                <a:cs typeface="Times New Roman"/>
              </a:rPr>
              <a:t> </a:t>
            </a:r>
            <a:r>
              <a:rPr sz="2000" dirty="0">
                <a:latin typeface="Times New Roman"/>
                <a:cs typeface="Times New Roman"/>
              </a:rPr>
              <a:t>object</a:t>
            </a:r>
            <a:r>
              <a:rPr sz="2000" spc="-45" dirty="0">
                <a:latin typeface="Times New Roman"/>
                <a:cs typeface="Times New Roman"/>
              </a:rPr>
              <a:t> </a:t>
            </a:r>
            <a:r>
              <a:rPr sz="2000" dirty="0">
                <a:latin typeface="Times New Roman"/>
                <a:cs typeface="Times New Roman"/>
              </a:rPr>
              <a:t>is</a:t>
            </a:r>
            <a:r>
              <a:rPr sz="2000" spc="-15" dirty="0">
                <a:latin typeface="Times New Roman"/>
                <a:cs typeface="Times New Roman"/>
              </a:rPr>
              <a:t> </a:t>
            </a:r>
            <a:r>
              <a:rPr sz="2000" dirty="0">
                <a:latin typeface="Times New Roman"/>
                <a:cs typeface="Times New Roman"/>
              </a:rPr>
              <a:t>created,</a:t>
            </a:r>
            <a:r>
              <a:rPr sz="2000" spc="-35" dirty="0">
                <a:latin typeface="Times New Roman"/>
                <a:cs typeface="Times New Roman"/>
              </a:rPr>
              <a:t> </a:t>
            </a:r>
            <a:r>
              <a:rPr sz="2000" dirty="0">
                <a:latin typeface="Times New Roman"/>
                <a:cs typeface="Times New Roman"/>
              </a:rPr>
              <a:t>and</a:t>
            </a:r>
            <a:r>
              <a:rPr sz="2000" spc="-15" dirty="0">
                <a:latin typeface="Times New Roman"/>
                <a:cs typeface="Times New Roman"/>
              </a:rPr>
              <a:t> </a:t>
            </a:r>
            <a:r>
              <a:rPr sz="2000" dirty="0">
                <a:latin typeface="Times New Roman"/>
                <a:cs typeface="Times New Roman"/>
              </a:rPr>
              <a:t>the</a:t>
            </a:r>
            <a:r>
              <a:rPr sz="2000" spc="-15" dirty="0">
                <a:latin typeface="Times New Roman"/>
                <a:cs typeface="Times New Roman"/>
              </a:rPr>
              <a:t> </a:t>
            </a:r>
            <a:r>
              <a:rPr sz="2000" dirty="0">
                <a:latin typeface="Times New Roman"/>
                <a:cs typeface="Times New Roman"/>
              </a:rPr>
              <a:t>original</a:t>
            </a:r>
            <a:r>
              <a:rPr sz="2000" spc="-40" dirty="0">
                <a:latin typeface="Times New Roman"/>
                <a:cs typeface="Times New Roman"/>
              </a:rPr>
              <a:t> </a:t>
            </a:r>
            <a:r>
              <a:rPr sz="2000" dirty="0">
                <a:latin typeface="Times New Roman"/>
                <a:cs typeface="Times New Roman"/>
              </a:rPr>
              <a:t>remains</a:t>
            </a:r>
            <a:r>
              <a:rPr sz="2000" spc="-15" dirty="0">
                <a:latin typeface="Times New Roman"/>
                <a:cs typeface="Times New Roman"/>
              </a:rPr>
              <a:t> </a:t>
            </a:r>
            <a:r>
              <a:rPr sz="2000" spc="-10" dirty="0">
                <a:latin typeface="Times New Roman"/>
                <a:cs typeface="Times New Roman"/>
              </a:rPr>
              <a:t>unchanged.</a:t>
            </a:r>
            <a:endParaRPr sz="2000" dirty="0">
              <a:latin typeface="Times New Roman"/>
              <a:cs typeface="Times New Roman"/>
            </a:endParaRPr>
          </a:p>
          <a:p>
            <a:pPr marL="194945" marR="5080" indent="-182880">
              <a:lnSpc>
                <a:spcPts val="2160"/>
              </a:lnSpc>
              <a:spcBef>
                <a:spcPts val="1200"/>
              </a:spcBef>
              <a:buClr>
                <a:srgbClr val="9E3611"/>
              </a:buClr>
              <a:buSzPct val="85000"/>
              <a:buFont typeface="Wingdings"/>
              <a:buChar char=""/>
              <a:tabLst>
                <a:tab pos="194945" algn="l"/>
              </a:tabLst>
            </a:pPr>
            <a:r>
              <a:rPr sz="2000" b="1" dirty="0">
                <a:latin typeface="Times New Roman"/>
                <a:cs typeface="Times New Roman"/>
              </a:rPr>
              <a:t>Lists</a:t>
            </a:r>
            <a:r>
              <a:rPr sz="2000" b="1" spc="-20" dirty="0">
                <a:latin typeface="Times New Roman"/>
                <a:cs typeface="Times New Roman"/>
              </a:rPr>
              <a:t> </a:t>
            </a:r>
            <a:r>
              <a:rPr sz="2000" b="1" dirty="0">
                <a:latin typeface="Times New Roman"/>
                <a:cs typeface="Times New Roman"/>
              </a:rPr>
              <a:t>in</a:t>
            </a:r>
            <a:r>
              <a:rPr sz="2000" b="1" spc="-5" dirty="0">
                <a:latin typeface="Times New Roman"/>
                <a:cs typeface="Times New Roman"/>
              </a:rPr>
              <a:t> </a:t>
            </a:r>
            <a:r>
              <a:rPr sz="2000" b="1" dirty="0">
                <a:latin typeface="Times New Roman"/>
                <a:cs typeface="Times New Roman"/>
              </a:rPr>
              <a:t>Python</a:t>
            </a:r>
            <a:r>
              <a:rPr sz="2000" dirty="0">
                <a:latin typeface="Times New Roman"/>
                <a:cs typeface="Times New Roman"/>
              </a:rPr>
              <a:t>:</a:t>
            </a:r>
            <a:r>
              <a:rPr sz="2000" spc="-50" dirty="0">
                <a:latin typeface="Times New Roman"/>
                <a:cs typeface="Times New Roman"/>
              </a:rPr>
              <a:t> </a:t>
            </a:r>
            <a:r>
              <a:rPr sz="2000" dirty="0">
                <a:latin typeface="Times New Roman"/>
                <a:cs typeface="Times New Roman"/>
              </a:rPr>
              <a:t>Lists</a:t>
            </a:r>
            <a:r>
              <a:rPr sz="2000" spc="-15" dirty="0">
                <a:latin typeface="Times New Roman"/>
                <a:cs typeface="Times New Roman"/>
              </a:rPr>
              <a:t> </a:t>
            </a:r>
            <a:r>
              <a:rPr sz="2000" dirty="0">
                <a:latin typeface="Times New Roman"/>
                <a:cs typeface="Times New Roman"/>
              </a:rPr>
              <a:t>in</a:t>
            </a:r>
            <a:r>
              <a:rPr sz="2000" spc="-15" dirty="0">
                <a:latin typeface="Times New Roman"/>
                <a:cs typeface="Times New Roman"/>
              </a:rPr>
              <a:t> </a:t>
            </a:r>
            <a:r>
              <a:rPr sz="2000" dirty="0">
                <a:latin typeface="Times New Roman"/>
                <a:cs typeface="Times New Roman"/>
              </a:rPr>
              <a:t>Python</a:t>
            </a:r>
            <a:r>
              <a:rPr sz="2000" spc="-25" dirty="0">
                <a:latin typeface="Times New Roman"/>
                <a:cs typeface="Times New Roman"/>
              </a:rPr>
              <a:t> </a:t>
            </a:r>
            <a:r>
              <a:rPr sz="2000" dirty="0">
                <a:latin typeface="Times New Roman"/>
                <a:cs typeface="Times New Roman"/>
              </a:rPr>
              <a:t>are</a:t>
            </a:r>
            <a:r>
              <a:rPr sz="2000" spc="-15" dirty="0">
                <a:latin typeface="Times New Roman"/>
                <a:cs typeface="Times New Roman"/>
              </a:rPr>
              <a:t> </a:t>
            </a:r>
            <a:r>
              <a:rPr sz="2000" dirty="0">
                <a:latin typeface="Times New Roman"/>
                <a:cs typeface="Times New Roman"/>
              </a:rPr>
              <a:t>mutable.</a:t>
            </a:r>
            <a:r>
              <a:rPr sz="2000" spc="-45" dirty="0">
                <a:latin typeface="Times New Roman"/>
                <a:cs typeface="Times New Roman"/>
              </a:rPr>
              <a:t> </a:t>
            </a:r>
            <a:r>
              <a:rPr sz="2000" dirty="0">
                <a:latin typeface="Times New Roman"/>
                <a:cs typeface="Times New Roman"/>
              </a:rPr>
              <a:t>This</a:t>
            </a:r>
            <a:r>
              <a:rPr sz="2000" spc="-25" dirty="0">
                <a:latin typeface="Times New Roman"/>
                <a:cs typeface="Times New Roman"/>
              </a:rPr>
              <a:t> </a:t>
            </a:r>
            <a:r>
              <a:rPr sz="2000" dirty="0">
                <a:latin typeface="Times New Roman"/>
                <a:cs typeface="Times New Roman"/>
              </a:rPr>
              <a:t>means</a:t>
            </a:r>
            <a:r>
              <a:rPr sz="2000" spc="-5" dirty="0">
                <a:latin typeface="Times New Roman"/>
                <a:cs typeface="Times New Roman"/>
              </a:rPr>
              <a:t> </a:t>
            </a:r>
            <a:r>
              <a:rPr sz="2000" dirty="0">
                <a:latin typeface="Times New Roman"/>
                <a:cs typeface="Times New Roman"/>
              </a:rPr>
              <a:t>you can</a:t>
            </a:r>
            <a:r>
              <a:rPr sz="2000" spc="-10" dirty="0">
                <a:latin typeface="Times New Roman"/>
                <a:cs typeface="Times New Roman"/>
              </a:rPr>
              <a:t> </a:t>
            </a:r>
            <a:r>
              <a:rPr sz="2000" dirty="0">
                <a:latin typeface="Times New Roman"/>
                <a:cs typeface="Times New Roman"/>
              </a:rPr>
              <a:t>change</a:t>
            </a:r>
            <a:r>
              <a:rPr sz="2000" spc="-35" dirty="0">
                <a:latin typeface="Times New Roman"/>
                <a:cs typeface="Times New Roman"/>
              </a:rPr>
              <a:t> </a:t>
            </a:r>
            <a:r>
              <a:rPr sz="2000" dirty="0">
                <a:latin typeface="Times New Roman"/>
                <a:cs typeface="Times New Roman"/>
              </a:rPr>
              <a:t>their</a:t>
            </a:r>
            <a:r>
              <a:rPr sz="2000" spc="-25" dirty="0">
                <a:latin typeface="Times New Roman"/>
                <a:cs typeface="Times New Roman"/>
              </a:rPr>
              <a:t> </a:t>
            </a:r>
            <a:r>
              <a:rPr sz="2000" dirty="0">
                <a:latin typeface="Times New Roman"/>
                <a:cs typeface="Times New Roman"/>
              </a:rPr>
              <a:t>content,</a:t>
            </a:r>
            <a:r>
              <a:rPr sz="2000" spc="-35" dirty="0">
                <a:latin typeface="Times New Roman"/>
                <a:cs typeface="Times New Roman"/>
              </a:rPr>
              <a:t> </a:t>
            </a:r>
            <a:r>
              <a:rPr sz="2000" dirty="0">
                <a:latin typeface="Times New Roman"/>
                <a:cs typeface="Times New Roman"/>
              </a:rPr>
              <a:t>add</a:t>
            </a:r>
            <a:r>
              <a:rPr sz="2000" spc="-15" dirty="0">
                <a:latin typeface="Times New Roman"/>
                <a:cs typeface="Times New Roman"/>
              </a:rPr>
              <a:t> </a:t>
            </a:r>
            <a:r>
              <a:rPr sz="2000" spc="-25" dirty="0">
                <a:latin typeface="Times New Roman"/>
                <a:cs typeface="Times New Roman"/>
              </a:rPr>
              <a:t>or </a:t>
            </a:r>
            <a:r>
              <a:rPr sz="2000" dirty="0">
                <a:latin typeface="Times New Roman"/>
                <a:cs typeface="Times New Roman"/>
              </a:rPr>
              <a:t>remove</a:t>
            </a:r>
            <a:r>
              <a:rPr sz="2000" spc="-25" dirty="0">
                <a:latin typeface="Times New Roman"/>
                <a:cs typeface="Times New Roman"/>
              </a:rPr>
              <a:t> </a:t>
            </a:r>
            <a:r>
              <a:rPr sz="2000" dirty="0">
                <a:latin typeface="Times New Roman"/>
                <a:cs typeface="Times New Roman"/>
              </a:rPr>
              <a:t>elements</a:t>
            </a:r>
            <a:r>
              <a:rPr sz="2000" spc="-20" dirty="0">
                <a:latin typeface="Times New Roman"/>
                <a:cs typeface="Times New Roman"/>
              </a:rPr>
              <a:t> </a:t>
            </a:r>
            <a:r>
              <a:rPr sz="2000" dirty="0">
                <a:latin typeface="Times New Roman"/>
                <a:cs typeface="Times New Roman"/>
              </a:rPr>
              <a:t>without</a:t>
            </a:r>
            <a:r>
              <a:rPr sz="2000" spc="-50" dirty="0">
                <a:latin typeface="Times New Roman"/>
                <a:cs typeface="Times New Roman"/>
              </a:rPr>
              <a:t> </a:t>
            </a:r>
            <a:r>
              <a:rPr sz="2000" dirty="0">
                <a:latin typeface="Times New Roman"/>
                <a:cs typeface="Times New Roman"/>
              </a:rPr>
              <a:t>creating</a:t>
            </a:r>
            <a:r>
              <a:rPr sz="2000" spc="-35" dirty="0">
                <a:latin typeface="Times New Roman"/>
                <a:cs typeface="Times New Roman"/>
              </a:rPr>
              <a:t> </a:t>
            </a:r>
            <a:r>
              <a:rPr sz="2000" dirty="0">
                <a:latin typeface="Times New Roman"/>
                <a:cs typeface="Times New Roman"/>
              </a:rPr>
              <a:t>a</a:t>
            </a:r>
            <a:r>
              <a:rPr sz="2000" spc="-15" dirty="0">
                <a:latin typeface="Times New Roman"/>
                <a:cs typeface="Times New Roman"/>
              </a:rPr>
              <a:t> </a:t>
            </a:r>
            <a:r>
              <a:rPr sz="2000" dirty="0">
                <a:latin typeface="Times New Roman"/>
                <a:cs typeface="Times New Roman"/>
              </a:rPr>
              <a:t>new</a:t>
            </a:r>
            <a:r>
              <a:rPr sz="2000" spc="-30" dirty="0">
                <a:latin typeface="Times New Roman"/>
                <a:cs typeface="Times New Roman"/>
              </a:rPr>
              <a:t> </a:t>
            </a:r>
            <a:r>
              <a:rPr sz="2000" spc="-10" dirty="0">
                <a:latin typeface="Times New Roman"/>
                <a:cs typeface="Times New Roman"/>
              </a:rPr>
              <a:t>list.</a:t>
            </a:r>
            <a:endParaRPr sz="2000" dirty="0">
              <a:latin typeface="Times New Roman"/>
              <a:cs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186065" y="611758"/>
            <a:ext cx="9253588" cy="521335"/>
          </a:xfrm>
          <a:prstGeom prst="rect">
            <a:avLst/>
          </a:prstGeom>
        </p:spPr>
      </p:pic>
      <p:pic>
        <p:nvPicPr>
          <p:cNvPr id="3" name="object 3"/>
          <p:cNvPicPr/>
          <p:nvPr/>
        </p:nvPicPr>
        <p:blipFill>
          <a:blip r:embed="rId3" cstate="print"/>
          <a:stretch>
            <a:fillRect/>
          </a:stretch>
        </p:blipFill>
        <p:spPr>
          <a:xfrm>
            <a:off x="1176362" y="1360677"/>
            <a:ext cx="3373412" cy="513080"/>
          </a:xfrm>
          <a:prstGeom prst="rect">
            <a:avLst/>
          </a:prstGeom>
        </p:spPr>
      </p:pic>
      <p:pic>
        <p:nvPicPr>
          <p:cNvPr id="4" name="object 4"/>
          <p:cNvPicPr/>
          <p:nvPr/>
        </p:nvPicPr>
        <p:blipFill>
          <a:blip r:embed="rId4" cstate="print"/>
          <a:stretch>
            <a:fillRect/>
          </a:stretch>
        </p:blipFill>
        <p:spPr>
          <a:xfrm>
            <a:off x="2138172" y="2225039"/>
            <a:ext cx="7915656" cy="444398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187411" y="982091"/>
            <a:ext cx="3494951" cy="521335"/>
          </a:xfrm>
          <a:prstGeom prst="rect">
            <a:avLst/>
          </a:prstGeom>
        </p:spPr>
      </p:pic>
      <p:sp>
        <p:nvSpPr>
          <p:cNvPr id="3" name="object 3"/>
          <p:cNvSpPr txBox="1"/>
          <p:nvPr/>
        </p:nvSpPr>
        <p:spPr>
          <a:xfrm>
            <a:off x="1051356" y="2181606"/>
            <a:ext cx="7501890" cy="3270767"/>
          </a:xfrm>
          <a:prstGeom prst="rect">
            <a:avLst/>
          </a:prstGeom>
        </p:spPr>
        <p:txBody>
          <a:bodyPr vert="horz" wrap="square" lIns="0" tIns="13335" rIns="0" bIns="0" rtlCol="0">
            <a:spAutoFit/>
          </a:bodyPr>
          <a:lstStyle/>
          <a:p>
            <a:pPr marL="100330" indent="-97155">
              <a:lnSpc>
                <a:spcPct val="100000"/>
              </a:lnSpc>
              <a:spcBef>
                <a:spcPts val="105"/>
              </a:spcBef>
              <a:buSzPct val="95000"/>
              <a:buChar char="•"/>
              <a:tabLst>
                <a:tab pos="100330" algn="l"/>
              </a:tabLst>
            </a:pPr>
            <a:r>
              <a:rPr sz="2000" dirty="0">
                <a:latin typeface="Times New Roman"/>
                <a:cs typeface="Times New Roman"/>
              </a:rPr>
              <a:t>Consider</a:t>
            </a:r>
            <a:r>
              <a:rPr sz="2000" spc="-40" dirty="0">
                <a:latin typeface="Times New Roman"/>
                <a:cs typeface="Times New Roman"/>
              </a:rPr>
              <a:t> </a:t>
            </a:r>
            <a:r>
              <a:rPr sz="2000" dirty="0">
                <a:latin typeface="Times New Roman"/>
                <a:cs typeface="Times New Roman"/>
              </a:rPr>
              <a:t>the</a:t>
            </a:r>
            <a:r>
              <a:rPr sz="2000" spc="-25" dirty="0">
                <a:latin typeface="Times New Roman"/>
                <a:cs typeface="Times New Roman"/>
              </a:rPr>
              <a:t> </a:t>
            </a:r>
            <a:r>
              <a:rPr sz="2000" dirty="0">
                <a:latin typeface="Times New Roman"/>
                <a:cs typeface="Times New Roman"/>
              </a:rPr>
              <a:t>nature</a:t>
            </a:r>
            <a:r>
              <a:rPr sz="2000" spc="-25" dirty="0">
                <a:latin typeface="Times New Roman"/>
                <a:cs typeface="Times New Roman"/>
              </a:rPr>
              <a:t> </a:t>
            </a:r>
            <a:r>
              <a:rPr sz="2000" dirty="0">
                <a:latin typeface="Times New Roman"/>
                <a:cs typeface="Times New Roman"/>
              </a:rPr>
              <a:t>of</a:t>
            </a:r>
            <a:r>
              <a:rPr sz="2000" spc="-15" dirty="0">
                <a:latin typeface="Times New Roman"/>
                <a:cs typeface="Times New Roman"/>
              </a:rPr>
              <a:t> </a:t>
            </a:r>
            <a:r>
              <a:rPr sz="2000" dirty="0">
                <a:latin typeface="Times New Roman"/>
                <a:cs typeface="Times New Roman"/>
              </a:rPr>
              <a:t>your</a:t>
            </a:r>
            <a:r>
              <a:rPr sz="2000" spc="-15" dirty="0">
                <a:latin typeface="Times New Roman"/>
                <a:cs typeface="Times New Roman"/>
              </a:rPr>
              <a:t> </a:t>
            </a:r>
            <a:r>
              <a:rPr sz="2000" dirty="0">
                <a:latin typeface="Times New Roman"/>
                <a:cs typeface="Times New Roman"/>
              </a:rPr>
              <a:t>data</a:t>
            </a:r>
            <a:r>
              <a:rPr sz="2000" spc="-10" dirty="0">
                <a:latin typeface="Times New Roman"/>
                <a:cs typeface="Times New Roman"/>
              </a:rPr>
              <a:t> </a:t>
            </a:r>
            <a:r>
              <a:rPr sz="2000" dirty="0">
                <a:latin typeface="Times New Roman"/>
                <a:cs typeface="Times New Roman"/>
              </a:rPr>
              <a:t>and</a:t>
            </a:r>
            <a:r>
              <a:rPr sz="2000" spc="-15" dirty="0">
                <a:latin typeface="Times New Roman"/>
                <a:cs typeface="Times New Roman"/>
              </a:rPr>
              <a:t> </a:t>
            </a:r>
            <a:r>
              <a:rPr sz="2000" dirty="0">
                <a:latin typeface="Times New Roman"/>
                <a:cs typeface="Times New Roman"/>
              </a:rPr>
              <a:t>the</a:t>
            </a:r>
            <a:r>
              <a:rPr sz="2000" spc="-10" dirty="0">
                <a:latin typeface="Times New Roman"/>
                <a:cs typeface="Times New Roman"/>
              </a:rPr>
              <a:t> </a:t>
            </a:r>
            <a:r>
              <a:rPr sz="2000" dirty="0">
                <a:latin typeface="Times New Roman"/>
                <a:cs typeface="Times New Roman"/>
              </a:rPr>
              <a:t>operations</a:t>
            </a:r>
            <a:r>
              <a:rPr sz="2000" spc="-45" dirty="0">
                <a:latin typeface="Times New Roman"/>
                <a:cs typeface="Times New Roman"/>
              </a:rPr>
              <a:t> </a:t>
            </a:r>
            <a:r>
              <a:rPr sz="2000" dirty="0">
                <a:latin typeface="Times New Roman"/>
                <a:cs typeface="Times New Roman"/>
              </a:rPr>
              <a:t>you need</a:t>
            </a:r>
            <a:r>
              <a:rPr sz="2000" spc="-15" dirty="0">
                <a:latin typeface="Times New Roman"/>
                <a:cs typeface="Times New Roman"/>
              </a:rPr>
              <a:t> </a:t>
            </a:r>
            <a:r>
              <a:rPr sz="2000" dirty="0">
                <a:latin typeface="Times New Roman"/>
                <a:cs typeface="Times New Roman"/>
              </a:rPr>
              <a:t>to</a:t>
            </a:r>
            <a:r>
              <a:rPr sz="2000" spc="-5" dirty="0">
                <a:latin typeface="Times New Roman"/>
                <a:cs typeface="Times New Roman"/>
              </a:rPr>
              <a:t> </a:t>
            </a:r>
            <a:r>
              <a:rPr sz="2000" spc="-10" dirty="0">
                <a:latin typeface="Times New Roman"/>
                <a:cs typeface="Times New Roman"/>
              </a:rPr>
              <a:t>perform.</a:t>
            </a:r>
            <a:endParaRPr sz="2000" dirty="0">
              <a:latin typeface="Times New Roman"/>
              <a:cs typeface="Times New Roman"/>
            </a:endParaRPr>
          </a:p>
          <a:p>
            <a:pPr marL="100330" indent="-97155">
              <a:lnSpc>
                <a:spcPct val="100000"/>
              </a:lnSpc>
              <a:buSzPct val="95000"/>
              <a:buChar char="•"/>
              <a:tabLst>
                <a:tab pos="100330" algn="l"/>
              </a:tabLst>
            </a:pPr>
            <a:r>
              <a:rPr sz="2000" dirty="0">
                <a:latin typeface="Times New Roman"/>
                <a:cs typeface="Times New Roman"/>
              </a:rPr>
              <a:t>Use</a:t>
            </a:r>
            <a:r>
              <a:rPr sz="2000" spc="-20" dirty="0">
                <a:latin typeface="Times New Roman"/>
                <a:cs typeface="Times New Roman"/>
              </a:rPr>
              <a:t> </a:t>
            </a:r>
            <a:r>
              <a:rPr sz="2000" dirty="0">
                <a:latin typeface="Times New Roman"/>
                <a:cs typeface="Times New Roman"/>
              </a:rPr>
              <a:t>mutability</a:t>
            </a:r>
            <a:r>
              <a:rPr sz="2000" spc="-25" dirty="0">
                <a:latin typeface="Times New Roman"/>
                <a:cs typeface="Times New Roman"/>
              </a:rPr>
              <a:t> </a:t>
            </a:r>
            <a:r>
              <a:rPr sz="2000" dirty="0">
                <a:latin typeface="Times New Roman"/>
                <a:cs typeface="Times New Roman"/>
              </a:rPr>
              <a:t>when</a:t>
            </a:r>
            <a:r>
              <a:rPr sz="2000" spc="-30" dirty="0">
                <a:latin typeface="Times New Roman"/>
                <a:cs typeface="Times New Roman"/>
              </a:rPr>
              <a:t> </a:t>
            </a:r>
            <a:r>
              <a:rPr sz="2000" dirty="0">
                <a:latin typeface="Times New Roman"/>
                <a:cs typeface="Times New Roman"/>
              </a:rPr>
              <a:t>flexibility</a:t>
            </a:r>
            <a:r>
              <a:rPr sz="2000" spc="-50" dirty="0">
                <a:latin typeface="Times New Roman"/>
                <a:cs typeface="Times New Roman"/>
              </a:rPr>
              <a:t> </a:t>
            </a:r>
            <a:r>
              <a:rPr sz="2000" dirty="0">
                <a:latin typeface="Times New Roman"/>
                <a:cs typeface="Times New Roman"/>
              </a:rPr>
              <a:t>is</a:t>
            </a:r>
            <a:r>
              <a:rPr sz="2000" spc="-20" dirty="0">
                <a:latin typeface="Times New Roman"/>
                <a:cs typeface="Times New Roman"/>
              </a:rPr>
              <a:t> </a:t>
            </a:r>
            <a:r>
              <a:rPr sz="2000" spc="-10" dirty="0">
                <a:latin typeface="Times New Roman"/>
                <a:cs typeface="Times New Roman"/>
              </a:rPr>
              <a:t>crucial.</a:t>
            </a:r>
            <a:endParaRPr sz="2000" dirty="0">
              <a:latin typeface="Times New Roman"/>
              <a:cs typeface="Times New Roman"/>
            </a:endParaRPr>
          </a:p>
          <a:p>
            <a:pPr marL="100330" indent="-97155">
              <a:lnSpc>
                <a:spcPct val="100000"/>
              </a:lnSpc>
              <a:buSzPct val="95000"/>
              <a:buChar char="•"/>
              <a:tabLst>
                <a:tab pos="100330" algn="l"/>
              </a:tabLst>
            </a:pPr>
            <a:r>
              <a:rPr sz="2000" dirty="0">
                <a:latin typeface="Times New Roman"/>
                <a:cs typeface="Times New Roman"/>
              </a:rPr>
              <a:t>Use</a:t>
            </a:r>
            <a:r>
              <a:rPr sz="2000" spc="-15" dirty="0">
                <a:latin typeface="Times New Roman"/>
                <a:cs typeface="Times New Roman"/>
              </a:rPr>
              <a:t> </a:t>
            </a:r>
            <a:r>
              <a:rPr sz="2000" dirty="0">
                <a:latin typeface="Times New Roman"/>
                <a:cs typeface="Times New Roman"/>
              </a:rPr>
              <a:t>immutability</a:t>
            </a:r>
            <a:r>
              <a:rPr sz="2000" spc="-30" dirty="0">
                <a:latin typeface="Times New Roman"/>
                <a:cs typeface="Times New Roman"/>
              </a:rPr>
              <a:t> </a:t>
            </a:r>
            <a:r>
              <a:rPr sz="2000" dirty="0">
                <a:latin typeface="Times New Roman"/>
                <a:cs typeface="Times New Roman"/>
              </a:rPr>
              <a:t>when</a:t>
            </a:r>
            <a:r>
              <a:rPr sz="2000" spc="-25" dirty="0">
                <a:latin typeface="Times New Roman"/>
                <a:cs typeface="Times New Roman"/>
              </a:rPr>
              <a:t> </a:t>
            </a:r>
            <a:r>
              <a:rPr sz="2000" dirty="0">
                <a:latin typeface="Times New Roman"/>
                <a:cs typeface="Times New Roman"/>
              </a:rPr>
              <a:t>predictability</a:t>
            </a:r>
            <a:r>
              <a:rPr sz="2000" spc="-60" dirty="0">
                <a:latin typeface="Times New Roman"/>
                <a:cs typeface="Times New Roman"/>
              </a:rPr>
              <a:t> </a:t>
            </a:r>
            <a:r>
              <a:rPr sz="2000" dirty="0">
                <a:latin typeface="Times New Roman"/>
                <a:cs typeface="Times New Roman"/>
              </a:rPr>
              <a:t>and</a:t>
            </a:r>
            <a:r>
              <a:rPr sz="2000" spc="-15" dirty="0">
                <a:latin typeface="Times New Roman"/>
                <a:cs typeface="Times New Roman"/>
              </a:rPr>
              <a:t> </a:t>
            </a:r>
            <a:r>
              <a:rPr sz="2000" dirty="0">
                <a:latin typeface="Times New Roman"/>
                <a:cs typeface="Times New Roman"/>
              </a:rPr>
              <a:t>safety</a:t>
            </a:r>
            <a:r>
              <a:rPr sz="2000" spc="-40" dirty="0">
                <a:latin typeface="Times New Roman"/>
                <a:cs typeface="Times New Roman"/>
              </a:rPr>
              <a:t> </a:t>
            </a:r>
            <a:r>
              <a:rPr sz="2000" dirty="0">
                <a:latin typeface="Times New Roman"/>
                <a:cs typeface="Times New Roman"/>
              </a:rPr>
              <a:t>are</a:t>
            </a:r>
            <a:r>
              <a:rPr sz="2000" spc="-25" dirty="0">
                <a:latin typeface="Times New Roman"/>
                <a:cs typeface="Times New Roman"/>
              </a:rPr>
              <a:t> </a:t>
            </a:r>
            <a:r>
              <a:rPr sz="2000" dirty="0">
                <a:latin typeface="Times New Roman"/>
                <a:cs typeface="Times New Roman"/>
              </a:rPr>
              <a:t>top</a:t>
            </a:r>
            <a:r>
              <a:rPr sz="2000" spc="-25" dirty="0">
                <a:latin typeface="Times New Roman"/>
                <a:cs typeface="Times New Roman"/>
              </a:rPr>
              <a:t> </a:t>
            </a:r>
            <a:r>
              <a:rPr sz="2000" spc="-10" dirty="0">
                <a:latin typeface="Times New Roman"/>
                <a:cs typeface="Times New Roman"/>
              </a:rPr>
              <a:t>priorities.</a:t>
            </a:r>
            <a:endParaRPr sz="2000" dirty="0">
              <a:latin typeface="Times New Roman"/>
              <a:cs typeface="Times New Roman"/>
            </a:endParaRPr>
          </a:p>
          <a:p>
            <a:pPr>
              <a:lnSpc>
                <a:spcPct val="100000"/>
              </a:lnSpc>
              <a:spcBef>
                <a:spcPts val="1315"/>
              </a:spcBef>
              <a:buFont typeface="Times New Roman"/>
              <a:buChar char="•"/>
            </a:pPr>
            <a:endParaRPr sz="2000" dirty="0">
              <a:latin typeface="Times New Roman"/>
              <a:cs typeface="Times New Roman"/>
            </a:endParaRPr>
          </a:p>
          <a:p>
            <a:pPr marL="97155">
              <a:lnSpc>
                <a:spcPct val="100000"/>
              </a:lnSpc>
            </a:pPr>
            <a:r>
              <a:rPr sz="2800" spc="110" dirty="0">
                <a:latin typeface="Cambria"/>
                <a:cs typeface="Cambria"/>
              </a:rPr>
              <a:t>Conclusion:</a:t>
            </a:r>
            <a:endParaRPr sz="2800" dirty="0">
              <a:latin typeface="Cambria"/>
              <a:cs typeface="Cambria"/>
            </a:endParaRPr>
          </a:p>
          <a:p>
            <a:pPr marL="97155" marR="1706880" lvl="1" indent="-10160">
              <a:lnSpc>
                <a:spcPct val="100000"/>
              </a:lnSpc>
              <a:spcBef>
                <a:spcPts val="2460"/>
              </a:spcBef>
              <a:buSzPct val="94444"/>
              <a:buFont typeface="Arial MT"/>
              <a:buChar char="•"/>
              <a:tabLst>
                <a:tab pos="175895" algn="l"/>
              </a:tabLst>
            </a:pPr>
            <a:r>
              <a:rPr sz="1800" dirty="0">
                <a:latin typeface="Times New Roman"/>
                <a:cs typeface="Times New Roman"/>
              </a:rPr>
              <a:t>	Understanding</a:t>
            </a:r>
            <a:r>
              <a:rPr sz="1800" spc="-40" dirty="0">
                <a:latin typeface="Times New Roman"/>
                <a:cs typeface="Times New Roman"/>
              </a:rPr>
              <a:t> </a:t>
            </a:r>
            <a:r>
              <a:rPr sz="1800" dirty="0">
                <a:latin typeface="Times New Roman"/>
                <a:cs typeface="Times New Roman"/>
              </a:rPr>
              <a:t>mutability</a:t>
            </a:r>
            <a:r>
              <a:rPr sz="1800" spc="-55" dirty="0">
                <a:latin typeface="Times New Roman"/>
                <a:cs typeface="Times New Roman"/>
              </a:rPr>
              <a:t> </a:t>
            </a:r>
            <a:r>
              <a:rPr sz="1800" dirty="0">
                <a:latin typeface="Times New Roman"/>
                <a:cs typeface="Times New Roman"/>
              </a:rPr>
              <a:t>and</a:t>
            </a:r>
            <a:r>
              <a:rPr sz="1800" spc="-40" dirty="0">
                <a:latin typeface="Times New Roman"/>
                <a:cs typeface="Times New Roman"/>
              </a:rPr>
              <a:t> </a:t>
            </a:r>
            <a:r>
              <a:rPr sz="1800" dirty="0">
                <a:latin typeface="Times New Roman"/>
                <a:cs typeface="Times New Roman"/>
              </a:rPr>
              <a:t>immutability</a:t>
            </a:r>
            <a:r>
              <a:rPr sz="1800" spc="-45" dirty="0">
                <a:latin typeface="Times New Roman"/>
                <a:cs typeface="Times New Roman"/>
              </a:rPr>
              <a:t> </a:t>
            </a:r>
            <a:r>
              <a:rPr sz="1800" dirty="0">
                <a:latin typeface="Times New Roman"/>
                <a:cs typeface="Times New Roman"/>
              </a:rPr>
              <a:t>is</a:t>
            </a:r>
            <a:r>
              <a:rPr sz="1800" spc="-45" dirty="0">
                <a:latin typeface="Times New Roman"/>
                <a:cs typeface="Times New Roman"/>
              </a:rPr>
              <a:t> </a:t>
            </a:r>
            <a:r>
              <a:rPr sz="1800" dirty="0">
                <a:latin typeface="Times New Roman"/>
                <a:cs typeface="Times New Roman"/>
              </a:rPr>
              <a:t>fundamental</a:t>
            </a:r>
            <a:r>
              <a:rPr sz="1800" spc="-40" dirty="0">
                <a:latin typeface="Times New Roman"/>
                <a:cs typeface="Times New Roman"/>
              </a:rPr>
              <a:t> </a:t>
            </a:r>
            <a:r>
              <a:rPr sz="1800" spc="-25" dirty="0">
                <a:latin typeface="Times New Roman"/>
                <a:cs typeface="Times New Roman"/>
              </a:rPr>
              <a:t>in </a:t>
            </a:r>
            <a:r>
              <a:rPr sz="1800" spc="-10" dirty="0">
                <a:latin typeface="Times New Roman"/>
                <a:cs typeface="Times New Roman"/>
              </a:rPr>
              <a:t>Python</a:t>
            </a:r>
            <a:r>
              <a:rPr lang="en-GB" sz="1800" spc="-10" dirty="0">
                <a:latin typeface="Times New Roman"/>
                <a:cs typeface="Times New Roman"/>
              </a:rPr>
              <a:t>, C#, and in any programming language</a:t>
            </a:r>
            <a:r>
              <a:rPr sz="1800" spc="-10" dirty="0">
                <a:latin typeface="Times New Roman"/>
                <a:cs typeface="Times New Roman"/>
              </a:rPr>
              <a:t>.</a:t>
            </a:r>
            <a:endParaRPr sz="1800" dirty="0">
              <a:latin typeface="Times New Roman"/>
              <a:cs typeface="Times New Roman"/>
            </a:endParaRPr>
          </a:p>
          <a:p>
            <a:pPr marL="97155" marR="2112010" lvl="1" indent="-10160">
              <a:lnSpc>
                <a:spcPct val="100000"/>
              </a:lnSpc>
              <a:buSzPct val="94444"/>
              <a:buFont typeface="Arial MT"/>
              <a:buChar char="•"/>
              <a:tabLst>
                <a:tab pos="175895" algn="l"/>
              </a:tabLst>
            </a:pPr>
            <a:r>
              <a:rPr sz="1800" dirty="0">
                <a:latin typeface="Times New Roman"/>
                <a:cs typeface="Times New Roman"/>
              </a:rPr>
              <a:t>	Both</a:t>
            </a:r>
            <a:r>
              <a:rPr sz="1800" spc="-25" dirty="0">
                <a:latin typeface="Times New Roman"/>
                <a:cs typeface="Times New Roman"/>
              </a:rPr>
              <a:t> </a:t>
            </a:r>
            <a:r>
              <a:rPr sz="1800" dirty="0">
                <a:latin typeface="Times New Roman"/>
                <a:cs typeface="Times New Roman"/>
              </a:rPr>
              <a:t>concepts</a:t>
            </a:r>
            <a:r>
              <a:rPr sz="1800" spc="-40" dirty="0">
                <a:latin typeface="Times New Roman"/>
                <a:cs typeface="Times New Roman"/>
              </a:rPr>
              <a:t> </a:t>
            </a:r>
            <a:r>
              <a:rPr sz="1800" dirty="0">
                <a:latin typeface="Times New Roman"/>
                <a:cs typeface="Times New Roman"/>
              </a:rPr>
              <a:t>have</a:t>
            </a:r>
            <a:r>
              <a:rPr sz="1800" spc="-25" dirty="0">
                <a:latin typeface="Times New Roman"/>
                <a:cs typeface="Times New Roman"/>
              </a:rPr>
              <a:t> </a:t>
            </a:r>
            <a:r>
              <a:rPr sz="1800" dirty="0">
                <a:latin typeface="Times New Roman"/>
                <a:cs typeface="Times New Roman"/>
              </a:rPr>
              <a:t>their</a:t>
            </a:r>
            <a:r>
              <a:rPr sz="1800" spc="-40" dirty="0">
                <a:latin typeface="Times New Roman"/>
                <a:cs typeface="Times New Roman"/>
              </a:rPr>
              <a:t> </a:t>
            </a:r>
            <a:r>
              <a:rPr sz="1800" dirty="0">
                <a:latin typeface="Times New Roman"/>
                <a:cs typeface="Times New Roman"/>
              </a:rPr>
              <a:t>place</a:t>
            </a:r>
            <a:r>
              <a:rPr sz="1800" spc="-35" dirty="0">
                <a:latin typeface="Times New Roman"/>
                <a:cs typeface="Times New Roman"/>
              </a:rPr>
              <a:t> </a:t>
            </a:r>
            <a:r>
              <a:rPr sz="1800" dirty="0">
                <a:latin typeface="Times New Roman"/>
                <a:cs typeface="Times New Roman"/>
              </a:rPr>
              <a:t>depending</a:t>
            </a:r>
            <a:r>
              <a:rPr sz="1800" spc="-25" dirty="0">
                <a:latin typeface="Times New Roman"/>
                <a:cs typeface="Times New Roman"/>
              </a:rPr>
              <a:t> </a:t>
            </a:r>
            <a:r>
              <a:rPr sz="1800" dirty="0">
                <a:latin typeface="Times New Roman"/>
                <a:cs typeface="Times New Roman"/>
              </a:rPr>
              <a:t>on</a:t>
            </a:r>
            <a:r>
              <a:rPr sz="1800" spc="-35" dirty="0">
                <a:latin typeface="Times New Roman"/>
                <a:cs typeface="Times New Roman"/>
              </a:rPr>
              <a:t> </a:t>
            </a:r>
            <a:r>
              <a:rPr sz="1800" dirty="0">
                <a:latin typeface="Times New Roman"/>
                <a:cs typeface="Times New Roman"/>
              </a:rPr>
              <a:t>the</a:t>
            </a:r>
            <a:r>
              <a:rPr sz="1800" spc="-25" dirty="0">
                <a:latin typeface="Times New Roman"/>
                <a:cs typeface="Times New Roman"/>
              </a:rPr>
              <a:t> </a:t>
            </a:r>
            <a:r>
              <a:rPr sz="1800" spc="-10" dirty="0">
                <a:latin typeface="Times New Roman"/>
                <a:cs typeface="Times New Roman"/>
              </a:rPr>
              <a:t>specific </a:t>
            </a:r>
            <a:r>
              <a:rPr sz="1800" dirty="0">
                <a:latin typeface="Times New Roman"/>
                <a:cs typeface="Times New Roman"/>
              </a:rPr>
              <a:t>requirements</a:t>
            </a:r>
            <a:r>
              <a:rPr sz="1800" spc="-50" dirty="0">
                <a:latin typeface="Times New Roman"/>
                <a:cs typeface="Times New Roman"/>
              </a:rPr>
              <a:t> </a:t>
            </a:r>
            <a:r>
              <a:rPr sz="1800" dirty="0">
                <a:latin typeface="Times New Roman"/>
                <a:cs typeface="Times New Roman"/>
              </a:rPr>
              <a:t>of</a:t>
            </a:r>
            <a:r>
              <a:rPr sz="1800" spc="-35" dirty="0">
                <a:latin typeface="Times New Roman"/>
                <a:cs typeface="Times New Roman"/>
              </a:rPr>
              <a:t> </a:t>
            </a:r>
            <a:r>
              <a:rPr sz="1800" dirty="0">
                <a:latin typeface="Times New Roman"/>
                <a:cs typeface="Times New Roman"/>
              </a:rPr>
              <a:t>your</a:t>
            </a:r>
            <a:r>
              <a:rPr sz="1800" spc="-50" dirty="0">
                <a:latin typeface="Times New Roman"/>
                <a:cs typeface="Times New Roman"/>
              </a:rPr>
              <a:t> </a:t>
            </a:r>
            <a:r>
              <a:rPr sz="1800" spc="-10" dirty="0">
                <a:latin typeface="Times New Roman"/>
                <a:cs typeface="Times New Roman"/>
              </a:rPr>
              <a:t>code.</a:t>
            </a:r>
            <a:endParaRPr sz="1800" dirty="0">
              <a:latin typeface="Times New Roman"/>
              <a:cs typeface="Times New Roman"/>
            </a:endParaRPr>
          </a:p>
        </p:txBody>
      </p:sp>
      <p:pic>
        <p:nvPicPr>
          <p:cNvPr id="4" name="object 4"/>
          <p:cNvPicPr/>
          <p:nvPr/>
        </p:nvPicPr>
        <p:blipFill>
          <a:blip r:embed="rId3" cstate="print"/>
          <a:stretch>
            <a:fillRect/>
          </a:stretch>
        </p:blipFill>
        <p:spPr>
          <a:xfrm>
            <a:off x="8063483" y="3622547"/>
            <a:ext cx="3070860" cy="3058728"/>
          </a:xfrm>
          <a:prstGeom prst="rect">
            <a:avLst/>
          </a:prstGeom>
        </p:spPr>
      </p:pic>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954346" y="351536"/>
            <a:ext cx="5298575" cy="2982341"/>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317747" y="1399539"/>
            <a:ext cx="5186680" cy="5263515"/>
            <a:chOff x="3317747" y="1399539"/>
            <a:chExt cx="5186680" cy="5263515"/>
          </a:xfrm>
        </p:grpSpPr>
        <p:pic>
          <p:nvPicPr>
            <p:cNvPr id="3" name="object 3"/>
            <p:cNvPicPr/>
            <p:nvPr/>
          </p:nvPicPr>
          <p:blipFill>
            <a:blip r:embed="rId2" cstate="print"/>
            <a:stretch>
              <a:fillRect/>
            </a:stretch>
          </p:blipFill>
          <p:spPr>
            <a:xfrm>
              <a:off x="3368674" y="1399539"/>
              <a:ext cx="5135245" cy="496824"/>
            </a:xfrm>
            <a:prstGeom prst="rect">
              <a:avLst/>
            </a:prstGeom>
          </p:spPr>
        </p:pic>
        <p:pic>
          <p:nvPicPr>
            <p:cNvPr id="4" name="object 4"/>
            <p:cNvPicPr/>
            <p:nvPr/>
          </p:nvPicPr>
          <p:blipFill>
            <a:blip r:embed="rId3" cstate="print"/>
            <a:stretch>
              <a:fillRect/>
            </a:stretch>
          </p:blipFill>
          <p:spPr>
            <a:xfrm>
              <a:off x="3317747" y="1845563"/>
              <a:ext cx="4817363" cy="4817364"/>
            </a:xfrm>
            <a:prstGeom prst="rect">
              <a:avLst/>
            </a:prstGeom>
          </p:spPr>
        </p:pic>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6717792" y="4578096"/>
            <a:ext cx="5378450" cy="2109470"/>
            <a:chOff x="6717792" y="4578096"/>
            <a:chExt cx="5378450" cy="2109470"/>
          </a:xfrm>
        </p:grpSpPr>
        <p:pic>
          <p:nvPicPr>
            <p:cNvPr id="3" name="object 3"/>
            <p:cNvPicPr/>
            <p:nvPr/>
          </p:nvPicPr>
          <p:blipFill>
            <a:blip r:embed="rId2" cstate="print"/>
            <a:stretch>
              <a:fillRect/>
            </a:stretch>
          </p:blipFill>
          <p:spPr>
            <a:xfrm>
              <a:off x="11401044" y="6230112"/>
              <a:ext cx="457200" cy="457200"/>
            </a:xfrm>
            <a:prstGeom prst="rect">
              <a:avLst/>
            </a:prstGeom>
          </p:spPr>
        </p:pic>
        <p:sp>
          <p:nvSpPr>
            <p:cNvPr id="4" name="object 4"/>
            <p:cNvSpPr/>
            <p:nvPr/>
          </p:nvSpPr>
          <p:spPr>
            <a:xfrm>
              <a:off x="6717792" y="4578096"/>
              <a:ext cx="5378450" cy="2092960"/>
            </a:xfrm>
            <a:custGeom>
              <a:avLst/>
              <a:gdLst/>
              <a:ahLst/>
              <a:cxnLst/>
              <a:rect l="l" t="t" r="r" b="b"/>
              <a:pathLst>
                <a:path w="5378450" h="2092959">
                  <a:moveTo>
                    <a:pt x="5378196" y="0"/>
                  </a:moveTo>
                  <a:lnTo>
                    <a:pt x="0" y="0"/>
                  </a:lnTo>
                  <a:lnTo>
                    <a:pt x="0" y="2092452"/>
                  </a:lnTo>
                  <a:lnTo>
                    <a:pt x="5378196" y="2092452"/>
                  </a:lnTo>
                  <a:lnTo>
                    <a:pt x="5378196" y="0"/>
                  </a:lnTo>
                  <a:close/>
                </a:path>
              </a:pathLst>
            </a:custGeom>
            <a:solidFill>
              <a:srgbClr val="D7BEB6"/>
            </a:solidFill>
          </p:spPr>
          <p:txBody>
            <a:bodyPr wrap="square" lIns="0" tIns="0" rIns="0" bIns="0" rtlCol="0"/>
            <a:lstStyle/>
            <a:p>
              <a:endParaRPr/>
            </a:p>
          </p:txBody>
        </p:sp>
      </p:grpSp>
      <p:sp>
        <p:nvSpPr>
          <p:cNvPr id="5" name="object 5"/>
          <p:cNvSpPr txBox="1"/>
          <p:nvPr/>
        </p:nvSpPr>
        <p:spPr>
          <a:xfrm>
            <a:off x="96011" y="940308"/>
            <a:ext cx="6515100" cy="1661160"/>
          </a:xfrm>
          <a:prstGeom prst="rect">
            <a:avLst/>
          </a:prstGeom>
          <a:solidFill>
            <a:srgbClr val="BCB095"/>
          </a:solidFill>
          <a:ln w="9144">
            <a:solidFill>
              <a:srgbClr val="000000"/>
            </a:solidFill>
          </a:ln>
        </p:spPr>
        <p:txBody>
          <a:bodyPr vert="horz" wrap="square" lIns="0" tIns="39370" rIns="0" bIns="0" rtlCol="0">
            <a:spAutoFit/>
          </a:bodyPr>
          <a:lstStyle/>
          <a:p>
            <a:pPr marL="91440">
              <a:lnSpc>
                <a:spcPct val="100000"/>
              </a:lnSpc>
              <a:spcBef>
                <a:spcPts val="310"/>
              </a:spcBef>
            </a:pPr>
            <a:r>
              <a:rPr sz="1400" b="1" spc="60" dirty="0">
                <a:latin typeface="Cambria"/>
                <a:cs typeface="Cambria"/>
              </a:rPr>
              <a:t>Immutable</a:t>
            </a:r>
            <a:r>
              <a:rPr sz="1400" b="1" spc="140" dirty="0">
                <a:latin typeface="Cambria"/>
                <a:cs typeface="Cambria"/>
              </a:rPr>
              <a:t> </a:t>
            </a:r>
            <a:r>
              <a:rPr sz="1400" b="1" dirty="0">
                <a:latin typeface="Cambria"/>
                <a:cs typeface="Cambria"/>
              </a:rPr>
              <a:t>String</a:t>
            </a:r>
            <a:r>
              <a:rPr sz="1400" b="1" spc="150" dirty="0">
                <a:latin typeface="Cambria"/>
                <a:cs typeface="Cambria"/>
              </a:rPr>
              <a:t> </a:t>
            </a:r>
            <a:r>
              <a:rPr sz="1400" b="1" spc="40" dirty="0">
                <a:latin typeface="Cambria"/>
                <a:cs typeface="Cambria"/>
              </a:rPr>
              <a:t>Modification</a:t>
            </a:r>
            <a:endParaRPr sz="1400">
              <a:latin typeface="Cambria"/>
              <a:cs typeface="Cambria"/>
            </a:endParaRPr>
          </a:p>
          <a:p>
            <a:pPr marL="91440" marR="191770">
              <a:lnSpc>
                <a:spcPct val="100000"/>
              </a:lnSpc>
              <a:spcBef>
                <a:spcPts val="5"/>
              </a:spcBef>
            </a:pPr>
            <a:r>
              <a:rPr sz="1400" dirty="0">
                <a:latin typeface="Cambria"/>
                <a:cs typeface="Cambria"/>
              </a:rPr>
              <a:t>Strings</a:t>
            </a:r>
            <a:r>
              <a:rPr sz="1400" spc="105" dirty="0">
                <a:latin typeface="Cambria"/>
                <a:cs typeface="Cambria"/>
              </a:rPr>
              <a:t> </a:t>
            </a:r>
            <a:r>
              <a:rPr sz="1400" dirty="0">
                <a:latin typeface="Cambria"/>
                <a:cs typeface="Cambria"/>
              </a:rPr>
              <a:t>in</a:t>
            </a:r>
            <a:r>
              <a:rPr sz="1400" spc="135" dirty="0">
                <a:latin typeface="Cambria"/>
                <a:cs typeface="Cambria"/>
              </a:rPr>
              <a:t> </a:t>
            </a:r>
            <a:r>
              <a:rPr sz="1400" dirty="0">
                <a:latin typeface="Cambria"/>
                <a:cs typeface="Cambria"/>
              </a:rPr>
              <a:t>Python</a:t>
            </a:r>
            <a:r>
              <a:rPr sz="1400" spc="90" dirty="0">
                <a:latin typeface="Cambria"/>
                <a:cs typeface="Cambria"/>
              </a:rPr>
              <a:t> </a:t>
            </a:r>
            <a:r>
              <a:rPr sz="1400" dirty="0">
                <a:latin typeface="Cambria"/>
                <a:cs typeface="Cambria"/>
              </a:rPr>
              <a:t>are</a:t>
            </a:r>
            <a:r>
              <a:rPr sz="1400" spc="125" dirty="0">
                <a:latin typeface="Cambria"/>
                <a:cs typeface="Cambria"/>
              </a:rPr>
              <a:t> </a:t>
            </a:r>
            <a:r>
              <a:rPr sz="1400" spc="45" dirty="0">
                <a:latin typeface="Cambria"/>
                <a:cs typeface="Cambria"/>
              </a:rPr>
              <a:t>immutable,</a:t>
            </a:r>
            <a:r>
              <a:rPr sz="1400" spc="-30" dirty="0">
                <a:latin typeface="Cambria"/>
                <a:cs typeface="Cambria"/>
              </a:rPr>
              <a:t> </a:t>
            </a:r>
            <a:r>
              <a:rPr sz="1400" spc="60" dirty="0">
                <a:latin typeface="Cambria"/>
                <a:cs typeface="Cambria"/>
              </a:rPr>
              <a:t>meaning</a:t>
            </a:r>
            <a:r>
              <a:rPr sz="1400" spc="90" dirty="0">
                <a:latin typeface="Cambria"/>
                <a:cs typeface="Cambria"/>
              </a:rPr>
              <a:t> </a:t>
            </a:r>
            <a:r>
              <a:rPr sz="1400" spc="70" dirty="0">
                <a:latin typeface="Cambria"/>
                <a:cs typeface="Cambria"/>
              </a:rPr>
              <a:t>once</a:t>
            </a:r>
            <a:r>
              <a:rPr sz="1400" spc="110" dirty="0">
                <a:latin typeface="Cambria"/>
                <a:cs typeface="Cambria"/>
              </a:rPr>
              <a:t> </a:t>
            </a:r>
            <a:r>
              <a:rPr sz="1400" dirty="0">
                <a:latin typeface="Cambria"/>
                <a:cs typeface="Cambria"/>
              </a:rPr>
              <a:t>they</a:t>
            </a:r>
            <a:r>
              <a:rPr sz="1400" spc="125" dirty="0">
                <a:latin typeface="Cambria"/>
                <a:cs typeface="Cambria"/>
              </a:rPr>
              <a:t> </a:t>
            </a:r>
            <a:r>
              <a:rPr sz="1400" dirty="0">
                <a:latin typeface="Cambria"/>
                <a:cs typeface="Cambria"/>
              </a:rPr>
              <a:t>are</a:t>
            </a:r>
            <a:r>
              <a:rPr sz="1400" spc="110" dirty="0">
                <a:latin typeface="Cambria"/>
                <a:cs typeface="Cambria"/>
              </a:rPr>
              <a:t> </a:t>
            </a:r>
            <a:r>
              <a:rPr sz="1400" spc="60" dirty="0">
                <a:latin typeface="Cambria"/>
                <a:cs typeface="Cambria"/>
              </a:rPr>
              <a:t>created,</a:t>
            </a:r>
            <a:r>
              <a:rPr sz="1400" spc="-35" dirty="0">
                <a:latin typeface="Cambria"/>
                <a:cs typeface="Cambria"/>
              </a:rPr>
              <a:t> </a:t>
            </a:r>
            <a:r>
              <a:rPr sz="1400" dirty="0">
                <a:latin typeface="Cambria"/>
                <a:cs typeface="Cambria"/>
              </a:rPr>
              <a:t>they</a:t>
            </a:r>
            <a:r>
              <a:rPr sz="1400" spc="125" dirty="0">
                <a:latin typeface="Cambria"/>
                <a:cs typeface="Cambria"/>
              </a:rPr>
              <a:t> </a:t>
            </a:r>
            <a:r>
              <a:rPr sz="1400" spc="-10" dirty="0">
                <a:latin typeface="Cambria"/>
                <a:cs typeface="Cambria"/>
              </a:rPr>
              <a:t>cannot </a:t>
            </a:r>
            <a:r>
              <a:rPr sz="1400" spc="125" dirty="0">
                <a:latin typeface="Cambria"/>
                <a:cs typeface="Cambria"/>
              </a:rPr>
              <a:t>be</a:t>
            </a:r>
            <a:r>
              <a:rPr sz="1400" spc="25" dirty="0">
                <a:latin typeface="Cambria"/>
                <a:cs typeface="Cambria"/>
              </a:rPr>
              <a:t> </a:t>
            </a:r>
            <a:r>
              <a:rPr sz="1400" spc="75" dirty="0">
                <a:latin typeface="Cambria"/>
                <a:cs typeface="Cambria"/>
              </a:rPr>
              <a:t>changed.</a:t>
            </a:r>
            <a:endParaRPr sz="1400">
              <a:latin typeface="Cambria"/>
              <a:cs typeface="Cambria"/>
            </a:endParaRPr>
          </a:p>
          <a:p>
            <a:pPr marL="91440">
              <a:lnSpc>
                <a:spcPct val="100000"/>
              </a:lnSpc>
            </a:pPr>
            <a:r>
              <a:rPr sz="1400" dirty="0">
                <a:latin typeface="Cambria"/>
                <a:cs typeface="Cambria"/>
              </a:rPr>
              <a:t>s</a:t>
            </a:r>
            <a:r>
              <a:rPr sz="1400" spc="50" dirty="0">
                <a:latin typeface="Cambria"/>
                <a:cs typeface="Cambria"/>
              </a:rPr>
              <a:t> </a:t>
            </a:r>
            <a:r>
              <a:rPr sz="1400" spc="155" dirty="0">
                <a:latin typeface="Cambria"/>
                <a:cs typeface="Cambria"/>
              </a:rPr>
              <a:t>=</a:t>
            </a:r>
            <a:r>
              <a:rPr sz="1400" spc="65" dirty="0">
                <a:latin typeface="Cambria"/>
                <a:cs typeface="Cambria"/>
              </a:rPr>
              <a:t> </a:t>
            </a:r>
            <a:r>
              <a:rPr sz="1400" spc="-10" dirty="0">
                <a:latin typeface="Cambria"/>
                <a:cs typeface="Cambria"/>
              </a:rPr>
              <a:t>"hello"</a:t>
            </a:r>
            <a:endParaRPr sz="1400">
              <a:latin typeface="Cambria"/>
              <a:cs typeface="Cambria"/>
            </a:endParaRPr>
          </a:p>
          <a:p>
            <a:pPr marL="91440">
              <a:lnSpc>
                <a:spcPct val="100000"/>
              </a:lnSpc>
            </a:pPr>
            <a:r>
              <a:rPr sz="1400" spc="65" dirty="0">
                <a:latin typeface="Cambria"/>
                <a:cs typeface="Cambria"/>
              </a:rPr>
              <a:t>#</a:t>
            </a:r>
            <a:r>
              <a:rPr sz="1400" spc="20" dirty="0">
                <a:latin typeface="Cambria"/>
                <a:cs typeface="Cambria"/>
              </a:rPr>
              <a:t> </a:t>
            </a:r>
            <a:r>
              <a:rPr sz="1400" spc="50" dirty="0">
                <a:latin typeface="Cambria"/>
                <a:cs typeface="Cambria"/>
              </a:rPr>
              <a:t>Trying</a:t>
            </a:r>
            <a:r>
              <a:rPr sz="1400" spc="60" dirty="0">
                <a:latin typeface="Cambria"/>
                <a:cs typeface="Cambria"/>
              </a:rPr>
              <a:t> </a:t>
            </a:r>
            <a:r>
              <a:rPr sz="1400" dirty="0">
                <a:latin typeface="Cambria"/>
                <a:cs typeface="Cambria"/>
              </a:rPr>
              <a:t>to</a:t>
            </a:r>
            <a:r>
              <a:rPr sz="1400" spc="70" dirty="0">
                <a:latin typeface="Cambria"/>
                <a:cs typeface="Cambria"/>
              </a:rPr>
              <a:t> </a:t>
            </a:r>
            <a:r>
              <a:rPr sz="1400" spc="75" dirty="0">
                <a:latin typeface="Cambria"/>
                <a:cs typeface="Cambria"/>
              </a:rPr>
              <a:t>change</a:t>
            </a:r>
            <a:r>
              <a:rPr sz="1400" spc="45" dirty="0">
                <a:latin typeface="Cambria"/>
                <a:cs typeface="Cambria"/>
              </a:rPr>
              <a:t> </a:t>
            </a:r>
            <a:r>
              <a:rPr sz="1400" dirty="0">
                <a:latin typeface="Cambria"/>
                <a:cs typeface="Cambria"/>
              </a:rPr>
              <a:t>the</a:t>
            </a:r>
            <a:r>
              <a:rPr sz="1400" spc="80" dirty="0">
                <a:latin typeface="Cambria"/>
                <a:cs typeface="Cambria"/>
              </a:rPr>
              <a:t> </a:t>
            </a:r>
            <a:r>
              <a:rPr sz="1400" dirty="0">
                <a:latin typeface="Cambria"/>
                <a:cs typeface="Cambria"/>
              </a:rPr>
              <a:t>first</a:t>
            </a:r>
            <a:r>
              <a:rPr sz="1400" spc="70" dirty="0">
                <a:latin typeface="Cambria"/>
                <a:cs typeface="Cambria"/>
              </a:rPr>
              <a:t> </a:t>
            </a:r>
            <a:r>
              <a:rPr sz="1400" spc="45" dirty="0">
                <a:latin typeface="Cambria"/>
                <a:cs typeface="Cambria"/>
              </a:rPr>
              <a:t>character</a:t>
            </a:r>
            <a:r>
              <a:rPr sz="1400" spc="50" dirty="0">
                <a:latin typeface="Cambria"/>
                <a:cs typeface="Cambria"/>
              </a:rPr>
              <a:t> </a:t>
            </a:r>
            <a:r>
              <a:rPr sz="1400" dirty="0">
                <a:latin typeface="Cambria"/>
                <a:cs typeface="Cambria"/>
              </a:rPr>
              <a:t>will</a:t>
            </a:r>
            <a:r>
              <a:rPr sz="1400" spc="80" dirty="0">
                <a:latin typeface="Cambria"/>
                <a:cs typeface="Cambria"/>
              </a:rPr>
              <a:t> </a:t>
            </a:r>
            <a:r>
              <a:rPr sz="1400" dirty="0">
                <a:latin typeface="Cambria"/>
                <a:cs typeface="Cambria"/>
              </a:rPr>
              <a:t>result</a:t>
            </a:r>
            <a:r>
              <a:rPr sz="1400" spc="55" dirty="0">
                <a:latin typeface="Cambria"/>
                <a:cs typeface="Cambria"/>
              </a:rPr>
              <a:t> </a:t>
            </a:r>
            <a:r>
              <a:rPr sz="1400" dirty="0">
                <a:latin typeface="Cambria"/>
                <a:cs typeface="Cambria"/>
              </a:rPr>
              <a:t>in</a:t>
            </a:r>
            <a:r>
              <a:rPr sz="1400" spc="75" dirty="0">
                <a:latin typeface="Cambria"/>
                <a:cs typeface="Cambria"/>
              </a:rPr>
              <a:t> </a:t>
            </a:r>
            <a:r>
              <a:rPr sz="1400" dirty="0">
                <a:latin typeface="Cambria"/>
                <a:cs typeface="Cambria"/>
              </a:rPr>
              <a:t>an</a:t>
            </a:r>
            <a:r>
              <a:rPr sz="1400" spc="70" dirty="0">
                <a:latin typeface="Cambria"/>
                <a:cs typeface="Cambria"/>
              </a:rPr>
              <a:t> </a:t>
            </a:r>
            <a:r>
              <a:rPr sz="1400" spc="-10" dirty="0">
                <a:latin typeface="Cambria"/>
                <a:cs typeface="Cambria"/>
              </a:rPr>
              <a:t>error</a:t>
            </a:r>
            <a:endParaRPr sz="1400">
              <a:latin typeface="Cambria"/>
              <a:cs typeface="Cambria"/>
            </a:endParaRPr>
          </a:p>
          <a:p>
            <a:pPr marL="91440">
              <a:lnSpc>
                <a:spcPct val="100000"/>
              </a:lnSpc>
            </a:pPr>
            <a:r>
              <a:rPr sz="1400" spc="65" dirty="0">
                <a:latin typeface="Cambria"/>
                <a:cs typeface="Cambria"/>
              </a:rPr>
              <a:t>#</a:t>
            </a:r>
            <a:r>
              <a:rPr sz="1400" spc="90" dirty="0">
                <a:latin typeface="Cambria"/>
                <a:cs typeface="Cambria"/>
              </a:rPr>
              <a:t> </a:t>
            </a:r>
            <a:r>
              <a:rPr sz="1400" dirty="0">
                <a:latin typeface="Cambria"/>
                <a:cs typeface="Cambria"/>
              </a:rPr>
              <a:t>s[0]</a:t>
            </a:r>
            <a:r>
              <a:rPr sz="1400" spc="95" dirty="0">
                <a:latin typeface="Cambria"/>
                <a:cs typeface="Cambria"/>
              </a:rPr>
              <a:t> </a:t>
            </a:r>
            <a:r>
              <a:rPr sz="1400" spc="155" dirty="0">
                <a:latin typeface="Cambria"/>
                <a:cs typeface="Cambria"/>
              </a:rPr>
              <a:t>=</a:t>
            </a:r>
            <a:r>
              <a:rPr sz="1400" spc="90" dirty="0">
                <a:latin typeface="Cambria"/>
                <a:cs typeface="Cambria"/>
              </a:rPr>
              <a:t> </a:t>
            </a:r>
            <a:r>
              <a:rPr sz="1400" dirty="0">
                <a:latin typeface="Cambria"/>
                <a:cs typeface="Cambria"/>
              </a:rPr>
              <a:t>"H"</a:t>
            </a:r>
            <a:r>
              <a:rPr sz="1400" spc="480" dirty="0">
                <a:latin typeface="Cambria"/>
                <a:cs typeface="Cambria"/>
              </a:rPr>
              <a:t> </a:t>
            </a:r>
            <a:r>
              <a:rPr sz="1400" spc="65" dirty="0">
                <a:latin typeface="Cambria"/>
                <a:cs typeface="Cambria"/>
              </a:rPr>
              <a:t>#</a:t>
            </a:r>
            <a:r>
              <a:rPr sz="1400" spc="30" dirty="0">
                <a:latin typeface="Cambria"/>
                <a:cs typeface="Cambria"/>
              </a:rPr>
              <a:t> </a:t>
            </a:r>
            <a:r>
              <a:rPr sz="1400" spc="60" dirty="0">
                <a:latin typeface="Cambria"/>
                <a:cs typeface="Cambria"/>
              </a:rPr>
              <a:t>Type</a:t>
            </a:r>
            <a:r>
              <a:rPr sz="1400" spc="80" dirty="0">
                <a:latin typeface="Cambria"/>
                <a:cs typeface="Cambria"/>
              </a:rPr>
              <a:t> </a:t>
            </a:r>
            <a:r>
              <a:rPr sz="1400" dirty="0">
                <a:latin typeface="Cambria"/>
                <a:cs typeface="Cambria"/>
              </a:rPr>
              <a:t>Error:</a:t>
            </a:r>
            <a:r>
              <a:rPr sz="1400" spc="-35" dirty="0">
                <a:latin typeface="Cambria"/>
                <a:cs typeface="Cambria"/>
              </a:rPr>
              <a:t> </a:t>
            </a:r>
            <a:r>
              <a:rPr sz="1400" spc="-25" dirty="0">
                <a:latin typeface="Cambria"/>
                <a:cs typeface="Cambria"/>
              </a:rPr>
              <a:t>'str'</a:t>
            </a:r>
            <a:r>
              <a:rPr sz="1400" spc="85" dirty="0">
                <a:latin typeface="Cambria"/>
                <a:cs typeface="Cambria"/>
              </a:rPr>
              <a:t> </a:t>
            </a:r>
            <a:r>
              <a:rPr sz="1400" spc="70" dirty="0">
                <a:latin typeface="Cambria"/>
                <a:cs typeface="Cambria"/>
              </a:rPr>
              <a:t>object </a:t>
            </a:r>
            <a:r>
              <a:rPr sz="1400" spc="75" dirty="0">
                <a:latin typeface="Cambria"/>
                <a:cs typeface="Cambria"/>
              </a:rPr>
              <a:t>does</a:t>
            </a:r>
            <a:r>
              <a:rPr sz="1400" spc="65" dirty="0">
                <a:latin typeface="Cambria"/>
                <a:cs typeface="Cambria"/>
              </a:rPr>
              <a:t> </a:t>
            </a:r>
            <a:r>
              <a:rPr sz="1400" dirty="0">
                <a:latin typeface="Cambria"/>
                <a:cs typeface="Cambria"/>
              </a:rPr>
              <a:t>not</a:t>
            </a:r>
            <a:r>
              <a:rPr sz="1400" spc="90" dirty="0">
                <a:latin typeface="Cambria"/>
                <a:cs typeface="Cambria"/>
              </a:rPr>
              <a:t> </a:t>
            </a:r>
            <a:r>
              <a:rPr sz="1400" dirty="0">
                <a:latin typeface="Cambria"/>
                <a:cs typeface="Cambria"/>
              </a:rPr>
              <a:t>support</a:t>
            </a:r>
            <a:r>
              <a:rPr sz="1400" spc="70" dirty="0">
                <a:latin typeface="Cambria"/>
                <a:cs typeface="Cambria"/>
              </a:rPr>
              <a:t> </a:t>
            </a:r>
            <a:r>
              <a:rPr sz="1400" dirty="0">
                <a:latin typeface="Cambria"/>
                <a:cs typeface="Cambria"/>
              </a:rPr>
              <a:t>item</a:t>
            </a:r>
            <a:r>
              <a:rPr sz="1400" spc="90" dirty="0">
                <a:latin typeface="Cambria"/>
                <a:cs typeface="Cambria"/>
              </a:rPr>
              <a:t> </a:t>
            </a:r>
            <a:r>
              <a:rPr sz="1400" spc="-10" dirty="0">
                <a:latin typeface="Cambria"/>
                <a:cs typeface="Cambria"/>
              </a:rPr>
              <a:t>assignment</a:t>
            </a:r>
            <a:endParaRPr sz="1400">
              <a:latin typeface="Cambria"/>
              <a:cs typeface="Cambria"/>
            </a:endParaRPr>
          </a:p>
        </p:txBody>
      </p:sp>
      <p:sp>
        <p:nvSpPr>
          <p:cNvPr id="6" name="object 6"/>
          <p:cNvSpPr txBox="1"/>
          <p:nvPr/>
        </p:nvSpPr>
        <p:spPr>
          <a:xfrm>
            <a:off x="6769607" y="940308"/>
            <a:ext cx="5274945" cy="1661160"/>
          </a:xfrm>
          <a:prstGeom prst="rect">
            <a:avLst/>
          </a:prstGeom>
          <a:solidFill>
            <a:srgbClr val="C3C1C1"/>
          </a:solidFill>
          <a:ln w="9144">
            <a:solidFill>
              <a:srgbClr val="000000"/>
            </a:solidFill>
          </a:ln>
        </p:spPr>
        <p:txBody>
          <a:bodyPr vert="horz" wrap="square" lIns="0" tIns="39370" rIns="0" bIns="0" rtlCol="0">
            <a:spAutoFit/>
          </a:bodyPr>
          <a:lstStyle/>
          <a:p>
            <a:pPr marL="91440">
              <a:lnSpc>
                <a:spcPct val="100000"/>
              </a:lnSpc>
              <a:spcBef>
                <a:spcPts val="310"/>
              </a:spcBef>
            </a:pPr>
            <a:r>
              <a:rPr sz="1400" b="1" spc="60" dirty="0">
                <a:latin typeface="Cambria"/>
                <a:cs typeface="Cambria"/>
              </a:rPr>
              <a:t>Mutable</a:t>
            </a:r>
            <a:r>
              <a:rPr sz="1400" b="1" spc="65" dirty="0">
                <a:latin typeface="Cambria"/>
                <a:cs typeface="Cambria"/>
              </a:rPr>
              <a:t> </a:t>
            </a:r>
            <a:r>
              <a:rPr sz="1400" b="1" spc="50" dirty="0">
                <a:latin typeface="Cambria"/>
                <a:cs typeface="Cambria"/>
              </a:rPr>
              <a:t>List</a:t>
            </a:r>
            <a:r>
              <a:rPr sz="1400" b="1" spc="45" dirty="0">
                <a:latin typeface="Cambria"/>
                <a:cs typeface="Cambria"/>
              </a:rPr>
              <a:t> </a:t>
            </a:r>
            <a:r>
              <a:rPr sz="1400" b="1" spc="40" dirty="0">
                <a:latin typeface="Cambria"/>
                <a:cs typeface="Cambria"/>
              </a:rPr>
              <a:t>Modification</a:t>
            </a:r>
            <a:endParaRPr sz="1400">
              <a:latin typeface="Cambria"/>
              <a:cs typeface="Cambria"/>
            </a:endParaRPr>
          </a:p>
          <a:p>
            <a:pPr marL="91440" marR="446405">
              <a:lnSpc>
                <a:spcPct val="100000"/>
              </a:lnSpc>
              <a:spcBef>
                <a:spcPts val="5"/>
              </a:spcBef>
            </a:pPr>
            <a:r>
              <a:rPr sz="1400" dirty="0">
                <a:latin typeface="Cambria"/>
                <a:cs typeface="Cambria"/>
              </a:rPr>
              <a:t>Lists</a:t>
            </a:r>
            <a:r>
              <a:rPr sz="1400" spc="105" dirty="0">
                <a:latin typeface="Cambria"/>
                <a:cs typeface="Cambria"/>
              </a:rPr>
              <a:t> </a:t>
            </a:r>
            <a:r>
              <a:rPr sz="1400" dirty="0">
                <a:latin typeface="Cambria"/>
                <a:cs typeface="Cambria"/>
              </a:rPr>
              <a:t>in</a:t>
            </a:r>
            <a:r>
              <a:rPr sz="1400" spc="114" dirty="0">
                <a:latin typeface="Cambria"/>
                <a:cs typeface="Cambria"/>
              </a:rPr>
              <a:t> </a:t>
            </a:r>
            <a:r>
              <a:rPr sz="1400" dirty="0">
                <a:latin typeface="Cambria"/>
                <a:cs typeface="Cambria"/>
              </a:rPr>
              <a:t>Python</a:t>
            </a:r>
            <a:r>
              <a:rPr sz="1400" spc="100" dirty="0">
                <a:latin typeface="Cambria"/>
                <a:cs typeface="Cambria"/>
              </a:rPr>
              <a:t> </a:t>
            </a:r>
            <a:r>
              <a:rPr sz="1400" dirty="0">
                <a:latin typeface="Cambria"/>
                <a:cs typeface="Cambria"/>
              </a:rPr>
              <a:t>are</a:t>
            </a:r>
            <a:r>
              <a:rPr sz="1400" spc="100" dirty="0">
                <a:latin typeface="Cambria"/>
                <a:cs typeface="Cambria"/>
              </a:rPr>
              <a:t> </a:t>
            </a:r>
            <a:r>
              <a:rPr sz="1400" spc="45" dirty="0">
                <a:latin typeface="Cambria"/>
                <a:cs typeface="Cambria"/>
              </a:rPr>
              <a:t>mutable,</a:t>
            </a:r>
            <a:r>
              <a:rPr sz="1400" spc="-45" dirty="0">
                <a:latin typeface="Cambria"/>
                <a:cs typeface="Cambria"/>
              </a:rPr>
              <a:t> </a:t>
            </a:r>
            <a:r>
              <a:rPr sz="1400" spc="60" dirty="0">
                <a:latin typeface="Cambria"/>
                <a:cs typeface="Cambria"/>
              </a:rPr>
              <a:t>meaning</a:t>
            </a:r>
            <a:r>
              <a:rPr sz="1400" spc="95" dirty="0">
                <a:latin typeface="Cambria"/>
                <a:cs typeface="Cambria"/>
              </a:rPr>
              <a:t> </a:t>
            </a:r>
            <a:r>
              <a:rPr sz="1400" dirty="0">
                <a:latin typeface="Cambria"/>
                <a:cs typeface="Cambria"/>
              </a:rPr>
              <a:t>their</a:t>
            </a:r>
            <a:r>
              <a:rPr sz="1400" spc="130" dirty="0">
                <a:latin typeface="Cambria"/>
                <a:cs typeface="Cambria"/>
              </a:rPr>
              <a:t> </a:t>
            </a:r>
            <a:r>
              <a:rPr sz="1400" dirty="0">
                <a:latin typeface="Cambria"/>
                <a:cs typeface="Cambria"/>
              </a:rPr>
              <a:t>contents</a:t>
            </a:r>
            <a:r>
              <a:rPr sz="1400" spc="95" dirty="0">
                <a:latin typeface="Cambria"/>
                <a:cs typeface="Cambria"/>
              </a:rPr>
              <a:t> </a:t>
            </a:r>
            <a:r>
              <a:rPr sz="1400" spc="55" dirty="0">
                <a:latin typeface="Cambria"/>
                <a:cs typeface="Cambria"/>
              </a:rPr>
              <a:t>can</a:t>
            </a:r>
            <a:r>
              <a:rPr sz="1400" spc="85" dirty="0">
                <a:latin typeface="Cambria"/>
                <a:cs typeface="Cambria"/>
              </a:rPr>
              <a:t> </a:t>
            </a:r>
            <a:r>
              <a:rPr sz="1400" spc="100" dirty="0">
                <a:latin typeface="Cambria"/>
                <a:cs typeface="Cambria"/>
              </a:rPr>
              <a:t>be </a:t>
            </a:r>
            <a:r>
              <a:rPr sz="1400" spc="80" dirty="0">
                <a:latin typeface="Cambria"/>
                <a:cs typeface="Cambria"/>
              </a:rPr>
              <a:t>changed</a:t>
            </a:r>
            <a:r>
              <a:rPr sz="1400" spc="65" dirty="0">
                <a:latin typeface="Cambria"/>
                <a:cs typeface="Cambria"/>
              </a:rPr>
              <a:t> </a:t>
            </a:r>
            <a:r>
              <a:rPr sz="1400" dirty="0">
                <a:latin typeface="Cambria"/>
                <a:cs typeface="Cambria"/>
              </a:rPr>
              <a:t>after</a:t>
            </a:r>
            <a:r>
              <a:rPr sz="1400" spc="105" dirty="0">
                <a:latin typeface="Cambria"/>
                <a:cs typeface="Cambria"/>
              </a:rPr>
              <a:t> </a:t>
            </a:r>
            <a:r>
              <a:rPr sz="1400" spc="-10" dirty="0">
                <a:latin typeface="Cambria"/>
                <a:cs typeface="Cambria"/>
              </a:rPr>
              <a:t>creation.</a:t>
            </a:r>
            <a:endParaRPr sz="1400">
              <a:latin typeface="Cambria"/>
              <a:cs typeface="Cambria"/>
            </a:endParaRPr>
          </a:p>
          <a:p>
            <a:pPr marL="91440">
              <a:lnSpc>
                <a:spcPct val="100000"/>
              </a:lnSpc>
            </a:pPr>
            <a:r>
              <a:rPr sz="1400" dirty="0">
                <a:latin typeface="Cambria"/>
                <a:cs typeface="Cambria"/>
              </a:rPr>
              <a:t>lst</a:t>
            </a:r>
            <a:r>
              <a:rPr sz="1400" spc="105" dirty="0">
                <a:latin typeface="Cambria"/>
                <a:cs typeface="Cambria"/>
              </a:rPr>
              <a:t> </a:t>
            </a:r>
            <a:r>
              <a:rPr sz="1400" spc="155" dirty="0">
                <a:latin typeface="Cambria"/>
                <a:cs typeface="Cambria"/>
              </a:rPr>
              <a:t>=</a:t>
            </a:r>
            <a:r>
              <a:rPr sz="1400" spc="105" dirty="0">
                <a:latin typeface="Cambria"/>
                <a:cs typeface="Cambria"/>
              </a:rPr>
              <a:t> </a:t>
            </a:r>
            <a:r>
              <a:rPr sz="1400" dirty="0">
                <a:latin typeface="Cambria"/>
                <a:cs typeface="Cambria"/>
              </a:rPr>
              <a:t>[1,</a:t>
            </a:r>
            <a:r>
              <a:rPr sz="1400" spc="-15" dirty="0">
                <a:latin typeface="Cambria"/>
                <a:cs typeface="Cambria"/>
              </a:rPr>
              <a:t> </a:t>
            </a:r>
            <a:r>
              <a:rPr sz="1400" dirty="0">
                <a:latin typeface="Cambria"/>
                <a:cs typeface="Cambria"/>
              </a:rPr>
              <a:t>2,</a:t>
            </a:r>
            <a:r>
              <a:rPr sz="1400" spc="-10" dirty="0">
                <a:latin typeface="Cambria"/>
                <a:cs typeface="Cambria"/>
              </a:rPr>
              <a:t> </a:t>
            </a:r>
            <a:r>
              <a:rPr sz="1400" spc="-25" dirty="0">
                <a:latin typeface="Cambria"/>
                <a:cs typeface="Cambria"/>
              </a:rPr>
              <a:t>3]</a:t>
            </a:r>
            <a:endParaRPr sz="1400">
              <a:latin typeface="Cambria"/>
              <a:cs typeface="Cambria"/>
            </a:endParaRPr>
          </a:p>
          <a:p>
            <a:pPr marL="91440" marR="1379220">
              <a:lnSpc>
                <a:spcPct val="100000"/>
              </a:lnSpc>
            </a:pPr>
            <a:r>
              <a:rPr sz="1400" dirty="0">
                <a:latin typeface="Cambria"/>
                <a:cs typeface="Cambria"/>
              </a:rPr>
              <a:t>lst[0]</a:t>
            </a:r>
            <a:r>
              <a:rPr sz="1400" spc="50" dirty="0">
                <a:latin typeface="Cambria"/>
                <a:cs typeface="Cambria"/>
              </a:rPr>
              <a:t> </a:t>
            </a:r>
            <a:r>
              <a:rPr sz="1400" spc="155" dirty="0">
                <a:latin typeface="Cambria"/>
                <a:cs typeface="Cambria"/>
              </a:rPr>
              <a:t>=</a:t>
            </a:r>
            <a:r>
              <a:rPr sz="1400" spc="45" dirty="0">
                <a:latin typeface="Cambria"/>
                <a:cs typeface="Cambria"/>
              </a:rPr>
              <a:t> </a:t>
            </a:r>
            <a:r>
              <a:rPr sz="1400" dirty="0">
                <a:latin typeface="Cambria"/>
                <a:cs typeface="Cambria"/>
              </a:rPr>
              <a:t>100</a:t>
            </a:r>
            <a:r>
              <a:rPr sz="1400" spc="430" dirty="0">
                <a:latin typeface="Cambria"/>
                <a:cs typeface="Cambria"/>
              </a:rPr>
              <a:t> </a:t>
            </a:r>
            <a:r>
              <a:rPr sz="1400" spc="65" dirty="0">
                <a:latin typeface="Cambria"/>
                <a:cs typeface="Cambria"/>
              </a:rPr>
              <a:t>#</a:t>
            </a:r>
            <a:r>
              <a:rPr sz="1400" spc="60" dirty="0">
                <a:latin typeface="Cambria"/>
                <a:cs typeface="Cambria"/>
              </a:rPr>
              <a:t> </a:t>
            </a:r>
            <a:r>
              <a:rPr sz="1400" spc="95" dirty="0">
                <a:latin typeface="Cambria"/>
                <a:cs typeface="Cambria"/>
              </a:rPr>
              <a:t>Changes</a:t>
            </a:r>
            <a:r>
              <a:rPr sz="1400" spc="45" dirty="0">
                <a:latin typeface="Cambria"/>
                <a:cs typeface="Cambria"/>
              </a:rPr>
              <a:t> </a:t>
            </a:r>
            <a:r>
              <a:rPr sz="1400" dirty="0">
                <a:latin typeface="Cambria"/>
                <a:cs typeface="Cambria"/>
              </a:rPr>
              <a:t>the</a:t>
            </a:r>
            <a:r>
              <a:rPr sz="1400" spc="10" dirty="0">
                <a:latin typeface="Cambria"/>
                <a:cs typeface="Cambria"/>
              </a:rPr>
              <a:t> </a:t>
            </a:r>
            <a:r>
              <a:rPr sz="1400" dirty="0">
                <a:latin typeface="Cambria"/>
                <a:cs typeface="Cambria"/>
              </a:rPr>
              <a:t>first</a:t>
            </a:r>
            <a:r>
              <a:rPr sz="1400" spc="60" dirty="0">
                <a:latin typeface="Cambria"/>
                <a:cs typeface="Cambria"/>
              </a:rPr>
              <a:t> </a:t>
            </a:r>
            <a:r>
              <a:rPr sz="1400" spc="50" dirty="0">
                <a:latin typeface="Cambria"/>
                <a:cs typeface="Cambria"/>
              </a:rPr>
              <a:t>element</a:t>
            </a:r>
            <a:r>
              <a:rPr sz="1400" spc="45" dirty="0">
                <a:latin typeface="Cambria"/>
                <a:cs typeface="Cambria"/>
              </a:rPr>
              <a:t> </a:t>
            </a:r>
            <a:r>
              <a:rPr sz="1400" dirty="0">
                <a:latin typeface="Cambria"/>
                <a:cs typeface="Cambria"/>
              </a:rPr>
              <a:t>to</a:t>
            </a:r>
            <a:r>
              <a:rPr sz="1400" spc="55" dirty="0">
                <a:latin typeface="Cambria"/>
                <a:cs typeface="Cambria"/>
              </a:rPr>
              <a:t> </a:t>
            </a:r>
            <a:r>
              <a:rPr sz="1400" spc="-25" dirty="0">
                <a:latin typeface="Cambria"/>
                <a:cs typeface="Cambria"/>
              </a:rPr>
              <a:t>100 </a:t>
            </a:r>
            <a:r>
              <a:rPr sz="1400" dirty="0">
                <a:latin typeface="Cambria"/>
                <a:cs typeface="Cambria"/>
              </a:rPr>
              <a:t>print(lst)</a:t>
            </a:r>
            <a:r>
              <a:rPr sz="1400" spc="95" dirty="0">
                <a:latin typeface="Cambria"/>
                <a:cs typeface="Cambria"/>
              </a:rPr>
              <a:t>  </a:t>
            </a:r>
            <a:r>
              <a:rPr sz="1400" spc="65" dirty="0">
                <a:latin typeface="Cambria"/>
                <a:cs typeface="Cambria"/>
              </a:rPr>
              <a:t>#</a:t>
            </a:r>
            <a:r>
              <a:rPr sz="1400" spc="110" dirty="0">
                <a:latin typeface="Cambria"/>
                <a:cs typeface="Cambria"/>
              </a:rPr>
              <a:t> </a:t>
            </a:r>
            <a:r>
              <a:rPr sz="1400" dirty="0">
                <a:latin typeface="Cambria"/>
                <a:cs typeface="Cambria"/>
              </a:rPr>
              <a:t>[100,</a:t>
            </a:r>
            <a:r>
              <a:rPr sz="1400" spc="-15" dirty="0">
                <a:latin typeface="Cambria"/>
                <a:cs typeface="Cambria"/>
              </a:rPr>
              <a:t> </a:t>
            </a:r>
            <a:r>
              <a:rPr sz="1400" dirty="0">
                <a:latin typeface="Cambria"/>
                <a:cs typeface="Cambria"/>
              </a:rPr>
              <a:t>2,</a:t>
            </a:r>
            <a:r>
              <a:rPr sz="1400" spc="-15" dirty="0">
                <a:latin typeface="Cambria"/>
                <a:cs typeface="Cambria"/>
              </a:rPr>
              <a:t> </a:t>
            </a:r>
            <a:r>
              <a:rPr sz="1400" spc="-25" dirty="0">
                <a:latin typeface="Cambria"/>
                <a:cs typeface="Cambria"/>
              </a:rPr>
              <a:t>3]</a:t>
            </a:r>
            <a:endParaRPr sz="1400">
              <a:latin typeface="Cambria"/>
              <a:cs typeface="Cambria"/>
            </a:endParaRPr>
          </a:p>
        </p:txBody>
      </p:sp>
      <p:sp>
        <p:nvSpPr>
          <p:cNvPr id="7" name="object 7"/>
          <p:cNvSpPr txBox="1"/>
          <p:nvPr/>
        </p:nvSpPr>
        <p:spPr>
          <a:xfrm>
            <a:off x="96011" y="2759964"/>
            <a:ext cx="6515100" cy="1661160"/>
          </a:xfrm>
          <a:prstGeom prst="rect">
            <a:avLst/>
          </a:prstGeom>
          <a:solidFill>
            <a:srgbClr val="E99D92"/>
          </a:solidFill>
          <a:ln w="9144">
            <a:solidFill>
              <a:srgbClr val="000000"/>
            </a:solidFill>
          </a:ln>
        </p:spPr>
        <p:txBody>
          <a:bodyPr vert="horz" wrap="square" lIns="0" tIns="40005" rIns="0" bIns="0" rtlCol="0">
            <a:spAutoFit/>
          </a:bodyPr>
          <a:lstStyle/>
          <a:p>
            <a:pPr marL="91440">
              <a:lnSpc>
                <a:spcPct val="100000"/>
              </a:lnSpc>
              <a:spcBef>
                <a:spcPts val="315"/>
              </a:spcBef>
            </a:pPr>
            <a:r>
              <a:rPr sz="1400" b="1" spc="55" dirty="0">
                <a:latin typeface="Cambria"/>
                <a:cs typeface="Cambria"/>
              </a:rPr>
              <a:t>Immutable</a:t>
            </a:r>
            <a:r>
              <a:rPr sz="1400" b="1" spc="30" dirty="0">
                <a:latin typeface="Cambria"/>
                <a:cs typeface="Cambria"/>
              </a:rPr>
              <a:t> </a:t>
            </a:r>
            <a:r>
              <a:rPr sz="1400" b="1" dirty="0">
                <a:latin typeface="Cambria"/>
                <a:cs typeface="Cambria"/>
              </a:rPr>
              <a:t>Tuple</a:t>
            </a:r>
            <a:r>
              <a:rPr sz="1400" b="1" spc="204" dirty="0">
                <a:latin typeface="Cambria"/>
                <a:cs typeface="Cambria"/>
              </a:rPr>
              <a:t> </a:t>
            </a:r>
            <a:r>
              <a:rPr sz="1400" b="1" spc="40" dirty="0">
                <a:latin typeface="Cambria"/>
                <a:cs typeface="Cambria"/>
              </a:rPr>
              <a:t>Modification</a:t>
            </a:r>
            <a:endParaRPr sz="1400" dirty="0">
              <a:latin typeface="Cambria"/>
              <a:cs typeface="Cambria"/>
            </a:endParaRPr>
          </a:p>
          <a:p>
            <a:pPr marL="91440" marR="436880">
              <a:lnSpc>
                <a:spcPct val="100000"/>
              </a:lnSpc>
              <a:spcBef>
                <a:spcPts val="5"/>
              </a:spcBef>
            </a:pPr>
            <a:r>
              <a:rPr sz="1400" spc="30" dirty="0">
                <a:latin typeface="Cambria"/>
                <a:cs typeface="Cambria"/>
              </a:rPr>
              <a:t>Tuples</a:t>
            </a:r>
            <a:r>
              <a:rPr sz="1400" spc="50" dirty="0">
                <a:latin typeface="Cambria"/>
                <a:cs typeface="Cambria"/>
              </a:rPr>
              <a:t> </a:t>
            </a:r>
            <a:r>
              <a:rPr sz="1400" spc="30" dirty="0">
                <a:latin typeface="Cambria"/>
                <a:cs typeface="Cambria"/>
              </a:rPr>
              <a:t>are</a:t>
            </a:r>
            <a:r>
              <a:rPr sz="1400" spc="50" dirty="0">
                <a:latin typeface="Cambria"/>
                <a:cs typeface="Cambria"/>
              </a:rPr>
              <a:t> </a:t>
            </a:r>
            <a:r>
              <a:rPr sz="1400" spc="30" dirty="0">
                <a:latin typeface="Cambria"/>
                <a:cs typeface="Cambria"/>
              </a:rPr>
              <a:t>immutable,</a:t>
            </a:r>
            <a:r>
              <a:rPr sz="1400" spc="-70" dirty="0">
                <a:latin typeface="Cambria"/>
                <a:cs typeface="Cambria"/>
              </a:rPr>
              <a:t> </a:t>
            </a:r>
            <a:r>
              <a:rPr sz="1400" spc="50" dirty="0">
                <a:latin typeface="Cambria"/>
                <a:cs typeface="Cambria"/>
              </a:rPr>
              <a:t>so</a:t>
            </a:r>
            <a:r>
              <a:rPr sz="1400" spc="45" dirty="0">
                <a:latin typeface="Cambria"/>
                <a:cs typeface="Cambria"/>
              </a:rPr>
              <a:t> </a:t>
            </a:r>
            <a:r>
              <a:rPr sz="1400" spc="30" dirty="0">
                <a:latin typeface="Cambria"/>
                <a:cs typeface="Cambria"/>
              </a:rPr>
              <a:t>their</a:t>
            </a:r>
            <a:r>
              <a:rPr sz="1400" spc="65" dirty="0">
                <a:latin typeface="Cambria"/>
                <a:cs typeface="Cambria"/>
              </a:rPr>
              <a:t> </a:t>
            </a:r>
            <a:r>
              <a:rPr sz="1400" spc="30" dirty="0">
                <a:latin typeface="Cambria"/>
                <a:cs typeface="Cambria"/>
              </a:rPr>
              <a:t>contents</a:t>
            </a:r>
            <a:r>
              <a:rPr sz="1400" spc="40" dirty="0">
                <a:latin typeface="Cambria"/>
                <a:cs typeface="Cambria"/>
              </a:rPr>
              <a:t> </a:t>
            </a:r>
            <a:r>
              <a:rPr sz="1400" spc="30" dirty="0">
                <a:latin typeface="Cambria"/>
                <a:cs typeface="Cambria"/>
              </a:rPr>
              <a:t>cannot </a:t>
            </a:r>
            <a:r>
              <a:rPr sz="1400" spc="125" dirty="0">
                <a:latin typeface="Cambria"/>
                <a:cs typeface="Cambria"/>
              </a:rPr>
              <a:t>be</a:t>
            </a:r>
            <a:r>
              <a:rPr sz="1400" spc="45" dirty="0">
                <a:latin typeface="Cambria"/>
                <a:cs typeface="Cambria"/>
              </a:rPr>
              <a:t> </a:t>
            </a:r>
            <a:r>
              <a:rPr sz="1400" spc="80" dirty="0">
                <a:latin typeface="Cambria"/>
                <a:cs typeface="Cambria"/>
              </a:rPr>
              <a:t>changed</a:t>
            </a:r>
            <a:r>
              <a:rPr sz="1400" spc="35" dirty="0">
                <a:latin typeface="Cambria"/>
                <a:cs typeface="Cambria"/>
              </a:rPr>
              <a:t> </a:t>
            </a:r>
            <a:r>
              <a:rPr sz="1400" spc="30" dirty="0">
                <a:latin typeface="Cambria"/>
                <a:cs typeface="Cambria"/>
              </a:rPr>
              <a:t>after</a:t>
            </a:r>
            <a:r>
              <a:rPr sz="1400" spc="60" dirty="0">
                <a:latin typeface="Cambria"/>
                <a:cs typeface="Cambria"/>
              </a:rPr>
              <a:t> </a:t>
            </a:r>
            <a:r>
              <a:rPr sz="1400" spc="-10" dirty="0">
                <a:latin typeface="Cambria"/>
                <a:cs typeface="Cambria"/>
              </a:rPr>
              <a:t>creation.</a:t>
            </a:r>
            <a:r>
              <a:rPr sz="1400" spc="500" dirty="0">
                <a:latin typeface="Cambria"/>
                <a:cs typeface="Cambria"/>
              </a:rPr>
              <a:t> </a:t>
            </a:r>
            <a:r>
              <a:rPr sz="1400" dirty="0">
                <a:latin typeface="Cambria"/>
                <a:cs typeface="Cambria"/>
              </a:rPr>
              <a:t>t</a:t>
            </a:r>
            <a:r>
              <a:rPr sz="1400" spc="80" dirty="0">
                <a:latin typeface="Cambria"/>
                <a:cs typeface="Cambria"/>
              </a:rPr>
              <a:t> </a:t>
            </a:r>
            <a:r>
              <a:rPr sz="1400" spc="155" dirty="0">
                <a:latin typeface="Cambria"/>
                <a:cs typeface="Cambria"/>
              </a:rPr>
              <a:t>=</a:t>
            </a:r>
            <a:r>
              <a:rPr sz="1400" spc="80" dirty="0">
                <a:latin typeface="Cambria"/>
                <a:cs typeface="Cambria"/>
              </a:rPr>
              <a:t> </a:t>
            </a:r>
            <a:r>
              <a:rPr sz="1400" dirty="0">
                <a:latin typeface="Cambria"/>
                <a:cs typeface="Cambria"/>
              </a:rPr>
              <a:t>(1,</a:t>
            </a:r>
            <a:r>
              <a:rPr sz="1400" spc="-45" dirty="0">
                <a:latin typeface="Cambria"/>
                <a:cs typeface="Cambria"/>
              </a:rPr>
              <a:t> </a:t>
            </a:r>
            <a:r>
              <a:rPr sz="1400" dirty="0">
                <a:latin typeface="Cambria"/>
                <a:cs typeface="Cambria"/>
              </a:rPr>
              <a:t>2,</a:t>
            </a:r>
            <a:r>
              <a:rPr sz="1400" spc="-35" dirty="0">
                <a:latin typeface="Cambria"/>
                <a:cs typeface="Cambria"/>
              </a:rPr>
              <a:t> </a:t>
            </a:r>
            <a:r>
              <a:rPr sz="1400" spc="-25" dirty="0">
                <a:latin typeface="Cambria"/>
                <a:cs typeface="Cambria"/>
              </a:rPr>
              <a:t>3)</a:t>
            </a:r>
            <a:endParaRPr sz="1400" dirty="0">
              <a:latin typeface="Cambria"/>
              <a:cs typeface="Cambria"/>
            </a:endParaRPr>
          </a:p>
          <a:p>
            <a:pPr marL="91440" marR="2177415">
              <a:lnSpc>
                <a:spcPct val="100000"/>
              </a:lnSpc>
            </a:pPr>
            <a:r>
              <a:rPr sz="1400" spc="65" dirty="0">
                <a:latin typeface="Cambria"/>
                <a:cs typeface="Cambria"/>
              </a:rPr>
              <a:t>#</a:t>
            </a:r>
            <a:r>
              <a:rPr sz="1400" spc="20" dirty="0">
                <a:latin typeface="Cambria"/>
                <a:cs typeface="Cambria"/>
              </a:rPr>
              <a:t> </a:t>
            </a:r>
            <a:r>
              <a:rPr sz="1400" spc="50" dirty="0">
                <a:latin typeface="Cambria"/>
                <a:cs typeface="Cambria"/>
              </a:rPr>
              <a:t>Trying</a:t>
            </a:r>
            <a:r>
              <a:rPr sz="1400" spc="65" dirty="0">
                <a:latin typeface="Cambria"/>
                <a:cs typeface="Cambria"/>
              </a:rPr>
              <a:t> </a:t>
            </a:r>
            <a:r>
              <a:rPr sz="1400" dirty="0">
                <a:latin typeface="Cambria"/>
                <a:cs typeface="Cambria"/>
              </a:rPr>
              <a:t>to</a:t>
            </a:r>
            <a:r>
              <a:rPr sz="1400" spc="70" dirty="0">
                <a:latin typeface="Cambria"/>
                <a:cs typeface="Cambria"/>
              </a:rPr>
              <a:t> </a:t>
            </a:r>
            <a:r>
              <a:rPr sz="1400" spc="75" dirty="0">
                <a:latin typeface="Cambria"/>
                <a:cs typeface="Cambria"/>
              </a:rPr>
              <a:t>change</a:t>
            </a:r>
            <a:r>
              <a:rPr sz="1400" spc="45" dirty="0">
                <a:latin typeface="Cambria"/>
                <a:cs typeface="Cambria"/>
              </a:rPr>
              <a:t> </a:t>
            </a:r>
            <a:r>
              <a:rPr sz="1400" dirty="0">
                <a:latin typeface="Cambria"/>
                <a:cs typeface="Cambria"/>
              </a:rPr>
              <a:t>an</a:t>
            </a:r>
            <a:r>
              <a:rPr sz="1400" spc="65" dirty="0">
                <a:latin typeface="Cambria"/>
                <a:cs typeface="Cambria"/>
              </a:rPr>
              <a:t> </a:t>
            </a:r>
            <a:r>
              <a:rPr sz="1400" spc="50" dirty="0">
                <a:latin typeface="Cambria"/>
                <a:cs typeface="Cambria"/>
              </a:rPr>
              <a:t>element</a:t>
            </a:r>
            <a:r>
              <a:rPr sz="1400" spc="70" dirty="0">
                <a:latin typeface="Cambria"/>
                <a:cs typeface="Cambria"/>
              </a:rPr>
              <a:t> </a:t>
            </a:r>
            <a:r>
              <a:rPr sz="1400" dirty="0">
                <a:latin typeface="Cambria"/>
                <a:cs typeface="Cambria"/>
              </a:rPr>
              <a:t>will</a:t>
            </a:r>
            <a:r>
              <a:rPr sz="1400" spc="75" dirty="0">
                <a:latin typeface="Cambria"/>
                <a:cs typeface="Cambria"/>
              </a:rPr>
              <a:t> </a:t>
            </a:r>
            <a:r>
              <a:rPr sz="1400" dirty="0">
                <a:latin typeface="Cambria"/>
                <a:cs typeface="Cambria"/>
              </a:rPr>
              <a:t>result</a:t>
            </a:r>
            <a:r>
              <a:rPr sz="1400" spc="70" dirty="0">
                <a:latin typeface="Cambria"/>
                <a:cs typeface="Cambria"/>
              </a:rPr>
              <a:t> </a:t>
            </a:r>
            <a:r>
              <a:rPr sz="1400" dirty="0">
                <a:latin typeface="Cambria"/>
                <a:cs typeface="Cambria"/>
              </a:rPr>
              <a:t>in</a:t>
            </a:r>
            <a:r>
              <a:rPr sz="1400" spc="80" dirty="0">
                <a:latin typeface="Cambria"/>
                <a:cs typeface="Cambria"/>
              </a:rPr>
              <a:t> </a:t>
            </a:r>
            <a:r>
              <a:rPr sz="1400" dirty="0">
                <a:latin typeface="Cambria"/>
                <a:cs typeface="Cambria"/>
              </a:rPr>
              <a:t>an</a:t>
            </a:r>
            <a:r>
              <a:rPr sz="1400" spc="80" dirty="0">
                <a:latin typeface="Cambria"/>
                <a:cs typeface="Cambria"/>
              </a:rPr>
              <a:t> </a:t>
            </a:r>
            <a:r>
              <a:rPr sz="1400" spc="-10" dirty="0">
                <a:latin typeface="Cambria"/>
                <a:cs typeface="Cambria"/>
              </a:rPr>
              <a:t>error </a:t>
            </a:r>
            <a:r>
              <a:rPr sz="1400" spc="65" dirty="0">
                <a:latin typeface="Cambria"/>
                <a:cs typeface="Cambria"/>
              </a:rPr>
              <a:t>#</a:t>
            </a:r>
            <a:r>
              <a:rPr sz="1400" spc="35" dirty="0">
                <a:latin typeface="Cambria"/>
                <a:cs typeface="Cambria"/>
              </a:rPr>
              <a:t> </a:t>
            </a:r>
            <a:r>
              <a:rPr sz="1400" dirty="0">
                <a:latin typeface="Cambria"/>
                <a:cs typeface="Cambria"/>
              </a:rPr>
              <a:t>t[0]</a:t>
            </a:r>
            <a:r>
              <a:rPr sz="1400" spc="45" dirty="0">
                <a:latin typeface="Cambria"/>
                <a:cs typeface="Cambria"/>
              </a:rPr>
              <a:t> </a:t>
            </a:r>
            <a:r>
              <a:rPr sz="1400" spc="155" dirty="0">
                <a:latin typeface="Cambria"/>
                <a:cs typeface="Cambria"/>
              </a:rPr>
              <a:t>=</a:t>
            </a:r>
            <a:r>
              <a:rPr sz="1400" spc="35" dirty="0">
                <a:latin typeface="Cambria"/>
                <a:cs typeface="Cambria"/>
              </a:rPr>
              <a:t> </a:t>
            </a:r>
            <a:r>
              <a:rPr sz="1400" spc="-25" dirty="0">
                <a:latin typeface="Cambria"/>
                <a:cs typeface="Cambria"/>
              </a:rPr>
              <a:t>100</a:t>
            </a:r>
            <a:endParaRPr sz="1400" dirty="0">
              <a:latin typeface="Cambria"/>
              <a:cs typeface="Cambria"/>
            </a:endParaRPr>
          </a:p>
          <a:p>
            <a:pPr marL="91440">
              <a:lnSpc>
                <a:spcPct val="100000"/>
              </a:lnSpc>
            </a:pPr>
            <a:r>
              <a:rPr sz="1400" spc="65" dirty="0">
                <a:latin typeface="Cambria"/>
                <a:cs typeface="Cambria"/>
              </a:rPr>
              <a:t>#</a:t>
            </a:r>
            <a:r>
              <a:rPr sz="1400" spc="55" dirty="0">
                <a:latin typeface="Cambria"/>
                <a:cs typeface="Cambria"/>
              </a:rPr>
              <a:t> </a:t>
            </a:r>
            <a:r>
              <a:rPr sz="1400" spc="60" dirty="0">
                <a:latin typeface="Cambria"/>
                <a:cs typeface="Cambria"/>
              </a:rPr>
              <a:t>Type</a:t>
            </a:r>
            <a:r>
              <a:rPr sz="1400" spc="105" dirty="0">
                <a:latin typeface="Cambria"/>
                <a:cs typeface="Cambria"/>
              </a:rPr>
              <a:t> </a:t>
            </a:r>
            <a:r>
              <a:rPr sz="1400" dirty="0">
                <a:latin typeface="Cambria"/>
                <a:cs typeface="Cambria"/>
              </a:rPr>
              <a:t>Error:</a:t>
            </a:r>
            <a:r>
              <a:rPr sz="1400" spc="-35" dirty="0">
                <a:latin typeface="Cambria"/>
                <a:cs typeface="Cambria"/>
              </a:rPr>
              <a:t> </a:t>
            </a:r>
            <a:r>
              <a:rPr sz="1400" dirty="0">
                <a:latin typeface="Cambria"/>
                <a:cs typeface="Cambria"/>
              </a:rPr>
              <a:t>'tuple'</a:t>
            </a:r>
            <a:r>
              <a:rPr sz="1400" spc="120" dirty="0">
                <a:latin typeface="Cambria"/>
                <a:cs typeface="Cambria"/>
              </a:rPr>
              <a:t> </a:t>
            </a:r>
            <a:r>
              <a:rPr sz="1400" spc="65" dirty="0">
                <a:latin typeface="Cambria"/>
                <a:cs typeface="Cambria"/>
              </a:rPr>
              <a:t>object</a:t>
            </a:r>
            <a:r>
              <a:rPr sz="1400" spc="95" dirty="0">
                <a:latin typeface="Cambria"/>
                <a:cs typeface="Cambria"/>
              </a:rPr>
              <a:t> </a:t>
            </a:r>
            <a:r>
              <a:rPr sz="1400" spc="75" dirty="0">
                <a:latin typeface="Cambria"/>
                <a:cs typeface="Cambria"/>
              </a:rPr>
              <a:t>does</a:t>
            </a:r>
            <a:r>
              <a:rPr sz="1400" spc="110" dirty="0">
                <a:latin typeface="Cambria"/>
                <a:cs typeface="Cambria"/>
              </a:rPr>
              <a:t> </a:t>
            </a:r>
            <a:r>
              <a:rPr sz="1400" dirty="0">
                <a:latin typeface="Cambria"/>
                <a:cs typeface="Cambria"/>
              </a:rPr>
              <a:t>not</a:t>
            </a:r>
            <a:r>
              <a:rPr sz="1400" spc="95" dirty="0">
                <a:latin typeface="Cambria"/>
                <a:cs typeface="Cambria"/>
              </a:rPr>
              <a:t> </a:t>
            </a:r>
            <a:r>
              <a:rPr sz="1400" dirty="0">
                <a:latin typeface="Cambria"/>
                <a:cs typeface="Cambria"/>
              </a:rPr>
              <a:t>support</a:t>
            </a:r>
            <a:r>
              <a:rPr sz="1400" spc="95" dirty="0">
                <a:latin typeface="Cambria"/>
                <a:cs typeface="Cambria"/>
              </a:rPr>
              <a:t> </a:t>
            </a:r>
            <a:r>
              <a:rPr sz="1400" dirty="0">
                <a:latin typeface="Cambria"/>
                <a:cs typeface="Cambria"/>
              </a:rPr>
              <a:t>item</a:t>
            </a:r>
            <a:r>
              <a:rPr sz="1400" spc="125" dirty="0">
                <a:latin typeface="Cambria"/>
                <a:cs typeface="Cambria"/>
              </a:rPr>
              <a:t> </a:t>
            </a:r>
            <a:r>
              <a:rPr sz="1400" spc="-10" dirty="0">
                <a:latin typeface="Cambria"/>
                <a:cs typeface="Cambria"/>
              </a:rPr>
              <a:t>assignment</a:t>
            </a:r>
            <a:endParaRPr sz="1400" dirty="0">
              <a:latin typeface="Cambria"/>
              <a:cs typeface="Cambria"/>
            </a:endParaRPr>
          </a:p>
        </p:txBody>
      </p:sp>
      <p:sp>
        <p:nvSpPr>
          <p:cNvPr id="8" name="object 8"/>
          <p:cNvSpPr txBox="1"/>
          <p:nvPr/>
        </p:nvSpPr>
        <p:spPr>
          <a:xfrm>
            <a:off x="96011" y="4579620"/>
            <a:ext cx="6515100" cy="2092960"/>
          </a:xfrm>
          <a:prstGeom prst="rect">
            <a:avLst/>
          </a:prstGeom>
          <a:solidFill>
            <a:srgbClr val="F9D9CD"/>
          </a:solidFill>
          <a:ln w="9144">
            <a:solidFill>
              <a:srgbClr val="000000"/>
            </a:solidFill>
          </a:ln>
        </p:spPr>
        <p:txBody>
          <a:bodyPr vert="horz" wrap="square" lIns="0" tIns="40005" rIns="0" bIns="0" rtlCol="0">
            <a:spAutoFit/>
          </a:bodyPr>
          <a:lstStyle/>
          <a:p>
            <a:pPr marL="91440">
              <a:lnSpc>
                <a:spcPct val="100000"/>
              </a:lnSpc>
              <a:spcBef>
                <a:spcPts val="315"/>
              </a:spcBef>
            </a:pPr>
            <a:r>
              <a:rPr sz="1600" b="1" spc="65" dirty="0">
                <a:latin typeface="Cambria"/>
                <a:cs typeface="Cambria"/>
              </a:rPr>
              <a:t>Immutable</a:t>
            </a:r>
            <a:r>
              <a:rPr sz="1600" b="1" spc="190" dirty="0">
                <a:latin typeface="Cambria"/>
                <a:cs typeface="Cambria"/>
              </a:rPr>
              <a:t> </a:t>
            </a:r>
            <a:r>
              <a:rPr sz="1600" b="1" dirty="0">
                <a:latin typeface="Cambria"/>
                <a:cs typeface="Cambria"/>
              </a:rPr>
              <a:t>Integer</a:t>
            </a:r>
            <a:r>
              <a:rPr sz="1600" b="1" spc="200" dirty="0">
                <a:latin typeface="Cambria"/>
                <a:cs typeface="Cambria"/>
              </a:rPr>
              <a:t> </a:t>
            </a:r>
            <a:r>
              <a:rPr sz="1600" b="1" spc="50" dirty="0">
                <a:latin typeface="Cambria"/>
                <a:cs typeface="Cambria"/>
              </a:rPr>
              <a:t>Modification</a:t>
            </a:r>
            <a:endParaRPr sz="1600">
              <a:latin typeface="Cambria"/>
              <a:cs typeface="Cambria"/>
            </a:endParaRPr>
          </a:p>
          <a:p>
            <a:pPr marL="91440">
              <a:lnSpc>
                <a:spcPct val="100000"/>
              </a:lnSpc>
            </a:pPr>
            <a:r>
              <a:rPr sz="1600" spc="50" dirty="0">
                <a:latin typeface="Cambria"/>
                <a:cs typeface="Cambria"/>
              </a:rPr>
              <a:t>Integers</a:t>
            </a:r>
            <a:r>
              <a:rPr sz="1600" spc="110" dirty="0">
                <a:latin typeface="Cambria"/>
                <a:cs typeface="Cambria"/>
              </a:rPr>
              <a:t> </a:t>
            </a:r>
            <a:r>
              <a:rPr sz="1600" dirty="0">
                <a:latin typeface="Cambria"/>
                <a:cs typeface="Cambria"/>
              </a:rPr>
              <a:t>are</a:t>
            </a:r>
            <a:r>
              <a:rPr sz="1600" spc="95" dirty="0">
                <a:latin typeface="Cambria"/>
                <a:cs typeface="Cambria"/>
              </a:rPr>
              <a:t> </a:t>
            </a:r>
            <a:r>
              <a:rPr sz="1600" spc="45" dirty="0">
                <a:latin typeface="Cambria"/>
                <a:cs typeface="Cambria"/>
              </a:rPr>
              <a:t>immutable.</a:t>
            </a:r>
            <a:r>
              <a:rPr sz="1600" spc="-175" dirty="0">
                <a:latin typeface="Cambria"/>
                <a:cs typeface="Cambria"/>
              </a:rPr>
              <a:t> </a:t>
            </a:r>
            <a:r>
              <a:rPr sz="1600" spc="70" dirty="0">
                <a:latin typeface="Cambria"/>
                <a:cs typeface="Cambria"/>
              </a:rPr>
              <a:t>When</a:t>
            </a:r>
            <a:r>
              <a:rPr sz="1600" spc="95" dirty="0">
                <a:latin typeface="Cambria"/>
                <a:cs typeface="Cambria"/>
              </a:rPr>
              <a:t> </a:t>
            </a:r>
            <a:r>
              <a:rPr sz="1600" dirty="0">
                <a:latin typeface="Cambria"/>
                <a:cs typeface="Cambria"/>
              </a:rPr>
              <a:t>you</a:t>
            </a:r>
            <a:r>
              <a:rPr sz="1600" spc="95" dirty="0">
                <a:latin typeface="Cambria"/>
                <a:cs typeface="Cambria"/>
              </a:rPr>
              <a:t> </a:t>
            </a:r>
            <a:r>
              <a:rPr sz="1600" spc="85" dirty="0">
                <a:latin typeface="Cambria"/>
                <a:cs typeface="Cambria"/>
              </a:rPr>
              <a:t>change</a:t>
            </a:r>
            <a:r>
              <a:rPr sz="1600" spc="105" dirty="0">
                <a:latin typeface="Cambria"/>
                <a:cs typeface="Cambria"/>
              </a:rPr>
              <a:t> </a:t>
            </a:r>
            <a:r>
              <a:rPr sz="1600" dirty="0">
                <a:latin typeface="Cambria"/>
                <a:cs typeface="Cambria"/>
              </a:rPr>
              <a:t>an</a:t>
            </a:r>
            <a:r>
              <a:rPr sz="1600" spc="90" dirty="0">
                <a:latin typeface="Cambria"/>
                <a:cs typeface="Cambria"/>
              </a:rPr>
              <a:t> </a:t>
            </a:r>
            <a:r>
              <a:rPr sz="1600" spc="50" dirty="0">
                <a:latin typeface="Cambria"/>
                <a:cs typeface="Cambria"/>
              </a:rPr>
              <a:t>integer</a:t>
            </a:r>
            <a:r>
              <a:rPr sz="1600" spc="90" dirty="0">
                <a:latin typeface="Cambria"/>
                <a:cs typeface="Cambria"/>
              </a:rPr>
              <a:t> </a:t>
            </a:r>
            <a:r>
              <a:rPr sz="1600" spc="-10" dirty="0">
                <a:latin typeface="Cambria"/>
                <a:cs typeface="Cambria"/>
              </a:rPr>
              <a:t>variable's</a:t>
            </a:r>
            <a:endParaRPr sz="1600">
              <a:latin typeface="Cambria"/>
              <a:cs typeface="Cambria"/>
            </a:endParaRPr>
          </a:p>
          <a:p>
            <a:pPr marL="91440">
              <a:lnSpc>
                <a:spcPct val="100000"/>
              </a:lnSpc>
            </a:pPr>
            <a:r>
              <a:rPr sz="1600" spc="55" dirty="0">
                <a:latin typeface="Cambria"/>
                <a:cs typeface="Cambria"/>
              </a:rPr>
              <a:t>value,</a:t>
            </a:r>
            <a:r>
              <a:rPr sz="1600" spc="-25" dirty="0">
                <a:latin typeface="Cambria"/>
                <a:cs typeface="Cambria"/>
              </a:rPr>
              <a:t> </a:t>
            </a:r>
            <a:r>
              <a:rPr sz="1600" dirty="0">
                <a:latin typeface="Cambria"/>
                <a:cs typeface="Cambria"/>
              </a:rPr>
              <a:t>you're</a:t>
            </a:r>
            <a:r>
              <a:rPr sz="1600" spc="135" dirty="0">
                <a:latin typeface="Cambria"/>
                <a:cs typeface="Cambria"/>
              </a:rPr>
              <a:t> </a:t>
            </a:r>
            <a:r>
              <a:rPr sz="1600" dirty="0">
                <a:latin typeface="Cambria"/>
                <a:cs typeface="Cambria"/>
              </a:rPr>
              <a:t>actually</a:t>
            </a:r>
            <a:r>
              <a:rPr sz="1600" spc="145" dirty="0">
                <a:latin typeface="Cambria"/>
                <a:cs typeface="Cambria"/>
              </a:rPr>
              <a:t> </a:t>
            </a:r>
            <a:r>
              <a:rPr sz="1600" dirty="0">
                <a:latin typeface="Cambria"/>
                <a:cs typeface="Cambria"/>
              </a:rPr>
              <a:t>pointing</a:t>
            </a:r>
            <a:r>
              <a:rPr sz="1600" spc="135" dirty="0">
                <a:latin typeface="Cambria"/>
                <a:cs typeface="Cambria"/>
              </a:rPr>
              <a:t> </a:t>
            </a:r>
            <a:r>
              <a:rPr sz="1600" dirty="0">
                <a:latin typeface="Cambria"/>
                <a:cs typeface="Cambria"/>
              </a:rPr>
              <a:t>it</a:t>
            </a:r>
            <a:r>
              <a:rPr sz="1600" spc="130" dirty="0">
                <a:latin typeface="Cambria"/>
                <a:cs typeface="Cambria"/>
              </a:rPr>
              <a:t> </a:t>
            </a:r>
            <a:r>
              <a:rPr sz="1600" dirty="0">
                <a:latin typeface="Cambria"/>
                <a:cs typeface="Cambria"/>
              </a:rPr>
              <a:t>to</a:t>
            </a:r>
            <a:r>
              <a:rPr sz="1600" spc="135" dirty="0">
                <a:latin typeface="Cambria"/>
                <a:cs typeface="Cambria"/>
              </a:rPr>
              <a:t> </a:t>
            </a:r>
            <a:r>
              <a:rPr sz="1600" spc="55" dirty="0">
                <a:latin typeface="Cambria"/>
                <a:cs typeface="Cambria"/>
              </a:rPr>
              <a:t>a</a:t>
            </a:r>
            <a:r>
              <a:rPr sz="1600" spc="150" dirty="0">
                <a:latin typeface="Cambria"/>
                <a:cs typeface="Cambria"/>
              </a:rPr>
              <a:t> </a:t>
            </a:r>
            <a:r>
              <a:rPr sz="1600" dirty="0">
                <a:latin typeface="Cambria"/>
                <a:cs typeface="Cambria"/>
              </a:rPr>
              <a:t>new</a:t>
            </a:r>
            <a:r>
              <a:rPr sz="1600" spc="140" dirty="0">
                <a:latin typeface="Cambria"/>
                <a:cs typeface="Cambria"/>
              </a:rPr>
              <a:t> </a:t>
            </a:r>
            <a:r>
              <a:rPr sz="1600" spc="55" dirty="0">
                <a:latin typeface="Cambria"/>
                <a:cs typeface="Cambria"/>
              </a:rPr>
              <a:t>integer</a:t>
            </a:r>
            <a:r>
              <a:rPr sz="1600" spc="145" dirty="0">
                <a:latin typeface="Cambria"/>
                <a:cs typeface="Cambria"/>
              </a:rPr>
              <a:t> </a:t>
            </a:r>
            <a:r>
              <a:rPr sz="1600" spc="65" dirty="0">
                <a:latin typeface="Cambria"/>
                <a:cs typeface="Cambria"/>
              </a:rPr>
              <a:t>object.</a:t>
            </a:r>
            <a:endParaRPr sz="1600">
              <a:latin typeface="Cambria"/>
              <a:cs typeface="Cambria"/>
            </a:endParaRPr>
          </a:p>
          <a:p>
            <a:pPr marL="91440">
              <a:lnSpc>
                <a:spcPct val="100000"/>
              </a:lnSpc>
              <a:spcBef>
                <a:spcPts val="5"/>
              </a:spcBef>
            </a:pPr>
            <a:r>
              <a:rPr sz="1600" spc="100" dirty="0">
                <a:latin typeface="Cambria"/>
                <a:cs typeface="Cambria"/>
              </a:rPr>
              <a:t>x</a:t>
            </a:r>
            <a:r>
              <a:rPr sz="1600" spc="50" dirty="0">
                <a:latin typeface="Cambria"/>
                <a:cs typeface="Cambria"/>
              </a:rPr>
              <a:t> </a:t>
            </a:r>
            <a:r>
              <a:rPr sz="1600" spc="165" dirty="0">
                <a:latin typeface="Cambria"/>
                <a:cs typeface="Cambria"/>
              </a:rPr>
              <a:t>=</a:t>
            </a:r>
            <a:r>
              <a:rPr sz="1600" spc="45" dirty="0">
                <a:latin typeface="Cambria"/>
                <a:cs typeface="Cambria"/>
              </a:rPr>
              <a:t> </a:t>
            </a:r>
            <a:r>
              <a:rPr sz="1600" spc="-25" dirty="0">
                <a:latin typeface="Cambria"/>
                <a:cs typeface="Cambria"/>
              </a:rPr>
              <a:t>10</a:t>
            </a:r>
            <a:endParaRPr sz="1600">
              <a:latin typeface="Cambria"/>
              <a:cs typeface="Cambria"/>
            </a:endParaRPr>
          </a:p>
          <a:p>
            <a:pPr marL="91440" marR="5820410">
              <a:lnSpc>
                <a:spcPct val="100000"/>
              </a:lnSpc>
            </a:pPr>
            <a:r>
              <a:rPr sz="1600" spc="80" dirty="0">
                <a:latin typeface="Cambria"/>
                <a:cs typeface="Cambria"/>
              </a:rPr>
              <a:t>y</a:t>
            </a:r>
            <a:r>
              <a:rPr sz="1600" spc="45" dirty="0">
                <a:latin typeface="Cambria"/>
                <a:cs typeface="Cambria"/>
              </a:rPr>
              <a:t> </a:t>
            </a:r>
            <a:r>
              <a:rPr sz="1600" spc="165" dirty="0">
                <a:latin typeface="Cambria"/>
                <a:cs typeface="Cambria"/>
              </a:rPr>
              <a:t>=</a:t>
            </a:r>
            <a:r>
              <a:rPr sz="1600" spc="45" dirty="0">
                <a:latin typeface="Cambria"/>
                <a:cs typeface="Cambria"/>
              </a:rPr>
              <a:t> </a:t>
            </a:r>
            <a:r>
              <a:rPr sz="1600" spc="50" dirty="0">
                <a:latin typeface="Cambria"/>
                <a:cs typeface="Cambria"/>
              </a:rPr>
              <a:t>x</a:t>
            </a:r>
            <a:r>
              <a:rPr sz="1600" spc="500" dirty="0">
                <a:latin typeface="Cambria"/>
                <a:cs typeface="Cambria"/>
              </a:rPr>
              <a:t> </a:t>
            </a:r>
            <a:r>
              <a:rPr sz="1600" spc="100" dirty="0">
                <a:latin typeface="Cambria"/>
                <a:cs typeface="Cambria"/>
              </a:rPr>
              <a:t>x</a:t>
            </a:r>
            <a:r>
              <a:rPr sz="1600" spc="50" dirty="0">
                <a:latin typeface="Cambria"/>
                <a:cs typeface="Cambria"/>
              </a:rPr>
              <a:t> </a:t>
            </a:r>
            <a:r>
              <a:rPr sz="1600" spc="165" dirty="0">
                <a:latin typeface="Cambria"/>
                <a:cs typeface="Cambria"/>
              </a:rPr>
              <a:t>+=</a:t>
            </a:r>
            <a:r>
              <a:rPr sz="1600" spc="55" dirty="0">
                <a:latin typeface="Cambria"/>
                <a:cs typeface="Cambria"/>
              </a:rPr>
              <a:t> </a:t>
            </a:r>
            <a:r>
              <a:rPr sz="1600" spc="-50" dirty="0">
                <a:latin typeface="Cambria"/>
                <a:cs typeface="Cambria"/>
              </a:rPr>
              <a:t>5</a:t>
            </a:r>
            <a:endParaRPr sz="1600">
              <a:latin typeface="Cambria"/>
              <a:cs typeface="Cambria"/>
            </a:endParaRPr>
          </a:p>
          <a:p>
            <a:pPr marL="91440">
              <a:lnSpc>
                <a:spcPct val="100000"/>
              </a:lnSpc>
            </a:pPr>
            <a:r>
              <a:rPr sz="1600" dirty="0">
                <a:latin typeface="Cambria"/>
                <a:cs typeface="Cambria"/>
              </a:rPr>
              <a:t>print(y)</a:t>
            </a:r>
            <a:r>
              <a:rPr sz="1600" spc="114" dirty="0">
                <a:latin typeface="Cambria"/>
                <a:cs typeface="Cambria"/>
              </a:rPr>
              <a:t>  </a:t>
            </a:r>
            <a:r>
              <a:rPr sz="1600" spc="65" dirty="0">
                <a:latin typeface="Cambria"/>
                <a:cs typeface="Cambria"/>
              </a:rPr>
              <a:t>#</a:t>
            </a:r>
            <a:r>
              <a:rPr sz="1600" spc="114" dirty="0">
                <a:latin typeface="Cambria"/>
                <a:cs typeface="Cambria"/>
              </a:rPr>
              <a:t> </a:t>
            </a:r>
            <a:r>
              <a:rPr sz="1600" dirty="0">
                <a:latin typeface="Cambria"/>
                <a:cs typeface="Cambria"/>
              </a:rPr>
              <a:t>10</a:t>
            </a:r>
            <a:r>
              <a:rPr sz="1600" spc="95" dirty="0">
                <a:latin typeface="Cambria"/>
                <a:cs typeface="Cambria"/>
              </a:rPr>
              <a:t> </a:t>
            </a:r>
            <a:r>
              <a:rPr sz="1600" dirty="0">
                <a:latin typeface="Cambria"/>
                <a:cs typeface="Cambria"/>
              </a:rPr>
              <a:t>(y</a:t>
            </a:r>
            <a:r>
              <a:rPr sz="1600" spc="114" dirty="0">
                <a:latin typeface="Cambria"/>
                <a:cs typeface="Cambria"/>
              </a:rPr>
              <a:t> </a:t>
            </a:r>
            <a:r>
              <a:rPr sz="1600" dirty="0">
                <a:latin typeface="Cambria"/>
                <a:cs typeface="Cambria"/>
              </a:rPr>
              <a:t>remains</a:t>
            </a:r>
            <a:r>
              <a:rPr sz="1600" spc="135" dirty="0">
                <a:latin typeface="Cambria"/>
                <a:cs typeface="Cambria"/>
              </a:rPr>
              <a:t> </a:t>
            </a:r>
            <a:r>
              <a:rPr sz="1600" spc="50" dirty="0">
                <a:latin typeface="Cambria"/>
                <a:cs typeface="Cambria"/>
              </a:rPr>
              <a:t>unchanged)</a:t>
            </a:r>
            <a:endParaRPr sz="1600">
              <a:latin typeface="Cambria"/>
              <a:cs typeface="Cambria"/>
            </a:endParaRPr>
          </a:p>
        </p:txBody>
      </p:sp>
      <p:sp>
        <p:nvSpPr>
          <p:cNvPr id="9" name="object 9"/>
          <p:cNvSpPr txBox="1"/>
          <p:nvPr/>
        </p:nvSpPr>
        <p:spPr>
          <a:xfrm>
            <a:off x="6710171" y="2747772"/>
            <a:ext cx="5291455" cy="1663064"/>
          </a:xfrm>
          <a:prstGeom prst="rect">
            <a:avLst/>
          </a:prstGeom>
          <a:solidFill>
            <a:srgbClr val="92D050"/>
          </a:solidFill>
          <a:ln w="9144">
            <a:solidFill>
              <a:srgbClr val="000000"/>
            </a:solidFill>
          </a:ln>
        </p:spPr>
        <p:txBody>
          <a:bodyPr vert="horz" wrap="square" lIns="0" tIns="41910" rIns="0" bIns="0" rtlCol="0">
            <a:spAutoFit/>
          </a:bodyPr>
          <a:lstStyle/>
          <a:p>
            <a:pPr marL="92710">
              <a:lnSpc>
                <a:spcPct val="100000"/>
              </a:lnSpc>
              <a:spcBef>
                <a:spcPts val="330"/>
              </a:spcBef>
            </a:pPr>
            <a:r>
              <a:rPr sz="1200" b="1" spc="55" dirty="0">
                <a:latin typeface="Cambria"/>
                <a:cs typeface="Cambria"/>
              </a:rPr>
              <a:t>Mutable</a:t>
            </a:r>
            <a:r>
              <a:rPr sz="1200" b="1" spc="145" dirty="0">
                <a:latin typeface="Cambria"/>
                <a:cs typeface="Cambria"/>
              </a:rPr>
              <a:t> </a:t>
            </a:r>
            <a:r>
              <a:rPr sz="1200" b="1" spc="10" dirty="0">
                <a:latin typeface="Cambria"/>
                <a:cs typeface="Cambria"/>
              </a:rPr>
              <a:t>List</a:t>
            </a:r>
            <a:r>
              <a:rPr sz="1200" b="1" spc="150" dirty="0">
                <a:latin typeface="Cambria"/>
                <a:cs typeface="Cambria"/>
              </a:rPr>
              <a:t> </a:t>
            </a:r>
            <a:r>
              <a:rPr sz="1200" b="1" spc="10" dirty="0">
                <a:latin typeface="Cambria"/>
                <a:cs typeface="Cambria"/>
              </a:rPr>
              <a:t>Inside</a:t>
            </a:r>
            <a:r>
              <a:rPr sz="1200" b="1" spc="145" dirty="0">
                <a:latin typeface="Cambria"/>
                <a:cs typeface="Cambria"/>
              </a:rPr>
              <a:t> </a:t>
            </a:r>
            <a:r>
              <a:rPr sz="1200" b="1" spc="50" dirty="0">
                <a:latin typeface="Cambria"/>
                <a:cs typeface="Cambria"/>
              </a:rPr>
              <a:t>Immutable</a:t>
            </a:r>
            <a:r>
              <a:rPr sz="1200" b="1" spc="15" dirty="0">
                <a:latin typeface="Cambria"/>
                <a:cs typeface="Cambria"/>
              </a:rPr>
              <a:t> </a:t>
            </a:r>
            <a:r>
              <a:rPr sz="1200" b="1" spc="-20" dirty="0">
                <a:latin typeface="Cambria"/>
                <a:cs typeface="Cambria"/>
              </a:rPr>
              <a:t>Tuple</a:t>
            </a:r>
            <a:endParaRPr sz="1200">
              <a:latin typeface="Cambria"/>
              <a:cs typeface="Cambria"/>
            </a:endParaRPr>
          </a:p>
          <a:p>
            <a:pPr marL="92710" marR="530225">
              <a:lnSpc>
                <a:spcPct val="100000"/>
              </a:lnSpc>
            </a:pPr>
            <a:r>
              <a:rPr sz="1200" spc="10" dirty="0">
                <a:latin typeface="Cambria"/>
                <a:cs typeface="Cambria"/>
              </a:rPr>
              <a:t>Tuples</a:t>
            </a:r>
            <a:r>
              <a:rPr sz="1200" spc="110" dirty="0">
                <a:latin typeface="Cambria"/>
                <a:cs typeface="Cambria"/>
              </a:rPr>
              <a:t> </a:t>
            </a:r>
            <a:r>
              <a:rPr sz="1200" spc="50" dirty="0">
                <a:latin typeface="Cambria"/>
                <a:cs typeface="Cambria"/>
              </a:rPr>
              <a:t>can</a:t>
            </a:r>
            <a:r>
              <a:rPr sz="1200" spc="120" dirty="0">
                <a:latin typeface="Cambria"/>
                <a:cs typeface="Cambria"/>
              </a:rPr>
              <a:t> </a:t>
            </a:r>
            <a:r>
              <a:rPr sz="1200" spc="10" dirty="0">
                <a:latin typeface="Cambria"/>
                <a:cs typeface="Cambria"/>
              </a:rPr>
              <a:t>contain</a:t>
            </a:r>
            <a:r>
              <a:rPr sz="1200" spc="120" dirty="0">
                <a:latin typeface="Cambria"/>
                <a:cs typeface="Cambria"/>
              </a:rPr>
              <a:t> </a:t>
            </a:r>
            <a:r>
              <a:rPr sz="1200" spc="10" dirty="0">
                <a:latin typeface="Cambria"/>
                <a:cs typeface="Cambria"/>
              </a:rPr>
              <a:t>mutable</a:t>
            </a:r>
            <a:r>
              <a:rPr sz="1200" spc="100" dirty="0">
                <a:latin typeface="Cambria"/>
                <a:cs typeface="Cambria"/>
              </a:rPr>
              <a:t> </a:t>
            </a:r>
            <a:r>
              <a:rPr sz="1200" spc="55" dirty="0">
                <a:latin typeface="Cambria"/>
                <a:cs typeface="Cambria"/>
              </a:rPr>
              <a:t>objects,</a:t>
            </a:r>
            <a:r>
              <a:rPr sz="1200" spc="5" dirty="0">
                <a:latin typeface="Cambria"/>
                <a:cs typeface="Cambria"/>
              </a:rPr>
              <a:t> </a:t>
            </a:r>
            <a:r>
              <a:rPr sz="1200" spc="10" dirty="0">
                <a:latin typeface="Cambria"/>
                <a:cs typeface="Cambria"/>
              </a:rPr>
              <a:t>but</a:t>
            </a:r>
            <a:r>
              <a:rPr sz="1200" spc="114" dirty="0">
                <a:latin typeface="Cambria"/>
                <a:cs typeface="Cambria"/>
              </a:rPr>
              <a:t> </a:t>
            </a:r>
            <a:r>
              <a:rPr sz="1200" spc="10" dirty="0">
                <a:latin typeface="Cambria"/>
                <a:cs typeface="Cambria"/>
              </a:rPr>
              <a:t>the</a:t>
            </a:r>
            <a:r>
              <a:rPr sz="1200" spc="114" dirty="0">
                <a:latin typeface="Cambria"/>
                <a:cs typeface="Cambria"/>
              </a:rPr>
              <a:t> </a:t>
            </a:r>
            <a:r>
              <a:rPr sz="1200" spc="10" dirty="0">
                <a:latin typeface="Cambria"/>
                <a:cs typeface="Cambria"/>
              </a:rPr>
              <a:t>tuple's</a:t>
            </a:r>
            <a:r>
              <a:rPr sz="1200" spc="120" dirty="0">
                <a:latin typeface="Cambria"/>
                <a:cs typeface="Cambria"/>
              </a:rPr>
              <a:t> </a:t>
            </a:r>
            <a:r>
              <a:rPr sz="1200" spc="10" dirty="0">
                <a:latin typeface="Cambria"/>
                <a:cs typeface="Cambria"/>
              </a:rPr>
              <a:t>reference</a:t>
            </a:r>
            <a:r>
              <a:rPr sz="1200" spc="120" dirty="0">
                <a:latin typeface="Cambria"/>
                <a:cs typeface="Cambria"/>
              </a:rPr>
              <a:t> </a:t>
            </a:r>
            <a:r>
              <a:rPr sz="1200" spc="10" dirty="0">
                <a:latin typeface="Cambria"/>
                <a:cs typeface="Cambria"/>
              </a:rPr>
              <a:t>to</a:t>
            </a:r>
            <a:r>
              <a:rPr sz="1200" spc="120" dirty="0">
                <a:latin typeface="Cambria"/>
                <a:cs typeface="Cambria"/>
              </a:rPr>
              <a:t> </a:t>
            </a:r>
            <a:r>
              <a:rPr sz="1200" spc="-25" dirty="0">
                <a:latin typeface="Cambria"/>
                <a:cs typeface="Cambria"/>
              </a:rPr>
              <a:t>the </a:t>
            </a:r>
            <a:r>
              <a:rPr sz="1200" spc="50" dirty="0">
                <a:latin typeface="Cambria"/>
                <a:cs typeface="Cambria"/>
              </a:rPr>
              <a:t>object</a:t>
            </a:r>
            <a:r>
              <a:rPr sz="1200" spc="114" dirty="0">
                <a:latin typeface="Cambria"/>
                <a:cs typeface="Cambria"/>
              </a:rPr>
              <a:t> </a:t>
            </a:r>
            <a:r>
              <a:rPr sz="1200" dirty="0">
                <a:latin typeface="Cambria"/>
                <a:cs typeface="Cambria"/>
              </a:rPr>
              <a:t>cannot</a:t>
            </a:r>
            <a:r>
              <a:rPr sz="1200" spc="114" dirty="0">
                <a:latin typeface="Cambria"/>
                <a:cs typeface="Cambria"/>
              </a:rPr>
              <a:t> </a:t>
            </a:r>
            <a:r>
              <a:rPr sz="1200" spc="50" dirty="0">
                <a:latin typeface="Cambria"/>
                <a:cs typeface="Cambria"/>
              </a:rPr>
              <a:t>change.</a:t>
            </a:r>
            <a:endParaRPr sz="1200">
              <a:latin typeface="Cambria"/>
              <a:cs typeface="Cambria"/>
            </a:endParaRPr>
          </a:p>
          <a:p>
            <a:pPr marL="92710">
              <a:lnSpc>
                <a:spcPct val="100000"/>
              </a:lnSpc>
            </a:pPr>
            <a:r>
              <a:rPr sz="1200" dirty="0">
                <a:latin typeface="Cambria"/>
                <a:cs typeface="Cambria"/>
              </a:rPr>
              <a:t>lst</a:t>
            </a:r>
            <a:r>
              <a:rPr sz="1200" spc="90" dirty="0">
                <a:latin typeface="Cambria"/>
                <a:cs typeface="Cambria"/>
              </a:rPr>
              <a:t> </a:t>
            </a:r>
            <a:r>
              <a:rPr sz="1200" spc="135" dirty="0">
                <a:latin typeface="Cambria"/>
                <a:cs typeface="Cambria"/>
              </a:rPr>
              <a:t>=</a:t>
            </a:r>
            <a:r>
              <a:rPr sz="1200" spc="105" dirty="0">
                <a:latin typeface="Cambria"/>
                <a:cs typeface="Cambria"/>
              </a:rPr>
              <a:t> </a:t>
            </a:r>
            <a:r>
              <a:rPr sz="1200" dirty="0">
                <a:latin typeface="Cambria"/>
                <a:cs typeface="Cambria"/>
              </a:rPr>
              <a:t>[1,</a:t>
            </a:r>
            <a:r>
              <a:rPr sz="1200" spc="-25" dirty="0">
                <a:latin typeface="Cambria"/>
                <a:cs typeface="Cambria"/>
              </a:rPr>
              <a:t> </a:t>
            </a:r>
            <a:r>
              <a:rPr sz="1200" dirty="0">
                <a:latin typeface="Cambria"/>
                <a:cs typeface="Cambria"/>
              </a:rPr>
              <a:t>2,</a:t>
            </a:r>
            <a:r>
              <a:rPr sz="1200" spc="-20" dirty="0">
                <a:latin typeface="Cambria"/>
                <a:cs typeface="Cambria"/>
              </a:rPr>
              <a:t> </a:t>
            </a:r>
            <a:r>
              <a:rPr sz="1200" spc="-35" dirty="0">
                <a:latin typeface="Cambria"/>
                <a:cs typeface="Cambria"/>
              </a:rPr>
              <a:t>3]</a:t>
            </a:r>
            <a:endParaRPr sz="1200">
              <a:latin typeface="Cambria"/>
              <a:cs typeface="Cambria"/>
            </a:endParaRPr>
          </a:p>
          <a:p>
            <a:pPr marL="92710" marR="4246880">
              <a:lnSpc>
                <a:spcPct val="100000"/>
              </a:lnSpc>
              <a:spcBef>
                <a:spcPts val="5"/>
              </a:spcBef>
            </a:pPr>
            <a:r>
              <a:rPr sz="1200" dirty="0">
                <a:latin typeface="Cambria"/>
                <a:cs typeface="Cambria"/>
              </a:rPr>
              <a:t>t</a:t>
            </a:r>
            <a:r>
              <a:rPr sz="1200" spc="15" dirty="0">
                <a:latin typeface="Cambria"/>
                <a:cs typeface="Cambria"/>
              </a:rPr>
              <a:t> </a:t>
            </a:r>
            <a:r>
              <a:rPr sz="1200" spc="130" dirty="0">
                <a:latin typeface="Cambria"/>
                <a:cs typeface="Cambria"/>
              </a:rPr>
              <a:t>=</a:t>
            </a:r>
            <a:r>
              <a:rPr sz="1200" spc="15" dirty="0">
                <a:latin typeface="Cambria"/>
                <a:cs typeface="Cambria"/>
              </a:rPr>
              <a:t> </a:t>
            </a:r>
            <a:r>
              <a:rPr sz="1200" spc="-10" dirty="0">
                <a:latin typeface="Cambria"/>
                <a:cs typeface="Cambria"/>
              </a:rPr>
              <a:t>(lst,) lst.append(4)</a:t>
            </a:r>
            <a:endParaRPr sz="1200">
              <a:latin typeface="Cambria"/>
              <a:cs typeface="Cambria"/>
            </a:endParaRPr>
          </a:p>
          <a:p>
            <a:pPr marL="92710">
              <a:lnSpc>
                <a:spcPct val="100000"/>
              </a:lnSpc>
            </a:pPr>
            <a:r>
              <a:rPr sz="1200" dirty="0">
                <a:latin typeface="Cambria"/>
                <a:cs typeface="Cambria"/>
              </a:rPr>
              <a:t>print(t)</a:t>
            </a:r>
            <a:r>
              <a:rPr sz="1200" spc="425" dirty="0">
                <a:latin typeface="Cambria"/>
                <a:cs typeface="Cambria"/>
              </a:rPr>
              <a:t> </a:t>
            </a:r>
            <a:r>
              <a:rPr sz="1200" spc="55" dirty="0">
                <a:latin typeface="Cambria"/>
                <a:cs typeface="Cambria"/>
              </a:rPr>
              <a:t>#</a:t>
            </a:r>
            <a:r>
              <a:rPr sz="1200" spc="90" dirty="0">
                <a:latin typeface="Cambria"/>
                <a:cs typeface="Cambria"/>
              </a:rPr>
              <a:t> </a:t>
            </a:r>
            <a:r>
              <a:rPr sz="1200" dirty="0">
                <a:latin typeface="Cambria"/>
                <a:cs typeface="Cambria"/>
              </a:rPr>
              <a:t>([1,</a:t>
            </a:r>
            <a:r>
              <a:rPr sz="1200" spc="-45" dirty="0">
                <a:latin typeface="Cambria"/>
                <a:cs typeface="Cambria"/>
              </a:rPr>
              <a:t> </a:t>
            </a:r>
            <a:r>
              <a:rPr sz="1200" dirty="0">
                <a:latin typeface="Cambria"/>
                <a:cs typeface="Cambria"/>
              </a:rPr>
              <a:t>2,</a:t>
            </a:r>
            <a:r>
              <a:rPr sz="1200" spc="-30" dirty="0">
                <a:latin typeface="Cambria"/>
                <a:cs typeface="Cambria"/>
              </a:rPr>
              <a:t> </a:t>
            </a:r>
            <a:r>
              <a:rPr sz="1200" dirty="0">
                <a:latin typeface="Cambria"/>
                <a:cs typeface="Cambria"/>
              </a:rPr>
              <a:t>3,</a:t>
            </a:r>
            <a:r>
              <a:rPr sz="1200" spc="-15" dirty="0">
                <a:latin typeface="Cambria"/>
                <a:cs typeface="Cambria"/>
              </a:rPr>
              <a:t> </a:t>
            </a:r>
            <a:r>
              <a:rPr sz="1200" spc="-20" dirty="0">
                <a:latin typeface="Cambria"/>
                <a:cs typeface="Cambria"/>
              </a:rPr>
              <a:t>4],)</a:t>
            </a:r>
            <a:endParaRPr sz="1200">
              <a:latin typeface="Cambria"/>
              <a:cs typeface="Cambria"/>
            </a:endParaRPr>
          </a:p>
        </p:txBody>
      </p:sp>
      <p:sp>
        <p:nvSpPr>
          <p:cNvPr id="10" name="object 10"/>
          <p:cNvSpPr txBox="1"/>
          <p:nvPr/>
        </p:nvSpPr>
        <p:spPr>
          <a:xfrm>
            <a:off x="6717792" y="4578096"/>
            <a:ext cx="5378450" cy="2092960"/>
          </a:xfrm>
          <a:prstGeom prst="rect">
            <a:avLst/>
          </a:prstGeom>
          <a:ln w="9144">
            <a:solidFill>
              <a:srgbClr val="000000"/>
            </a:solidFill>
          </a:ln>
        </p:spPr>
        <p:txBody>
          <a:bodyPr vert="horz" wrap="square" lIns="0" tIns="42544" rIns="0" bIns="0" rtlCol="0">
            <a:spAutoFit/>
          </a:bodyPr>
          <a:lstStyle/>
          <a:p>
            <a:pPr marL="92710">
              <a:lnSpc>
                <a:spcPct val="100000"/>
              </a:lnSpc>
              <a:spcBef>
                <a:spcPts val="334"/>
              </a:spcBef>
            </a:pPr>
            <a:r>
              <a:rPr sz="1200" b="1" spc="55" dirty="0">
                <a:latin typeface="Cambria"/>
                <a:cs typeface="Cambria"/>
              </a:rPr>
              <a:t>Mutable</a:t>
            </a:r>
            <a:r>
              <a:rPr sz="1200" b="1" spc="190" dirty="0">
                <a:latin typeface="Cambria"/>
                <a:cs typeface="Cambria"/>
              </a:rPr>
              <a:t> </a:t>
            </a:r>
            <a:r>
              <a:rPr sz="1200" b="1" spc="10" dirty="0">
                <a:latin typeface="Cambria"/>
                <a:cs typeface="Cambria"/>
              </a:rPr>
              <a:t>Default</a:t>
            </a:r>
            <a:r>
              <a:rPr sz="1200" b="1" spc="220" dirty="0">
                <a:latin typeface="Cambria"/>
                <a:cs typeface="Cambria"/>
              </a:rPr>
              <a:t> </a:t>
            </a:r>
            <a:r>
              <a:rPr sz="1200" b="1" spc="10" dirty="0">
                <a:latin typeface="Cambria"/>
                <a:cs typeface="Cambria"/>
              </a:rPr>
              <a:t>Argument</a:t>
            </a:r>
            <a:r>
              <a:rPr sz="1200" b="1" spc="150" dirty="0">
                <a:latin typeface="Cambria"/>
                <a:cs typeface="Cambria"/>
              </a:rPr>
              <a:t> </a:t>
            </a:r>
            <a:r>
              <a:rPr sz="1200" b="1" spc="40" dirty="0">
                <a:latin typeface="Cambria"/>
                <a:cs typeface="Cambria"/>
              </a:rPr>
              <a:t>Danger</a:t>
            </a:r>
            <a:endParaRPr sz="1200">
              <a:latin typeface="Cambria"/>
              <a:cs typeface="Cambria"/>
            </a:endParaRPr>
          </a:p>
          <a:p>
            <a:pPr marL="92710" marR="449580">
              <a:lnSpc>
                <a:spcPct val="100000"/>
              </a:lnSpc>
            </a:pPr>
            <a:r>
              <a:rPr sz="1200" spc="10" dirty="0">
                <a:latin typeface="Cambria"/>
                <a:cs typeface="Cambria"/>
              </a:rPr>
              <a:t>Using</a:t>
            </a:r>
            <a:r>
              <a:rPr sz="1200" spc="100" dirty="0">
                <a:latin typeface="Cambria"/>
                <a:cs typeface="Cambria"/>
              </a:rPr>
              <a:t> </a:t>
            </a:r>
            <a:r>
              <a:rPr sz="1200" spc="10" dirty="0">
                <a:latin typeface="Cambria"/>
                <a:cs typeface="Cambria"/>
              </a:rPr>
              <a:t>mutable</a:t>
            </a:r>
            <a:r>
              <a:rPr sz="1200" spc="125" dirty="0">
                <a:latin typeface="Cambria"/>
                <a:cs typeface="Cambria"/>
              </a:rPr>
              <a:t> </a:t>
            </a:r>
            <a:r>
              <a:rPr sz="1200" spc="10" dirty="0">
                <a:latin typeface="Cambria"/>
                <a:cs typeface="Cambria"/>
              </a:rPr>
              <a:t>default</a:t>
            </a:r>
            <a:r>
              <a:rPr sz="1200" spc="125" dirty="0">
                <a:latin typeface="Cambria"/>
                <a:cs typeface="Cambria"/>
              </a:rPr>
              <a:t> </a:t>
            </a:r>
            <a:r>
              <a:rPr sz="1200" spc="10" dirty="0">
                <a:latin typeface="Cambria"/>
                <a:cs typeface="Cambria"/>
              </a:rPr>
              <a:t>arguments</a:t>
            </a:r>
            <a:r>
              <a:rPr sz="1200" spc="95" dirty="0">
                <a:latin typeface="Cambria"/>
                <a:cs typeface="Cambria"/>
              </a:rPr>
              <a:t> </a:t>
            </a:r>
            <a:r>
              <a:rPr sz="1200" spc="10" dirty="0">
                <a:latin typeface="Cambria"/>
                <a:cs typeface="Cambria"/>
              </a:rPr>
              <a:t>in</a:t>
            </a:r>
            <a:r>
              <a:rPr sz="1200" spc="125" dirty="0">
                <a:latin typeface="Cambria"/>
                <a:cs typeface="Cambria"/>
              </a:rPr>
              <a:t> </a:t>
            </a:r>
            <a:r>
              <a:rPr sz="1200" spc="10" dirty="0">
                <a:latin typeface="Cambria"/>
                <a:cs typeface="Cambria"/>
              </a:rPr>
              <a:t>functions</a:t>
            </a:r>
            <a:r>
              <a:rPr sz="1200" spc="145" dirty="0">
                <a:latin typeface="Cambria"/>
                <a:cs typeface="Cambria"/>
              </a:rPr>
              <a:t> </a:t>
            </a:r>
            <a:r>
              <a:rPr sz="1200" spc="50" dirty="0">
                <a:latin typeface="Cambria"/>
                <a:cs typeface="Cambria"/>
              </a:rPr>
              <a:t>can</a:t>
            </a:r>
            <a:r>
              <a:rPr sz="1200" spc="105" dirty="0">
                <a:latin typeface="Cambria"/>
                <a:cs typeface="Cambria"/>
              </a:rPr>
              <a:t> </a:t>
            </a:r>
            <a:r>
              <a:rPr sz="1200" spc="55" dirty="0">
                <a:latin typeface="Cambria"/>
                <a:cs typeface="Cambria"/>
              </a:rPr>
              <a:t>lead</a:t>
            </a:r>
            <a:r>
              <a:rPr sz="1200" spc="114" dirty="0">
                <a:latin typeface="Cambria"/>
                <a:cs typeface="Cambria"/>
              </a:rPr>
              <a:t> </a:t>
            </a:r>
            <a:r>
              <a:rPr sz="1200" spc="10" dirty="0">
                <a:latin typeface="Cambria"/>
                <a:cs typeface="Cambria"/>
              </a:rPr>
              <a:t>to</a:t>
            </a:r>
            <a:r>
              <a:rPr sz="1200" spc="125" dirty="0">
                <a:latin typeface="Cambria"/>
                <a:cs typeface="Cambria"/>
              </a:rPr>
              <a:t> </a:t>
            </a:r>
            <a:r>
              <a:rPr sz="1200" spc="45" dirty="0">
                <a:latin typeface="Cambria"/>
                <a:cs typeface="Cambria"/>
              </a:rPr>
              <a:t>unexpected </a:t>
            </a:r>
            <a:r>
              <a:rPr sz="1200" spc="-10" dirty="0">
                <a:latin typeface="Cambria"/>
                <a:cs typeface="Cambria"/>
              </a:rPr>
              <a:t>behavior.</a:t>
            </a:r>
            <a:endParaRPr sz="1200">
              <a:latin typeface="Cambria"/>
              <a:cs typeface="Cambria"/>
            </a:endParaRPr>
          </a:p>
          <a:p>
            <a:pPr marL="245110" marR="3268345" indent="-152400">
              <a:lnSpc>
                <a:spcPct val="100000"/>
              </a:lnSpc>
            </a:pPr>
            <a:r>
              <a:rPr sz="1200" spc="55" dirty="0">
                <a:latin typeface="Cambria"/>
                <a:cs typeface="Cambria"/>
              </a:rPr>
              <a:t>def</a:t>
            </a:r>
            <a:r>
              <a:rPr sz="1200" spc="65" dirty="0">
                <a:latin typeface="Cambria"/>
                <a:cs typeface="Cambria"/>
              </a:rPr>
              <a:t> </a:t>
            </a:r>
            <a:r>
              <a:rPr sz="1200" spc="40" dirty="0">
                <a:latin typeface="Cambria"/>
                <a:cs typeface="Cambria"/>
              </a:rPr>
              <a:t>add_to_list(value,</a:t>
            </a:r>
            <a:r>
              <a:rPr sz="1200" spc="-40" dirty="0">
                <a:latin typeface="Cambria"/>
                <a:cs typeface="Cambria"/>
              </a:rPr>
              <a:t> </a:t>
            </a:r>
            <a:r>
              <a:rPr sz="1200" spc="-10" dirty="0">
                <a:latin typeface="Cambria"/>
                <a:cs typeface="Cambria"/>
              </a:rPr>
              <a:t>lst=[]): lst.append(value)</a:t>
            </a:r>
            <a:endParaRPr sz="1200">
              <a:latin typeface="Cambria"/>
              <a:cs typeface="Cambria"/>
            </a:endParaRPr>
          </a:p>
          <a:p>
            <a:pPr marL="245110">
              <a:lnSpc>
                <a:spcPct val="100000"/>
              </a:lnSpc>
            </a:pPr>
            <a:r>
              <a:rPr sz="1200" dirty="0">
                <a:latin typeface="Cambria"/>
                <a:cs typeface="Cambria"/>
              </a:rPr>
              <a:t>return</a:t>
            </a:r>
            <a:r>
              <a:rPr sz="1200" spc="60" dirty="0">
                <a:latin typeface="Cambria"/>
                <a:cs typeface="Cambria"/>
              </a:rPr>
              <a:t> </a:t>
            </a:r>
            <a:r>
              <a:rPr sz="1200" spc="-25" dirty="0">
                <a:latin typeface="Cambria"/>
                <a:cs typeface="Cambria"/>
              </a:rPr>
              <a:t>lst</a:t>
            </a:r>
            <a:endParaRPr sz="1200">
              <a:latin typeface="Cambria"/>
              <a:cs typeface="Cambria"/>
            </a:endParaRPr>
          </a:p>
          <a:p>
            <a:pPr>
              <a:lnSpc>
                <a:spcPct val="100000"/>
              </a:lnSpc>
              <a:spcBef>
                <a:spcPts val="30"/>
              </a:spcBef>
            </a:pPr>
            <a:endParaRPr sz="1200">
              <a:latin typeface="Cambria"/>
              <a:cs typeface="Cambria"/>
            </a:endParaRPr>
          </a:p>
          <a:p>
            <a:pPr marL="92710">
              <a:lnSpc>
                <a:spcPct val="100000"/>
              </a:lnSpc>
              <a:spcBef>
                <a:spcPts val="5"/>
              </a:spcBef>
            </a:pPr>
            <a:r>
              <a:rPr sz="1200" dirty="0">
                <a:latin typeface="Cambria"/>
                <a:cs typeface="Cambria"/>
              </a:rPr>
              <a:t>print(add_to_list(1))</a:t>
            </a:r>
            <a:r>
              <a:rPr sz="1200" spc="190" dirty="0">
                <a:latin typeface="Cambria"/>
                <a:cs typeface="Cambria"/>
              </a:rPr>
              <a:t>  </a:t>
            </a:r>
            <a:r>
              <a:rPr sz="1200" spc="55" dirty="0">
                <a:latin typeface="Cambria"/>
                <a:cs typeface="Cambria"/>
              </a:rPr>
              <a:t>#</a:t>
            </a:r>
            <a:r>
              <a:rPr sz="1200" spc="220" dirty="0">
                <a:latin typeface="Cambria"/>
                <a:cs typeface="Cambria"/>
              </a:rPr>
              <a:t> </a:t>
            </a:r>
            <a:r>
              <a:rPr sz="1200" spc="-25" dirty="0">
                <a:latin typeface="Cambria"/>
                <a:cs typeface="Cambria"/>
              </a:rPr>
              <a:t>[1]</a:t>
            </a:r>
            <a:endParaRPr sz="1200">
              <a:latin typeface="Cambria"/>
              <a:cs typeface="Cambria"/>
            </a:endParaRPr>
          </a:p>
          <a:p>
            <a:pPr marL="92710">
              <a:lnSpc>
                <a:spcPct val="100000"/>
              </a:lnSpc>
            </a:pPr>
            <a:r>
              <a:rPr sz="1200" dirty="0">
                <a:latin typeface="Cambria"/>
                <a:cs typeface="Cambria"/>
              </a:rPr>
              <a:t>print(add_to_list(2))</a:t>
            </a:r>
            <a:r>
              <a:rPr sz="1200" spc="120" dirty="0">
                <a:latin typeface="Cambria"/>
                <a:cs typeface="Cambria"/>
              </a:rPr>
              <a:t>  </a:t>
            </a:r>
            <a:r>
              <a:rPr sz="1200" spc="55" dirty="0">
                <a:latin typeface="Cambria"/>
                <a:cs typeface="Cambria"/>
              </a:rPr>
              <a:t>#</a:t>
            </a:r>
            <a:r>
              <a:rPr sz="1200" spc="145" dirty="0">
                <a:latin typeface="Cambria"/>
                <a:cs typeface="Cambria"/>
              </a:rPr>
              <a:t> </a:t>
            </a:r>
            <a:r>
              <a:rPr sz="1200" dirty="0">
                <a:latin typeface="Cambria"/>
                <a:cs typeface="Cambria"/>
              </a:rPr>
              <a:t>[1,</a:t>
            </a:r>
            <a:r>
              <a:rPr sz="1200" spc="5" dirty="0">
                <a:latin typeface="Cambria"/>
                <a:cs typeface="Cambria"/>
              </a:rPr>
              <a:t> </a:t>
            </a:r>
            <a:r>
              <a:rPr sz="1200" dirty="0">
                <a:latin typeface="Cambria"/>
                <a:cs typeface="Cambria"/>
              </a:rPr>
              <a:t>2]</a:t>
            </a:r>
            <a:r>
              <a:rPr sz="1200" spc="125" dirty="0">
                <a:latin typeface="Cambria"/>
                <a:cs typeface="Cambria"/>
              </a:rPr>
              <a:t> </a:t>
            </a:r>
            <a:r>
              <a:rPr sz="1200" dirty="0">
                <a:latin typeface="Cambria"/>
                <a:cs typeface="Cambria"/>
              </a:rPr>
              <a:t>(Not</a:t>
            </a:r>
            <a:r>
              <a:rPr sz="1200" spc="135" dirty="0">
                <a:latin typeface="Cambria"/>
                <a:cs typeface="Cambria"/>
              </a:rPr>
              <a:t> </a:t>
            </a:r>
            <a:r>
              <a:rPr sz="1200" dirty="0">
                <a:latin typeface="Cambria"/>
                <a:cs typeface="Cambria"/>
              </a:rPr>
              <a:t>just</a:t>
            </a:r>
            <a:r>
              <a:rPr sz="1200" spc="150" dirty="0">
                <a:latin typeface="Cambria"/>
                <a:cs typeface="Cambria"/>
              </a:rPr>
              <a:t> </a:t>
            </a:r>
            <a:r>
              <a:rPr sz="1200" spc="-20" dirty="0">
                <a:latin typeface="Cambria"/>
                <a:cs typeface="Cambria"/>
              </a:rPr>
              <a:t>[2]!)</a:t>
            </a:r>
            <a:endParaRPr sz="1200">
              <a:latin typeface="Cambria"/>
              <a:cs typeface="Cambria"/>
            </a:endParaRPr>
          </a:p>
        </p:txBody>
      </p:sp>
      <p:pic>
        <p:nvPicPr>
          <p:cNvPr id="11" name="object 11"/>
          <p:cNvPicPr/>
          <p:nvPr/>
        </p:nvPicPr>
        <p:blipFill>
          <a:blip r:embed="rId3" cstate="print"/>
          <a:stretch>
            <a:fillRect/>
          </a:stretch>
        </p:blipFill>
        <p:spPr>
          <a:xfrm>
            <a:off x="403872" y="273177"/>
            <a:ext cx="3011157" cy="38582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8216" y="184277"/>
            <a:ext cx="2124544" cy="472694"/>
          </a:xfrm>
          <a:prstGeom prst="rect">
            <a:avLst/>
          </a:prstGeom>
        </p:spPr>
      </p:pic>
      <p:sp>
        <p:nvSpPr>
          <p:cNvPr id="3" name="object 3"/>
          <p:cNvSpPr txBox="1"/>
          <p:nvPr/>
        </p:nvSpPr>
        <p:spPr>
          <a:xfrm>
            <a:off x="117347" y="1002791"/>
            <a:ext cx="5457825" cy="2032000"/>
          </a:xfrm>
          <a:prstGeom prst="rect">
            <a:avLst/>
          </a:prstGeom>
          <a:solidFill>
            <a:srgbClr val="DAD2C3"/>
          </a:solidFill>
          <a:ln w="9144">
            <a:solidFill>
              <a:srgbClr val="000000"/>
            </a:solidFill>
          </a:ln>
        </p:spPr>
        <p:txBody>
          <a:bodyPr vert="horz" wrap="square" lIns="0" tIns="38100" rIns="0" bIns="0" rtlCol="0">
            <a:spAutoFit/>
          </a:bodyPr>
          <a:lstStyle/>
          <a:p>
            <a:pPr marL="91440">
              <a:lnSpc>
                <a:spcPct val="100000"/>
              </a:lnSpc>
              <a:spcBef>
                <a:spcPts val="300"/>
              </a:spcBef>
            </a:pPr>
            <a:r>
              <a:rPr sz="1800" b="1" spc="80" dirty="0">
                <a:latin typeface="Cambria"/>
                <a:cs typeface="Cambria"/>
              </a:rPr>
              <a:t>Immutable </a:t>
            </a:r>
            <a:r>
              <a:rPr sz="1800" b="1" dirty="0">
                <a:latin typeface="Cambria"/>
                <a:cs typeface="Cambria"/>
              </a:rPr>
              <a:t>Set</a:t>
            </a:r>
            <a:r>
              <a:rPr sz="1800" b="1" spc="85" dirty="0">
                <a:latin typeface="Cambria"/>
                <a:cs typeface="Cambria"/>
              </a:rPr>
              <a:t> </a:t>
            </a:r>
            <a:r>
              <a:rPr sz="1800" b="1" spc="60" dirty="0">
                <a:latin typeface="Cambria"/>
                <a:cs typeface="Cambria"/>
              </a:rPr>
              <a:t>Modification</a:t>
            </a:r>
            <a:endParaRPr sz="1800">
              <a:latin typeface="Cambria"/>
              <a:cs typeface="Cambria"/>
            </a:endParaRPr>
          </a:p>
          <a:p>
            <a:pPr marL="91440">
              <a:lnSpc>
                <a:spcPct val="100000"/>
              </a:lnSpc>
            </a:pPr>
            <a:r>
              <a:rPr sz="1800" dirty="0">
                <a:latin typeface="Cambria"/>
                <a:cs typeface="Cambria"/>
              </a:rPr>
              <a:t>Sets</a:t>
            </a:r>
            <a:r>
              <a:rPr sz="1800" spc="110" dirty="0">
                <a:latin typeface="Cambria"/>
                <a:cs typeface="Cambria"/>
              </a:rPr>
              <a:t> </a:t>
            </a:r>
            <a:r>
              <a:rPr sz="1800" spc="50" dirty="0">
                <a:latin typeface="Cambria"/>
                <a:cs typeface="Cambria"/>
              </a:rPr>
              <a:t>are</a:t>
            </a:r>
            <a:r>
              <a:rPr sz="1800" spc="95" dirty="0">
                <a:latin typeface="Cambria"/>
                <a:cs typeface="Cambria"/>
              </a:rPr>
              <a:t> </a:t>
            </a:r>
            <a:r>
              <a:rPr sz="1800" spc="55" dirty="0">
                <a:latin typeface="Cambria"/>
                <a:cs typeface="Cambria"/>
              </a:rPr>
              <a:t>mutable,</a:t>
            </a:r>
            <a:r>
              <a:rPr sz="1800" spc="-55" dirty="0">
                <a:latin typeface="Cambria"/>
                <a:cs typeface="Cambria"/>
              </a:rPr>
              <a:t> </a:t>
            </a:r>
            <a:r>
              <a:rPr sz="1800" dirty="0">
                <a:latin typeface="Cambria"/>
                <a:cs typeface="Cambria"/>
              </a:rPr>
              <a:t>but</a:t>
            </a:r>
            <a:r>
              <a:rPr sz="1800" spc="110" dirty="0">
                <a:latin typeface="Cambria"/>
                <a:cs typeface="Cambria"/>
              </a:rPr>
              <a:t> </a:t>
            </a:r>
            <a:r>
              <a:rPr sz="1800" dirty="0">
                <a:latin typeface="Cambria"/>
                <a:cs typeface="Cambria"/>
              </a:rPr>
              <a:t>their</a:t>
            </a:r>
            <a:r>
              <a:rPr sz="1800" spc="114" dirty="0">
                <a:latin typeface="Cambria"/>
                <a:cs typeface="Cambria"/>
              </a:rPr>
              <a:t> </a:t>
            </a:r>
            <a:r>
              <a:rPr sz="1800" spc="70" dirty="0">
                <a:latin typeface="Cambria"/>
                <a:cs typeface="Cambria"/>
              </a:rPr>
              <a:t>elements</a:t>
            </a:r>
            <a:r>
              <a:rPr sz="1800" spc="135" dirty="0">
                <a:latin typeface="Cambria"/>
                <a:cs typeface="Cambria"/>
              </a:rPr>
              <a:t> </a:t>
            </a:r>
            <a:r>
              <a:rPr sz="1800" dirty="0">
                <a:latin typeface="Cambria"/>
                <a:cs typeface="Cambria"/>
              </a:rPr>
              <a:t>must</a:t>
            </a:r>
            <a:r>
              <a:rPr sz="1800" spc="120" dirty="0">
                <a:latin typeface="Cambria"/>
                <a:cs typeface="Cambria"/>
              </a:rPr>
              <a:t> </a:t>
            </a:r>
            <a:r>
              <a:rPr sz="1800" spc="125" dirty="0">
                <a:latin typeface="Cambria"/>
                <a:cs typeface="Cambria"/>
              </a:rPr>
              <a:t>be</a:t>
            </a:r>
            <a:endParaRPr sz="1800">
              <a:latin typeface="Cambria"/>
              <a:cs typeface="Cambria"/>
            </a:endParaRPr>
          </a:p>
          <a:p>
            <a:pPr marL="91440" marR="4172585">
              <a:lnSpc>
                <a:spcPct val="100000"/>
              </a:lnSpc>
              <a:spcBef>
                <a:spcPts val="5"/>
              </a:spcBef>
            </a:pPr>
            <a:r>
              <a:rPr sz="1800" spc="45" dirty="0">
                <a:latin typeface="Cambria"/>
                <a:cs typeface="Cambria"/>
              </a:rPr>
              <a:t>immutable. </a:t>
            </a:r>
            <a:r>
              <a:rPr sz="1800" dirty="0">
                <a:latin typeface="Cambria"/>
                <a:cs typeface="Cambria"/>
              </a:rPr>
              <a:t>s</a:t>
            </a:r>
            <a:r>
              <a:rPr sz="1800" spc="70" dirty="0">
                <a:latin typeface="Cambria"/>
                <a:cs typeface="Cambria"/>
              </a:rPr>
              <a:t> </a:t>
            </a:r>
            <a:r>
              <a:rPr sz="1800" spc="200" dirty="0">
                <a:latin typeface="Cambria"/>
                <a:cs typeface="Cambria"/>
              </a:rPr>
              <a:t>=</a:t>
            </a:r>
            <a:r>
              <a:rPr sz="1800" spc="70" dirty="0">
                <a:latin typeface="Cambria"/>
                <a:cs typeface="Cambria"/>
              </a:rPr>
              <a:t> </a:t>
            </a:r>
            <a:r>
              <a:rPr sz="1800" dirty="0">
                <a:latin typeface="Cambria"/>
                <a:cs typeface="Cambria"/>
              </a:rPr>
              <a:t>{1,</a:t>
            </a:r>
            <a:r>
              <a:rPr sz="1800" spc="-80" dirty="0">
                <a:latin typeface="Cambria"/>
                <a:cs typeface="Cambria"/>
              </a:rPr>
              <a:t> </a:t>
            </a:r>
            <a:r>
              <a:rPr sz="1800" spc="60" dirty="0">
                <a:latin typeface="Cambria"/>
                <a:cs typeface="Cambria"/>
              </a:rPr>
              <a:t>2,</a:t>
            </a:r>
            <a:r>
              <a:rPr sz="1800" spc="-75" dirty="0">
                <a:latin typeface="Cambria"/>
                <a:cs typeface="Cambria"/>
              </a:rPr>
              <a:t> </a:t>
            </a:r>
            <a:r>
              <a:rPr sz="1800" spc="-25" dirty="0">
                <a:latin typeface="Cambria"/>
                <a:cs typeface="Cambria"/>
              </a:rPr>
              <a:t>3}</a:t>
            </a:r>
            <a:endParaRPr sz="1800">
              <a:latin typeface="Cambria"/>
              <a:cs typeface="Cambria"/>
            </a:endParaRPr>
          </a:p>
          <a:p>
            <a:pPr marL="91440">
              <a:lnSpc>
                <a:spcPct val="100000"/>
              </a:lnSpc>
            </a:pPr>
            <a:r>
              <a:rPr sz="1800" spc="45" dirty="0">
                <a:latin typeface="Cambria"/>
                <a:cs typeface="Cambria"/>
              </a:rPr>
              <a:t>s.add(4)</a:t>
            </a:r>
            <a:endParaRPr sz="1800">
              <a:latin typeface="Cambria"/>
              <a:cs typeface="Cambria"/>
            </a:endParaRPr>
          </a:p>
          <a:p>
            <a:pPr marL="91440">
              <a:lnSpc>
                <a:spcPct val="100000"/>
              </a:lnSpc>
            </a:pPr>
            <a:r>
              <a:rPr sz="1800" dirty="0">
                <a:latin typeface="Cambria"/>
                <a:cs typeface="Cambria"/>
              </a:rPr>
              <a:t>print(s)</a:t>
            </a:r>
            <a:r>
              <a:rPr sz="1800" spc="85" dirty="0">
                <a:latin typeface="Cambria"/>
                <a:cs typeface="Cambria"/>
              </a:rPr>
              <a:t>  </a:t>
            </a:r>
            <a:r>
              <a:rPr sz="1800" spc="75" dirty="0">
                <a:latin typeface="Cambria"/>
                <a:cs typeface="Cambria"/>
              </a:rPr>
              <a:t>#</a:t>
            </a:r>
            <a:r>
              <a:rPr sz="1800" spc="90" dirty="0">
                <a:latin typeface="Cambria"/>
                <a:cs typeface="Cambria"/>
              </a:rPr>
              <a:t> </a:t>
            </a:r>
            <a:r>
              <a:rPr sz="1800" dirty="0">
                <a:latin typeface="Cambria"/>
                <a:cs typeface="Cambria"/>
              </a:rPr>
              <a:t>{1,</a:t>
            </a:r>
            <a:r>
              <a:rPr sz="1800" spc="-75" dirty="0">
                <a:latin typeface="Cambria"/>
                <a:cs typeface="Cambria"/>
              </a:rPr>
              <a:t> </a:t>
            </a:r>
            <a:r>
              <a:rPr sz="1800" spc="60" dirty="0">
                <a:latin typeface="Cambria"/>
                <a:cs typeface="Cambria"/>
              </a:rPr>
              <a:t>2,</a:t>
            </a:r>
            <a:r>
              <a:rPr sz="1800" spc="-65" dirty="0">
                <a:latin typeface="Cambria"/>
                <a:cs typeface="Cambria"/>
              </a:rPr>
              <a:t> </a:t>
            </a:r>
            <a:r>
              <a:rPr sz="1800" spc="60" dirty="0">
                <a:latin typeface="Cambria"/>
                <a:cs typeface="Cambria"/>
              </a:rPr>
              <a:t>3,</a:t>
            </a:r>
            <a:r>
              <a:rPr sz="1800" spc="-65" dirty="0">
                <a:latin typeface="Cambria"/>
                <a:cs typeface="Cambria"/>
              </a:rPr>
              <a:t> </a:t>
            </a:r>
            <a:r>
              <a:rPr sz="1800" spc="-25" dirty="0">
                <a:latin typeface="Cambria"/>
                <a:cs typeface="Cambria"/>
              </a:rPr>
              <a:t>4}</a:t>
            </a:r>
            <a:endParaRPr sz="1800">
              <a:latin typeface="Cambria"/>
              <a:cs typeface="Cambria"/>
            </a:endParaRPr>
          </a:p>
        </p:txBody>
      </p:sp>
      <p:sp>
        <p:nvSpPr>
          <p:cNvPr id="4" name="object 4"/>
          <p:cNvSpPr txBox="1"/>
          <p:nvPr/>
        </p:nvSpPr>
        <p:spPr>
          <a:xfrm>
            <a:off x="5731764" y="1101852"/>
            <a:ext cx="6096000" cy="1908175"/>
          </a:xfrm>
          <a:prstGeom prst="rect">
            <a:avLst/>
          </a:prstGeom>
          <a:solidFill>
            <a:srgbClr val="B89B9B"/>
          </a:solidFill>
          <a:ln w="9144">
            <a:solidFill>
              <a:srgbClr val="000000"/>
            </a:solidFill>
          </a:ln>
        </p:spPr>
        <p:txBody>
          <a:bodyPr vert="horz" wrap="square" lIns="0" tIns="39370" rIns="0" bIns="0" rtlCol="0">
            <a:spAutoFit/>
          </a:bodyPr>
          <a:lstStyle/>
          <a:p>
            <a:pPr marL="92710" marR="2649855">
              <a:lnSpc>
                <a:spcPct val="100000"/>
              </a:lnSpc>
              <a:spcBef>
                <a:spcPts val="310"/>
              </a:spcBef>
            </a:pPr>
            <a:r>
              <a:rPr sz="1600" b="1" spc="60" dirty="0">
                <a:latin typeface="Cambria"/>
                <a:cs typeface="Cambria"/>
              </a:rPr>
              <a:t>Dictionary</a:t>
            </a:r>
            <a:r>
              <a:rPr sz="1600" b="1" spc="65" dirty="0">
                <a:latin typeface="Cambria"/>
                <a:cs typeface="Cambria"/>
              </a:rPr>
              <a:t> </a:t>
            </a:r>
            <a:r>
              <a:rPr sz="1600" b="1" spc="80" dirty="0">
                <a:latin typeface="Cambria"/>
                <a:cs typeface="Cambria"/>
              </a:rPr>
              <a:t>Key</a:t>
            </a:r>
            <a:r>
              <a:rPr sz="1600" b="1" spc="70" dirty="0">
                <a:latin typeface="Cambria"/>
                <a:cs typeface="Cambria"/>
              </a:rPr>
              <a:t> </a:t>
            </a:r>
            <a:r>
              <a:rPr sz="1600" b="1" spc="50" dirty="0">
                <a:latin typeface="Cambria"/>
                <a:cs typeface="Cambria"/>
              </a:rPr>
              <a:t>Immutability </a:t>
            </a:r>
            <a:r>
              <a:rPr sz="1600" spc="10" dirty="0">
                <a:latin typeface="Cambria"/>
                <a:cs typeface="Cambria"/>
              </a:rPr>
              <a:t>Dictionary</a:t>
            </a:r>
            <a:r>
              <a:rPr sz="1600" spc="135" dirty="0">
                <a:latin typeface="Cambria"/>
                <a:cs typeface="Cambria"/>
              </a:rPr>
              <a:t> </a:t>
            </a:r>
            <a:r>
              <a:rPr sz="1600" spc="50" dirty="0">
                <a:latin typeface="Cambria"/>
                <a:cs typeface="Cambria"/>
              </a:rPr>
              <a:t>keys</a:t>
            </a:r>
            <a:r>
              <a:rPr sz="1600" spc="125" dirty="0">
                <a:latin typeface="Cambria"/>
                <a:cs typeface="Cambria"/>
              </a:rPr>
              <a:t> </a:t>
            </a:r>
            <a:r>
              <a:rPr sz="1600" spc="10" dirty="0">
                <a:latin typeface="Cambria"/>
                <a:cs typeface="Cambria"/>
              </a:rPr>
              <a:t>must</a:t>
            </a:r>
            <a:r>
              <a:rPr sz="1600" spc="150" dirty="0">
                <a:latin typeface="Cambria"/>
                <a:cs typeface="Cambria"/>
              </a:rPr>
              <a:t> </a:t>
            </a:r>
            <a:r>
              <a:rPr sz="1600" spc="135" dirty="0">
                <a:latin typeface="Cambria"/>
                <a:cs typeface="Cambria"/>
              </a:rPr>
              <a:t>be </a:t>
            </a:r>
            <a:r>
              <a:rPr sz="1600" spc="35" dirty="0">
                <a:latin typeface="Cambria"/>
                <a:cs typeface="Cambria"/>
              </a:rPr>
              <a:t>immutable. </a:t>
            </a:r>
            <a:r>
              <a:rPr sz="1600" spc="105" dirty="0">
                <a:latin typeface="Cambria"/>
                <a:cs typeface="Cambria"/>
              </a:rPr>
              <a:t>d</a:t>
            </a:r>
            <a:r>
              <a:rPr sz="1600" spc="50" dirty="0">
                <a:latin typeface="Cambria"/>
                <a:cs typeface="Cambria"/>
              </a:rPr>
              <a:t> </a:t>
            </a:r>
            <a:r>
              <a:rPr sz="1600" spc="165" dirty="0">
                <a:latin typeface="Cambria"/>
                <a:cs typeface="Cambria"/>
              </a:rPr>
              <a:t>=</a:t>
            </a:r>
            <a:r>
              <a:rPr sz="1600" spc="50" dirty="0">
                <a:latin typeface="Cambria"/>
                <a:cs typeface="Cambria"/>
              </a:rPr>
              <a:t> </a:t>
            </a:r>
            <a:r>
              <a:rPr sz="1600" spc="-25" dirty="0">
                <a:latin typeface="Cambria"/>
                <a:cs typeface="Cambria"/>
              </a:rPr>
              <a:t>{}</a:t>
            </a:r>
            <a:endParaRPr sz="1600">
              <a:latin typeface="Cambria"/>
              <a:cs typeface="Cambria"/>
            </a:endParaRPr>
          </a:p>
          <a:p>
            <a:pPr marL="92710" marR="261620">
              <a:lnSpc>
                <a:spcPct val="100000"/>
              </a:lnSpc>
            </a:pPr>
            <a:r>
              <a:rPr sz="1600" spc="65" dirty="0">
                <a:latin typeface="Cambria"/>
                <a:cs typeface="Cambria"/>
              </a:rPr>
              <a:t>#</a:t>
            </a:r>
            <a:r>
              <a:rPr sz="1600" spc="135" dirty="0">
                <a:latin typeface="Cambria"/>
                <a:cs typeface="Cambria"/>
              </a:rPr>
              <a:t> </a:t>
            </a:r>
            <a:r>
              <a:rPr sz="1600" spc="55" dirty="0">
                <a:latin typeface="Cambria"/>
                <a:cs typeface="Cambria"/>
              </a:rPr>
              <a:t>d[[1,</a:t>
            </a:r>
            <a:r>
              <a:rPr sz="1600" spc="-20" dirty="0">
                <a:latin typeface="Cambria"/>
                <a:cs typeface="Cambria"/>
              </a:rPr>
              <a:t> </a:t>
            </a:r>
            <a:r>
              <a:rPr sz="1600" spc="50" dirty="0">
                <a:latin typeface="Cambria"/>
                <a:cs typeface="Cambria"/>
              </a:rPr>
              <a:t>2,</a:t>
            </a:r>
            <a:r>
              <a:rPr sz="1600" spc="-25" dirty="0">
                <a:latin typeface="Cambria"/>
                <a:cs typeface="Cambria"/>
              </a:rPr>
              <a:t> </a:t>
            </a:r>
            <a:r>
              <a:rPr sz="1600" spc="10" dirty="0">
                <a:latin typeface="Cambria"/>
                <a:cs typeface="Cambria"/>
              </a:rPr>
              <a:t>3]]</a:t>
            </a:r>
            <a:r>
              <a:rPr sz="1600" spc="150" dirty="0">
                <a:latin typeface="Cambria"/>
                <a:cs typeface="Cambria"/>
              </a:rPr>
              <a:t> </a:t>
            </a:r>
            <a:r>
              <a:rPr sz="1600" spc="175" dirty="0">
                <a:latin typeface="Cambria"/>
                <a:cs typeface="Cambria"/>
              </a:rPr>
              <a:t>=</a:t>
            </a:r>
            <a:r>
              <a:rPr sz="1600" spc="120" dirty="0">
                <a:latin typeface="Cambria"/>
                <a:cs typeface="Cambria"/>
              </a:rPr>
              <a:t> </a:t>
            </a:r>
            <a:r>
              <a:rPr sz="1600" spc="10" dirty="0">
                <a:latin typeface="Cambria"/>
                <a:cs typeface="Cambria"/>
              </a:rPr>
              <a:t>"value"</a:t>
            </a:r>
            <a:r>
              <a:rPr sz="1600" spc="135" dirty="0">
                <a:latin typeface="Cambria"/>
                <a:cs typeface="Cambria"/>
              </a:rPr>
              <a:t>  </a:t>
            </a:r>
            <a:r>
              <a:rPr sz="1600" spc="65" dirty="0">
                <a:latin typeface="Cambria"/>
                <a:cs typeface="Cambria"/>
              </a:rPr>
              <a:t>#</a:t>
            </a:r>
            <a:r>
              <a:rPr sz="1600" spc="55" dirty="0">
                <a:latin typeface="Cambria"/>
                <a:cs typeface="Cambria"/>
              </a:rPr>
              <a:t> </a:t>
            </a:r>
            <a:r>
              <a:rPr sz="1600" spc="10" dirty="0">
                <a:latin typeface="Cambria"/>
                <a:cs typeface="Cambria"/>
              </a:rPr>
              <a:t>TypeError:</a:t>
            </a:r>
            <a:r>
              <a:rPr sz="1600" spc="5" dirty="0">
                <a:latin typeface="Cambria"/>
                <a:cs typeface="Cambria"/>
              </a:rPr>
              <a:t> </a:t>
            </a:r>
            <a:r>
              <a:rPr sz="1600" spc="10" dirty="0">
                <a:latin typeface="Cambria"/>
                <a:cs typeface="Cambria"/>
              </a:rPr>
              <a:t>unshushable</a:t>
            </a:r>
            <a:r>
              <a:rPr sz="1600" spc="145" dirty="0">
                <a:latin typeface="Cambria"/>
                <a:cs typeface="Cambria"/>
              </a:rPr>
              <a:t> </a:t>
            </a:r>
            <a:r>
              <a:rPr sz="1600" spc="60" dirty="0">
                <a:latin typeface="Cambria"/>
                <a:cs typeface="Cambria"/>
              </a:rPr>
              <a:t>type:</a:t>
            </a:r>
            <a:r>
              <a:rPr sz="1600" spc="-25" dirty="0">
                <a:latin typeface="Cambria"/>
                <a:cs typeface="Cambria"/>
              </a:rPr>
              <a:t> </a:t>
            </a:r>
            <a:r>
              <a:rPr sz="1600" spc="-10" dirty="0">
                <a:latin typeface="Cambria"/>
                <a:cs typeface="Cambria"/>
              </a:rPr>
              <a:t>'list' </a:t>
            </a:r>
            <a:r>
              <a:rPr sz="1600" dirty="0">
                <a:latin typeface="Cambria"/>
                <a:cs typeface="Cambria"/>
              </a:rPr>
              <a:t>d[(1,</a:t>
            </a:r>
            <a:r>
              <a:rPr sz="1600" spc="-15" dirty="0">
                <a:latin typeface="Cambria"/>
                <a:cs typeface="Cambria"/>
              </a:rPr>
              <a:t> </a:t>
            </a:r>
            <a:r>
              <a:rPr sz="1600" spc="50" dirty="0">
                <a:latin typeface="Cambria"/>
                <a:cs typeface="Cambria"/>
              </a:rPr>
              <a:t>2,</a:t>
            </a:r>
            <a:r>
              <a:rPr sz="1600" spc="-20" dirty="0">
                <a:latin typeface="Cambria"/>
                <a:cs typeface="Cambria"/>
              </a:rPr>
              <a:t> </a:t>
            </a:r>
            <a:r>
              <a:rPr sz="1600" dirty="0">
                <a:latin typeface="Cambria"/>
                <a:cs typeface="Cambria"/>
              </a:rPr>
              <a:t>3)]</a:t>
            </a:r>
            <a:r>
              <a:rPr sz="1600" spc="160" dirty="0">
                <a:latin typeface="Cambria"/>
                <a:cs typeface="Cambria"/>
              </a:rPr>
              <a:t> </a:t>
            </a:r>
            <a:r>
              <a:rPr sz="1600" spc="165" dirty="0">
                <a:latin typeface="Cambria"/>
                <a:cs typeface="Cambria"/>
              </a:rPr>
              <a:t>=</a:t>
            </a:r>
            <a:r>
              <a:rPr sz="1600" spc="150" dirty="0">
                <a:latin typeface="Cambria"/>
                <a:cs typeface="Cambria"/>
              </a:rPr>
              <a:t> </a:t>
            </a:r>
            <a:r>
              <a:rPr sz="1600" dirty="0">
                <a:latin typeface="Cambria"/>
                <a:cs typeface="Cambria"/>
              </a:rPr>
              <a:t>"value"</a:t>
            </a:r>
            <a:r>
              <a:rPr sz="1600" spc="150" dirty="0">
                <a:latin typeface="Cambria"/>
                <a:cs typeface="Cambria"/>
              </a:rPr>
              <a:t>  </a:t>
            </a:r>
            <a:r>
              <a:rPr sz="1600" spc="65" dirty="0">
                <a:latin typeface="Cambria"/>
                <a:cs typeface="Cambria"/>
              </a:rPr>
              <a:t>#</a:t>
            </a:r>
            <a:r>
              <a:rPr sz="1600" spc="55" dirty="0">
                <a:latin typeface="Cambria"/>
                <a:cs typeface="Cambria"/>
              </a:rPr>
              <a:t> </a:t>
            </a:r>
            <a:r>
              <a:rPr sz="1600" dirty="0">
                <a:latin typeface="Cambria"/>
                <a:cs typeface="Cambria"/>
              </a:rPr>
              <a:t>Tuples</a:t>
            </a:r>
            <a:r>
              <a:rPr sz="1600" spc="160" dirty="0">
                <a:latin typeface="Cambria"/>
                <a:cs typeface="Cambria"/>
              </a:rPr>
              <a:t> </a:t>
            </a:r>
            <a:r>
              <a:rPr sz="1600" dirty="0">
                <a:latin typeface="Cambria"/>
                <a:cs typeface="Cambria"/>
              </a:rPr>
              <a:t>are</a:t>
            </a:r>
            <a:r>
              <a:rPr sz="1600" spc="155" dirty="0">
                <a:latin typeface="Cambria"/>
                <a:cs typeface="Cambria"/>
              </a:rPr>
              <a:t> </a:t>
            </a:r>
            <a:r>
              <a:rPr sz="1600" dirty="0">
                <a:latin typeface="Cambria"/>
                <a:cs typeface="Cambria"/>
              </a:rPr>
              <a:t>immutable</a:t>
            </a:r>
            <a:r>
              <a:rPr sz="1600" spc="180" dirty="0">
                <a:latin typeface="Cambria"/>
                <a:cs typeface="Cambria"/>
              </a:rPr>
              <a:t> </a:t>
            </a:r>
            <a:r>
              <a:rPr sz="1600" spc="55" dirty="0">
                <a:latin typeface="Cambria"/>
                <a:cs typeface="Cambria"/>
              </a:rPr>
              <a:t>and</a:t>
            </a:r>
            <a:r>
              <a:rPr sz="1600" spc="150" dirty="0">
                <a:latin typeface="Cambria"/>
                <a:cs typeface="Cambria"/>
              </a:rPr>
              <a:t> </a:t>
            </a:r>
            <a:r>
              <a:rPr sz="1600" spc="60" dirty="0">
                <a:latin typeface="Cambria"/>
                <a:cs typeface="Cambria"/>
              </a:rPr>
              <a:t>can</a:t>
            </a:r>
            <a:r>
              <a:rPr sz="1600" spc="165" dirty="0">
                <a:latin typeface="Cambria"/>
                <a:cs typeface="Cambria"/>
              </a:rPr>
              <a:t> </a:t>
            </a:r>
            <a:r>
              <a:rPr sz="1600" spc="135" dirty="0">
                <a:latin typeface="Cambria"/>
                <a:cs typeface="Cambria"/>
              </a:rPr>
              <a:t>be</a:t>
            </a:r>
            <a:r>
              <a:rPr sz="1600" spc="160" dirty="0">
                <a:latin typeface="Cambria"/>
                <a:cs typeface="Cambria"/>
              </a:rPr>
              <a:t> </a:t>
            </a:r>
            <a:r>
              <a:rPr sz="1600" spc="50" dirty="0">
                <a:latin typeface="Cambria"/>
                <a:cs typeface="Cambria"/>
              </a:rPr>
              <a:t>used </a:t>
            </a:r>
            <a:r>
              <a:rPr sz="1600" dirty="0">
                <a:latin typeface="Cambria"/>
                <a:cs typeface="Cambria"/>
              </a:rPr>
              <a:t>as</a:t>
            </a:r>
            <a:r>
              <a:rPr sz="1600" spc="140" dirty="0">
                <a:latin typeface="Cambria"/>
                <a:cs typeface="Cambria"/>
              </a:rPr>
              <a:t> </a:t>
            </a:r>
            <a:r>
              <a:rPr sz="1600" spc="30" dirty="0">
                <a:latin typeface="Cambria"/>
                <a:cs typeface="Cambria"/>
              </a:rPr>
              <a:t>keys</a:t>
            </a:r>
            <a:endParaRPr sz="1600">
              <a:latin typeface="Cambria"/>
              <a:cs typeface="Cambria"/>
            </a:endParaRPr>
          </a:p>
        </p:txBody>
      </p:sp>
      <p:sp>
        <p:nvSpPr>
          <p:cNvPr id="5" name="object 5"/>
          <p:cNvSpPr txBox="1"/>
          <p:nvPr/>
        </p:nvSpPr>
        <p:spPr>
          <a:xfrm>
            <a:off x="117347" y="3351276"/>
            <a:ext cx="5457825" cy="2308860"/>
          </a:xfrm>
          <a:prstGeom prst="rect">
            <a:avLst/>
          </a:prstGeom>
          <a:solidFill>
            <a:srgbClr val="DAD2C3"/>
          </a:solidFill>
          <a:ln w="9144">
            <a:solidFill>
              <a:srgbClr val="000000"/>
            </a:solidFill>
          </a:ln>
        </p:spPr>
        <p:txBody>
          <a:bodyPr vert="horz" wrap="square" lIns="0" tIns="38735" rIns="0" bIns="0" rtlCol="0">
            <a:spAutoFit/>
          </a:bodyPr>
          <a:lstStyle/>
          <a:p>
            <a:pPr marL="91440" marR="173990">
              <a:lnSpc>
                <a:spcPct val="100000"/>
              </a:lnSpc>
              <a:spcBef>
                <a:spcPts val="305"/>
              </a:spcBef>
            </a:pPr>
            <a:r>
              <a:rPr sz="1800" b="1" spc="80" dirty="0">
                <a:latin typeface="Cambria"/>
                <a:cs typeface="Cambria"/>
              </a:rPr>
              <a:t>Immutable</a:t>
            </a:r>
            <a:r>
              <a:rPr sz="1800" b="1" dirty="0">
                <a:latin typeface="Cambria"/>
                <a:cs typeface="Cambria"/>
              </a:rPr>
              <a:t> Variable</a:t>
            </a:r>
            <a:r>
              <a:rPr sz="1800" b="1" spc="295" dirty="0">
                <a:latin typeface="Cambria"/>
                <a:cs typeface="Cambria"/>
              </a:rPr>
              <a:t> </a:t>
            </a:r>
            <a:r>
              <a:rPr sz="1800" b="1" spc="65" dirty="0">
                <a:latin typeface="Cambria"/>
                <a:cs typeface="Cambria"/>
              </a:rPr>
              <a:t>Reassignment</a:t>
            </a:r>
            <a:r>
              <a:rPr sz="1800" b="1" spc="500" dirty="0">
                <a:latin typeface="Cambria"/>
                <a:cs typeface="Cambria"/>
              </a:rPr>
              <a:t> </a:t>
            </a:r>
            <a:r>
              <a:rPr sz="1800" spc="75" dirty="0">
                <a:latin typeface="Cambria"/>
                <a:cs typeface="Cambria"/>
              </a:rPr>
              <a:t>Reassigning</a:t>
            </a:r>
            <a:r>
              <a:rPr sz="1800" spc="60" dirty="0">
                <a:latin typeface="Cambria"/>
                <a:cs typeface="Cambria"/>
              </a:rPr>
              <a:t> </a:t>
            </a:r>
            <a:r>
              <a:rPr sz="1800" dirty="0">
                <a:latin typeface="Cambria"/>
                <a:cs typeface="Cambria"/>
              </a:rPr>
              <a:t>an</a:t>
            </a:r>
            <a:r>
              <a:rPr sz="1800" spc="85" dirty="0">
                <a:latin typeface="Cambria"/>
                <a:cs typeface="Cambria"/>
              </a:rPr>
              <a:t> </a:t>
            </a:r>
            <a:r>
              <a:rPr sz="1800" spc="50" dirty="0">
                <a:latin typeface="Cambria"/>
                <a:cs typeface="Cambria"/>
              </a:rPr>
              <a:t>immutable</a:t>
            </a:r>
            <a:r>
              <a:rPr sz="1800" spc="80" dirty="0">
                <a:latin typeface="Cambria"/>
                <a:cs typeface="Cambria"/>
              </a:rPr>
              <a:t> </a:t>
            </a:r>
            <a:r>
              <a:rPr sz="1800" spc="65" dirty="0">
                <a:latin typeface="Cambria"/>
                <a:cs typeface="Cambria"/>
              </a:rPr>
              <a:t>variable</a:t>
            </a:r>
            <a:r>
              <a:rPr sz="1800" spc="60" dirty="0">
                <a:latin typeface="Cambria"/>
                <a:cs typeface="Cambria"/>
              </a:rPr>
              <a:t> </a:t>
            </a:r>
            <a:r>
              <a:rPr sz="1800" spc="55" dirty="0">
                <a:latin typeface="Cambria"/>
                <a:cs typeface="Cambria"/>
              </a:rPr>
              <a:t>creates</a:t>
            </a:r>
            <a:r>
              <a:rPr sz="1800" spc="65" dirty="0">
                <a:latin typeface="Cambria"/>
                <a:cs typeface="Cambria"/>
              </a:rPr>
              <a:t> </a:t>
            </a:r>
            <a:r>
              <a:rPr sz="1800" spc="75" dirty="0">
                <a:latin typeface="Cambria"/>
                <a:cs typeface="Cambria"/>
              </a:rPr>
              <a:t>a</a:t>
            </a:r>
            <a:r>
              <a:rPr sz="1800" spc="80" dirty="0">
                <a:latin typeface="Cambria"/>
                <a:cs typeface="Cambria"/>
              </a:rPr>
              <a:t> </a:t>
            </a:r>
            <a:r>
              <a:rPr sz="1800" spc="-25" dirty="0">
                <a:latin typeface="Cambria"/>
                <a:cs typeface="Cambria"/>
              </a:rPr>
              <a:t>new </a:t>
            </a:r>
            <a:r>
              <a:rPr sz="1800" spc="85" dirty="0">
                <a:latin typeface="Cambria"/>
                <a:cs typeface="Cambria"/>
              </a:rPr>
              <a:t>object</a:t>
            </a:r>
            <a:r>
              <a:rPr sz="1800" spc="80" dirty="0">
                <a:latin typeface="Cambria"/>
                <a:cs typeface="Cambria"/>
              </a:rPr>
              <a:t> </a:t>
            </a:r>
            <a:r>
              <a:rPr sz="1800" dirty="0">
                <a:latin typeface="Cambria"/>
                <a:cs typeface="Cambria"/>
              </a:rPr>
              <a:t>in</a:t>
            </a:r>
            <a:r>
              <a:rPr sz="1800" spc="90" dirty="0">
                <a:latin typeface="Cambria"/>
                <a:cs typeface="Cambria"/>
              </a:rPr>
              <a:t> </a:t>
            </a:r>
            <a:r>
              <a:rPr sz="1800" spc="45" dirty="0">
                <a:latin typeface="Cambria"/>
                <a:cs typeface="Cambria"/>
              </a:rPr>
              <a:t>memory.</a:t>
            </a:r>
            <a:endParaRPr sz="1800">
              <a:latin typeface="Cambria"/>
              <a:cs typeface="Cambria"/>
            </a:endParaRPr>
          </a:p>
          <a:p>
            <a:pPr marL="91440" marR="4168140">
              <a:lnSpc>
                <a:spcPct val="100000"/>
              </a:lnSpc>
            </a:pPr>
            <a:r>
              <a:rPr sz="1800" spc="110" dirty="0">
                <a:latin typeface="Cambria"/>
                <a:cs typeface="Cambria"/>
              </a:rPr>
              <a:t>x</a:t>
            </a:r>
            <a:r>
              <a:rPr sz="1800" spc="50" dirty="0">
                <a:latin typeface="Cambria"/>
                <a:cs typeface="Cambria"/>
              </a:rPr>
              <a:t> </a:t>
            </a:r>
            <a:r>
              <a:rPr sz="1800" spc="200" dirty="0">
                <a:latin typeface="Cambria"/>
                <a:cs typeface="Cambria"/>
              </a:rPr>
              <a:t>=</a:t>
            </a:r>
            <a:r>
              <a:rPr sz="1800" spc="40" dirty="0">
                <a:latin typeface="Cambria"/>
                <a:cs typeface="Cambria"/>
              </a:rPr>
              <a:t> "hello" </a:t>
            </a:r>
            <a:r>
              <a:rPr sz="1800" spc="-10" dirty="0">
                <a:latin typeface="Cambria"/>
                <a:cs typeface="Cambria"/>
              </a:rPr>
              <a:t>print(id(x)) </a:t>
            </a:r>
            <a:r>
              <a:rPr sz="1800" spc="110" dirty="0">
                <a:latin typeface="Cambria"/>
                <a:cs typeface="Cambria"/>
              </a:rPr>
              <a:t>x</a:t>
            </a:r>
            <a:r>
              <a:rPr sz="1800" spc="45" dirty="0">
                <a:latin typeface="Cambria"/>
                <a:cs typeface="Cambria"/>
              </a:rPr>
              <a:t> </a:t>
            </a:r>
            <a:r>
              <a:rPr sz="1800" spc="200" dirty="0">
                <a:latin typeface="Cambria"/>
                <a:cs typeface="Cambria"/>
              </a:rPr>
              <a:t>=</a:t>
            </a:r>
            <a:r>
              <a:rPr sz="1800" spc="45" dirty="0">
                <a:latin typeface="Cambria"/>
                <a:cs typeface="Cambria"/>
              </a:rPr>
              <a:t> </a:t>
            </a:r>
            <a:r>
              <a:rPr sz="1800" spc="-10" dirty="0">
                <a:latin typeface="Cambria"/>
                <a:cs typeface="Cambria"/>
              </a:rPr>
              <a:t>"world"</a:t>
            </a:r>
            <a:endParaRPr sz="1800">
              <a:latin typeface="Cambria"/>
              <a:cs typeface="Cambria"/>
            </a:endParaRPr>
          </a:p>
          <a:p>
            <a:pPr marL="91440">
              <a:lnSpc>
                <a:spcPct val="100000"/>
              </a:lnSpc>
              <a:spcBef>
                <a:spcPts val="5"/>
              </a:spcBef>
            </a:pPr>
            <a:r>
              <a:rPr sz="1800" dirty="0">
                <a:latin typeface="Cambria"/>
                <a:cs typeface="Cambria"/>
              </a:rPr>
              <a:t>print(id(x))</a:t>
            </a:r>
            <a:r>
              <a:rPr sz="1800" spc="175" dirty="0">
                <a:latin typeface="Cambria"/>
                <a:cs typeface="Cambria"/>
              </a:rPr>
              <a:t>  </a:t>
            </a:r>
            <a:r>
              <a:rPr sz="1800" spc="75" dirty="0">
                <a:latin typeface="Cambria"/>
                <a:cs typeface="Cambria"/>
              </a:rPr>
              <a:t>#</a:t>
            </a:r>
            <a:r>
              <a:rPr sz="1800" spc="165" dirty="0">
                <a:latin typeface="Cambria"/>
                <a:cs typeface="Cambria"/>
              </a:rPr>
              <a:t> </a:t>
            </a:r>
            <a:r>
              <a:rPr sz="1800" dirty="0">
                <a:latin typeface="Cambria"/>
                <a:cs typeface="Cambria"/>
              </a:rPr>
              <a:t>Different</a:t>
            </a:r>
            <a:r>
              <a:rPr sz="1800" spc="170" dirty="0">
                <a:latin typeface="Cambria"/>
                <a:cs typeface="Cambria"/>
              </a:rPr>
              <a:t> </a:t>
            </a:r>
            <a:r>
              <a:rPr sz="1800" spc="75" dirty="0">
                <a:latin typeface="Cambria"/>
                <a:cs typeface="Cambria"/>
              </a:rPr>
              <a:t>memory</a:t>
            </a:r>
            <a:r>
              <a:rPr sz="1800" spc="185" dirty="0">
                <a:latin typeface="Cambria"/>
                <a:cs typeface="Cambria"/>
              </a:rPr>
              <a:t> </a:t>
            </a:r>
            <a:r>
              <a:rPr sz="1800" spc="55" dirty="0">
                <a:latin typeface="Cambria"/>
                <a:cs typeface="Cambria"/>
              </a:rPr>
              <a:t>address</a:t>
            </a:r>
            <a:endParaRPr sz="1800">
              <a:latin typeface="Cambria"/>
              <a:cs typeface="Cambria"/>
            </a:endParaRPr>
          </a:p>
        </p:txBody>
      </p:sp>
      <p:sp>
        <p:nvSpPr>
          <p:cNvPr id="6" name="object 6"/>
          <p:cNvSpPr txBox="1"/>
          <p:nvPr/>
        </p:nvSpPr>
        <p:spPr>
          <a:xfrm>
            <a:off x="5731764" y="3377184"/>
            <a:ext cx="6343015" cy="2308860"/>
          </a:xfrm>
          <a:prstGeom prst="rect">
            <a:avLst/>
          </a:prstGeom>
          <a:solidFill>
            <a:srgbClr val="BCB095"/>
          </a:solidFill>
          <a:ln w="9144">
            <a:solidFill>
              <a:srgbClr val="000000"/>
            </a:solidFill>
          </a:ln>
        </p:spPr>
        <p:txBody>
          <a:bodyPr vert="horz" wrap="square" lIns="0" tIns="38735" rIns="0" bIns="0" rtlCol="0">
            <a:spAutoFit/>
          </a:bodyPr>
          <a:lstStyle/>
          <a:p>
            <a:pPr marL="92710">
              <a:lnSpc>
                <a:spcPct val="100000"/>
              </a:lnSpc>
              <a:spcBef>
                <a:spcPts val="305"/>
              </a:spcBef>
            </a:pPr>
            <a:r>
              <a:rPr sz="1800" b="1" spc="105" dirty="0">
                <a:latin typeface="Cambria"/>
                <a:cs typeface="Cambria"/>
              </a:rPr>
              <a:t>Copying</a:t>
            </a:r>
            <a:r>
              <a:rPr sz="1800" b="1" spc="85" dirty="0">
                <a:latin typeface="Cambria"/>
                <a:cs typeface="Cambria"/>
              </a:rPr>
              <a:t> </a:t>
            </a:r>
            <a:r>
              <a:rPr sz="1800" b="1" spc="80" dirty="0">
                <a:latin typeface="Cambria"/>
                <a:cs typeface="Cambria"/>
              </a:rPr>
              <a:t>Mutable</a:t>
            </a:r>
            <a:r>
              <a:rPr sz="1800" b="1" spc="75" dirty="0">
                <a:latin typeface="Cambria"/>
                <a:cs typeface="Cambria"/>
              </a:rPr>
              <a:t> </a:t>
            </a:r>
            <a:r>
              <a:rPr sz="1800" b="1" spc="90" dirty="0">
                <a:latin typeface="Cambria"/>
                <a:cs typeface="Cambria"/>
              </a:rPr>
              <a:t>Objects</a:t>
            </a:r>
            <a:endParaRPr sz="1800">
              <a:latin typeface="Cambria"/>
              <a:cs typeface="Cambria"/>
            </a:endParaRPr>
          </a:p>
          <a:p>
            <a:pPr marL="92710">
              <a:lnSpc>
                <a:spcPct val="100000"/>
              </a:lnSpc>
            </a:pPr>
            <a:r>
              <a:rPr sz="1800" spc="120" dirty="0">
                <a:latin typeface="Cambria"/>
                <a:cs typeface="Cambria"/>
              </a:rPr>
              <a:t>Copying</a:t>
            </a:r>
            <a:r>
              <a:rPr sz="1800" spc="60" dirty="0">
                <a:latin typeface="Cambria"/>
                <a:cs typeface="Cambria"/>
              </a:rPr>
              <a:t> </a:t>
            </a:r>
            <a:r>
              <a:rPr sz="1800" spc="55" dirty="0">
                <a:latin typeface="Cambria"/>
                <a:cs typeface="Cambria"/>
              </a:rPr>
              <a:t>mutable</a:t>
            </a:r>
            <a:r>
              <a:rPr sz="1800" spc="60" dirty="0">
                <a:latin typeface="Cambria"/>
                <a:cs typeface="Cambria"/>
              </a:rPr>
              <a:t> </a:t>
            </a:r>
            <a:r>
              <a:rPr sz="1800" spc="75" dirty="0">
                <a:latin typeface="Cambria"/>
                <a:cs typeface="Cambria"/>
              </a:rPr>
              <a:t>objects</a:t>
            </a:r>
            <a:r>
              <a:rPr sz="1800" spc="65" dirty="0">
                <a:latin typeface="Cambria"/>
                <a:cs typeface="Cambria"/>
              </a:rPr>
              <a:t> </a:t>
            </a:r>
            <a:r>
              <a:rPr sz="1800" spc="75" dirty="0">
                <a:latin typeface="Cambria"/>
                <a:cs typeface="Cambria"/>
              </a:rPr>
              <a:t>can</a:t>
            </a:r>
            <a:r>
              <a:rPr sz="1800" spc="60" dirty="0">
                <a:latin typeface="Cambria"/>
                <a:cs typeface="Cambria"/>
              </a:rPr>
              <a:t> </a:t>
            </a:r>
            <a:r>
              <a:rPr sz="1800" spc="95" dirty="0">
                <a:latin typeface="Cambria"/>
                <a:cs typeface="Cambria"/>
              </a:rPr>
              <a:t>lead</a:t>
            </a:r>
            <a:r>
              <a:rPr sz="1800" spc="65" dirty="0">
                <a:latin typeface="Cambria"/>
                <a:cs typeface="Cambria"/>
              </a:rPr>
              <a:t> </a:t>
            </a:r>
            <a:r>
              <a:rPr sz="1800" dirty="0">
                <a:latin typeface="Cambria"/>
                <a:cs typeface="Cambria"/>
              </a:rPr>
              <a:t>to</a:t>
            </a:r>
            <a:r>
              <a:rPr sz="1800" spc="60" dirty="0">
                <a:latin typeface="Cambria"/>
                <a:cs typeface="Cambria"/>
              </a:rPr>
              <a:t> unintended</a:t>
            </a:r>
            <a:r>
              <a:rPr sz="1800" spc="85" dirty="0">
                <a:latin typeface="Cambria"/>
                <a:cs typeface="Cambria"/>
              </a:rPr>
              <a:t> </a:t>
            </a:r>
            <a:r>
              <a:rPr sz="1800" spc="60" dirty="0">
                <a:latin typeface="Cambria"/>
                <a:cs typeface="Cambria"/>
              </a:rPr>
              <a:t>side</a:t>
            </a:r>
            <a:endParaRPr sz="1800">
              <a:latin typeface="Cambria"/>
              <a:cs typeface="Cambria"/>
            </a:endParaRPr>
          </a:p>
          <a:p>
            <a:pPr marL="92710">
              <a:lnSpc>
                <a:spcPct val="100000"/>
              </a:lnSpc>
            </a:pPr>
            <a:r>
              <a:rPr sz="1800" spc="60" dirty="0">
                <a:latin typeface="Cambria"/>
                <a:cs typeface="Cambria"/>
              </a:rPr>
              <a:t>effects.</a:t>
            </a:r>
            <a:endParaRPr sz="1800">
              <a:latin typeface="Cambria"/>
              <a:cs typeface="Cambria"/>
            </a:endParaRPr>
          </a:p>
          <a:p>
            <a:pPr marL="92710" marR="4395470">
              <a:lnSpc>
                <a:spcPct val="100000"/>
              </a:lnSpc>
              <a:spcBef>
                <a:spcPts val="5"/>
              </a:spcBef>
            </a:pPr>
            <a:r>
              <a:rPr sz="1800" spc="65" dirty="0">
                <a:latin typeface="Cambria"/>
                <a:cs typeface="Cambria"/>
              </a:rPr>
              <a:t>original</a:t>
            </a:r>
            <a:r>
              <a:rPr sz="1800" spc="45" dirty="0">
                <a:latin typeface="Cambria"/>
                <a:cs typeface="Cambria"/>
              </a:rPr>
              <a:t> </a:t>
            </a:r>
            <a:r>
              <a:rPr sz="1800" spc="200" dirty="0">
                <a:latin typeface="Cambria"/>
                <a:cs typeface="Cambria"/>
              </a:rPr>
              <a:t>=</a:t>
            </a:r>
            <a:r>
              <a:rPr sz="1800" spc="60" dirty="0">
                <a:latin typeface="Cambria"/>
                <a:cs typeface="Cambria"/>
              </a:rPr>
              <a:t> </a:t>
            </a:r>
            <a:r>
              <a:rPr sz="1800" spc="50" dirty="0">
                <a:latin typeface="Cambria"/>
                <a:cs typeface="Cambria"/>
              </a:rPr>
              <a:t>[1,</a:t>
            </a:r>
            <a:r>
              <a:rPr sz="1800" spc="-90" dirty="0">
                <a:latin typeface="Cambria"/>
                <a:cs typeface="Cambria"/>
              </a:rPr>
              <a:t> </a:t>
            </a:r>
            <a:r>
              <a:rPr sz="1800" spc="60" dirty="0">
                <a:latin typeface="Cambria"/>
                <a:cs typeface="Cambria"/>
              </a:rPr>
              <a:t>2,</a:t>
            </a:r>
            <a:r>
              <a:rPr sz="1800" spc="-85" dirty="0">
                <a:latin typeface="Cambria"/>
                <a:cs typeface="Cambria"/>
              </a:rPr>
              <a:t> </a:t>
            </a:r>
            <a:r>
              <a:rPr sz="1800" spc="-25" dirty="0">
                <a:latin typeface="Cambria"/>
                <a:cs typeface="Cambria"/>
              </a:rPr>
              <a:t>3] </a:t>
            </a:r>
            <a:r>
              <a:rPr sz="1800" spc="100" dirty="0">
                <a:latin typeface="Cambria"/>
                <a:cs typeface="Cambria"/>
              </a:rPr>
              <a:t>copy</a:t>
            </a:r>
            <a:r>
              <a:rPr sz="1800" spc="50" dirty="0">
                <a:latin typeface="Cambria"/>
                <a:cs typeface="Cambria"/>
              </a:rPr>
              <a:t> </a:t>
            </a:r>
            <a:r>
              <a:rPr sz="1800" spc="200" dirty="0">
                <a:latin typeface="Cambria"/>
                <a:cs typeface="Cambria"/>
              </a:rPr>
              <a:t>=</a:t>
            </a:r>
            <a:r>
              <a:rPr sz="1800" spc="50" dirty="0">
                <a:latin typeface="Cambria"/>
                <a:cs typeface="Cambria"/>
              </a:rPr>
              <a:t> </a:t>
            </a:r>
            <a:r>
              <a:rPr sz="1800" spc="55" dirty="0">
                <a:latin typeface="Cambria"/>
                <a:cs typeface="Cambria"/>
              </a:rPr>
              <a:t>original copy.append(4)</a:t>
            </a:r>
            <a:endParaRPr sz="1800">
              <a:latin typeface="Cambria"/>
              <a:cs typeface="Cambria"/>
            </a:endParaRPr>
          </a:p>
          <a:p>
            <a:pPr marL="92710">
              <a:lnSpc>
                <a:spcPct val="100000"/>
              </a:lnSpc>
            </a:pPr>
            <a:r>
              <a:rPr sz="1800" dirty="0">
                <a:latin typeface="Cambria"/>
                <a:cs typeface="Cambria"/>
              </a:rPr>
              <a:t>print(original)</a:t>
            </a:r>
            <a:r>
              <a:rPr sz="1800" spc="120" dirty="0">
                <a:latin typeface="Cambria"/>
                <a:cs typeface="Cambria"/>
              </a:rPr>
              <a:t>  </a:t>
            </a:r>
            <a:r>
              <a:rPr sz="1800" spc="75" dirty="0">
                <a:latin typeface="Cambria"/>
                <a:cs typeface="Cambria"/>
              </a:rPr>
              <a:t>#</a:t>
            </a:r>
            <a:r>
              <a:rPr sz="1800" spc="135" dirty="0">
                <a:latin typeface="Cambria"/>
                <a:cs typeface="Cambria"/>
              </a:rPr>
              <a:t> </a:t>
            </a:r>
            <a:r>
              <a:rPr sz="1800" spc="50" dirty="0">
                <a:latin typeface="Cambria"/>
                <a:cs typeface="Cambria"/>
              </a:rPr>
              <a:t>[1,</a:t>
            </a:r>
            <a:r>
              <a:rPr sz="1800" spc="-30" dirty="0">
                <a:latin typeface="Cambria"/>
                <a:cs typeface="Cambria"/>
              </a:rPr>
              <a:t> </a:t>
            </a:r>
            <a:r>
              <a:rPr sz="1800" spc="60" dirty="0">
                <a:latin typeface="Cambria"/>
                <a:cs typeface="Cambria"/>
              </a:rPr>
              <a:t>2,</a:t>
            </a:r>
            <a:r>
              <a:rPr sz="1800" spc="-45" dirty="0">
                <a:latin typeface="Cambria"/>
                <a:cs typeface="Cambria"/>
              </a:rPr>
              <a:t> </a:t>
            </a:r>
            <a:r>
              <a:rPr sz="1800" spc="60" dirty="0">
                <a:latin typeface="Cambria"/>
                <a:cs typeface="Cambria"/>
              </a:rPr>
              <a:t>3,</a:t>
            </a:r>
            <a:r>
              <a:rPr sz="1800" spc="-30" dirty="0">
                <a:latin typeface="Cambria"/>
                <a:cs typeface="Cambria"/>
              </a:rPr>
              <a:t> </a:t>
            </a:r>
            <a:r>
              <a:rPr sz="1800" dirty="0">
                <a:latin typeface="Cambria"/>
                <a:cs typeface="Cambria"/>
              </a:rPr>
              <a:t>4]</a:t>
            </a:r>
            <a:r>
              <a:rPr sz="1800" spc="130" dirty="0">
                <a:latin typeface="Cambria"/>
                <a:cs typeface="Cambria"/>
              </a:rPr>
              <a:t> </a:t>
            </a:r>
            <a:r>
              <a:rPr sz="1800" spc="55" dirty="0">
                <a:latin typeface="Cambria"/>
                <a:cs typeface="Cambria"/>
              </a:rPr>
              <a:t>(original</a:t>
            </a:r>
            <a:r>
              <a:rPr sz="1800" spc="120" dirty="0">
                <a:latin typeface="Cambria"/>
                <a:cs typeface="Cambria"/>
              </a:rPr>
              <a:t> </a:t>
            </a:r>
            <a:r>
              <a:rPr sz="1800" dirty="0">
                <a:latin typeface="Cambria"/>
                <a:cs typeface="Cambria"/>
              </a:rPr>
              <a:t>list</a:t>
            </a:r>
            <a:r>
              <a:rPr sz="1800" spc="110" dirty="0">
                <a:latin typeface="Cambria"/>
                <a:cs typeface="Cambria"/>
              </a:rPr>
              <a:t> </a:t>
            </a:r>
            <a:r>
              <a:rPr sz="1800" dirty="0">
                <a:latin typeface="Cambria"/>
                <a:cs typeface="Cambria"/>
              </a:rPr>
              <a:t>is</a:t>
            </a:r>
            <a:r>
              <a:rPr sz="1800" spc="135" dirty="0">
                <a:latin typeface="Cambria"/>
                <a:cs typeface="Cambria"/>
              </a:rPr>
              <a:t> </a:t>
            </a:r>
            <a:r>
              <a:rPr sz="1800" spc="55" dirty="0">
                <a:latin typeface="Cambria"/>
                <a:cs typeface="Cambria"/>
              </a:rPr>
              <a:t>also</a:t>
            </a:r>
            <a:r>
              <a:rPr sz="1800" spc="130" dirty="0">
                <a:latin typeface="Cambria"/>
                <a:cs typeface="Cambria"/>
              </a:rPr>
              <a:t> </a:t>
            </a:r>
            <a:r>
              <a:rPr sz="1800" spc="40" dirty="0">
                <a:latin typeface="Cambria"/>
                <a:cs typeface="Cambria"/>
              </a:rPr>
              <a:t>modified!)</a:t>
            </a:r>
            <a:endParaRPr sz="1800">
              <a:latin typeface="Cambria"/>
              <a:cs typeface="Cambri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187411" y="982091"/>
            <a:ext cx="2758732" cy="521335"/>
          </a:xfrm>
          <a:prstGeom prst="rect">
            <a:avLst/>
          </a:prstGeom>
        </p:spPr>
      </p:pic>
      <p:sp>
        <p:nvSpPr>
          <p:cNvPr id="3" name="object 3"/>
          <p:cNvSpPr txBox="1"/>
          <p:nvPr/>
        </p:nvSpPr>
        <p:spPr>
          <a:xfrm>
            <a:off x="1148892" y="1994128"/>
            <a:ext cx="9779000" cy="1427480"/>
          </a:xfrm>
          <a:prstGeom prst="rect">
            <a:avLst/>
          </a:prstGeom>
        </p:spPr>
        <p:txBody>
          <a:bodyPr vert="horz" wrap="square" lIns="0" tIns="134620" rIns="0" bIns="0" rtlCol="0">
            <a:spAutoFit/>
          </a:bodyPr>
          <a:lstStyle/>
          <a:p>
            <a:pPr marL="194945" indent="-182245">
              <a:lnSpc>
                <a:spcPct val="100000"/>
              </a:lnSpc>
              <a:spcBef>
                <a:spcPts val="1060"/>
              </a:spcBef>
              <a:buClr>
                <a:srgbClr val="9E3611"/>
              </a:buClr>
              <a:buSzPct val="85000"/>
              <a:buFont typeface="Wingdings"/>
              <a:buChar char=""/>
              <a:tabLst>
                <a:tab pos="194945" algn="l"/>
              </a:tabLst>
            </a:pPr>
            <a:r>
              <a:rPr sz="2000" b="1" spc="80" dirty="0">
                <a:latin typeface="Cambria"/>
                <a:cs typeface="Cambria"/>
              </a:rPr>
              <a:t>Conclusion</a:t>
            </a:r>
            <a:endParaRPr sz="2000">
              <a:latin typeface="Cambria"/>
              <a:cs typeface="Cambria"/>
            </a:endParaRPr>
          </a:p>
          <a:p>
            <a:pPr marL="194945" marR="5080" indent="-182880" algn="just">
              <a:lnSpc>
                <a:spcPts val="2160"/>
              </a:lnSpc>
              <a:spcBef>
                <a:spcPts val="1230"/>
              </a:spcBef>
              <a:buClr>
                <a:srgbClr val="9E3611"/>
              </a:buClr>
              <a:buSzPct val="85000"/>
              <a:buFont typeface="Wingdings"/>
              <a:buChar char=""/>
              <a:tabLst>
                <a:tab pos="194945" algn="l"/>
              </a:tabLst>
            </a:pPr>
            <a:r>
              <a:rPr sz="2000" spc="65" dirty="0">
                <a:latin typeface="Cambria"/>
                <a:cs typeface="Cambria"/>
              </a:rPr>
              <a:t>Understanding</a:t>
            </a:r>
            <a:r>
              <a:rPr sz="2000" spc="130" dirty="0">
                <a:latin typeface="Cambria"/>
                <a:cs typeface="Cambria"/>
              </a:rPr>
              <a:t> </a:t>
            </a:r>
            <a:r>
              <a:rPr sz="2000" spc="10" dirty="0">
                <a:latin typeface="Cambria"/>
                <a:cs typeface="Cambria"/>
              </a:rPr>
              <a:t>mutability</a:t>
            </a:r>
            <a:r>
              <a:rPr sz="2000" spc="135" dirty="0">
                <a:latin typeface="Cambria"/>
                <a:cs typeface="Cambria"/>
              </a:rPr>
              <a:t> </a:t>
            </a:r>
            <a:r>
              <a:rPr sz="2000" spc="75" dirty="0">
                <a:latin typeface="Cambria"/>
                <a:cs typeface="Cambria"/>
              </a:rPr>
              <a:t>and</a:t>
            </a:r>
            <a:r>
              <a:rPr sz="2000" spc="140" dirty="0">
                <a:latin typeface="Cambria"/>
                <a:cs typeface="Cambria"/>
              </a:rPr>
              <a:t> </a:t>
            </a:r>
            <a:r>
              <a:rPr sz="2000" spc="10" dirty="0">
                <a:latin typeface="Cambria"/>
                <a:cs typeface="Cambria"/>
              </a:rPr>
              <a:t>immutability</a:t>
            </a:r>
            <a:r>
              <a:rPr sz="2000" spc="125" dirty="0">
                <a:latin typeface="Cambria"/>
                <a:cs typeface="Cambria"/>
              </a:rPr>
              <a:t> </a:t>
            </a:r>
            <a:r>
              <a:rPr sz="2000" spc="10" dirty="0">
                <a:latin typeface="Cambria"/>
                <a:cs typeface="Cambria"/>
              </a:rPr>
              <a:t>is</a:t>
            </a:r>
            <a:r>
              <a:rPr sz="2000" spc="145" dirty="0">
                <a:latin typeface="Cambria"/>
                <a:cs typeface="Cambria"/>
              </a:rPr>
              <a:t> </a:t>
            </a:r>
            <a:r>
              <a:rPr sz="2000" spc="65" dirty="0">
                <a:latin typeface="Cambria"/>
                <a:cs typeface="Cambria"/>
              </a:rPr>
              <a:t>like</a:t>
            </a:r>
            <a:r>
              <a:rPr sz="2000" spc="160" dirty="0">
                <a:latin typeface="Cambria"/>
                <a:cs typeface="Cambria"/>
              </a:rPr>
              <a:t> </a:t>
            </a:r>
            <a:r>
              <a:rPr sz="2000" spc="85" dirty="0">
                <a:latin typeface="Cambria"/>
                <a:cs typeface="Cambria"/>
              </a:rPr>
              <a:t>choosing</a:t>
            </a:r>
            <a:r>
              <a:rPr sz="2000" spc="140" dirty="0">
                <a:latin typeface="Cambria"/>
                <a:cs typeface="Cambria"/>
              </a:rPr>
              <a:t> </a:t>
            </a:r>
            <a:r>
              <a:rPr sz="2000" spc="80" dirty="0">
                <a:latin typeface="Cambria"/>
                <a:cs typeface="Cambria"/>
              </a:rPr>
              <a:t>between</a:t>
            </a:r>
            <a:r>
              <a:rPr sz="2000" spc="125" dirty="0">
                <a:latin typeface="Cambria"/>
                <a:cs typeface="Cambria"/>
              </a:rPr>
              <a:t> </a:t>
            </a:r>
            <a:r>
              <a:rPr sz="2000" spc="85" dirty="0">
                <a:latin typeface="Cambria"/>
                <a:cs typeface="Cambria"/>
              </a:rPr>
              <a:t>a</a:t>
            </a:r>
            <a:r>
              <a:rPr sz="2000" spc="165" dirty="0">
                <a:latin typeface="Cambria"/>
                <a:cs typeface="Cambria"/>
              </a:rPr>
              <a:t> </a:t>
            </a:r>
            <a:r>
              <a:rPr sz="2000" spc="-10" dirty="0">
                <a:latin typeface="Cambria"/>
                <a:cs typeface="Cambria"/>
              </a:rPr>
              <a:t>whiteboard </a:t>
            </a:r>
            <a:r>
              <a:rPr sz="2000" spc="75" dirty="0">
                <a:latin typeface="Cambria"/>
                <a:cs typeface="Cambria"/>
              </a:rPr>
              <a:t>and</a:t>
            </a:r>
            <a:r>
              <a:rPr sz="2000" spc="85" dirty="0">
                <a:latin typeface="Cambria"/>
                <a:cs typeface="Cambria"/>
              </a:rPr>
              <a:t> a</a:t>
            </a:r>
            <a:r>
              <a:rPr sz="2000" spc="100" dirty="0">
                <a:latin typeface="Cambria"/>
                <a:cs typeface="Cambria"/>
              </a:rPr>
              <a:t> </a:t>
            </a:r>
            <a:r>
              <a:rPr sz="2000" spc="60" dirty="0">
                <a:latin typeface="Cambria"/>
                <a:cs typeface="Cambria"/>
              </a:rPr>
              <a:t>printed</a:t>
            </a:r>
            <a:r>
              <a:rPr sz="2000" spc="105" dirty="0">
                <a:latin typeface="Cambria"/>
                <a:cs typeface="Cambria"/>
              </a:rPr>
              <a:t> </a:t>
            </a:r>
            <a:r>
              <a:rPr sz="2000" dirty="0">
                <a:latin typeface="Cambria"/>
                <a:cs typeface="Cambria"/>
              </a:rPr>
              <a:t>list</a:t>
            </a:r>
            <a:r>
              <a:rPr sz="2000" spc="90" dirty="0">
                <a:latin typeface="Cambria"/>
                <a:cs typeface="Cambria"/>
              </a:rPr>
              <a:t> </a:t>
            </a:r>
            <a:r>
              <a:rPr sz="2000" dirty="0">
                <a:latin typeface="Cambria"/>
                <a:cs typeface="Cambria"/>
              </a:rPr>
              <a:t>when</a:t>
            </a:r>
            <a:r>
              <a:rPr sz="2000" spc="80" dirty="0">
                <a:latin typeface="Cambria"/>
                <a:cs typeface="Cambria"/>
              </a:rPr>
              <a:t> </a:t>
            </a:r>
            <a:r>
              <a:rPr sz="2000" spc="100" dirty="0">
                <a:latin typeface="Cambria"/>
                <a:cs typeface="Cambria"/>
              </a:rPr>
              <a:t>managing</a:t>
            </a:r>
            <a:r>
              <a:rPr sz="2000" spc="70" dirty="0">
                <a:latin typeface="Cambria"/>
                <a:cs typeface="Cambria"/>
              </a:rPr>
              <a:t> </a:t>
            </a:r>
            <a:r>
              <a:rPr sz="2000" dirty="0">
                <a:latin typeface="Cambria"/>
                <a:cs typeface="Cambria"/>
              </a:rPr>
              <a:t>your</a:t>
            </a:r>
            <a:r>
              <a:rPr sz="2000" spc="100" dirty="0">
                <a:latin typeface="Cambria"/>
                <a:cs typeface="Cambria"/>
              </a:rPr>
              <a:t> </a:t>
            </a:r>
            <a:r>
              <a:rPr sz="2000" spc="85" dirty="0">
                <a:latin typeface="Cambria"/>
                <a:cs typeface="Cambria"/>
              </a:rPr>
              <a:t>shopping.</a:t>
            </a:r>
            <a:r>
              <a:rPr sz="2000" spc="-75" dirty="0">
                <a:latin typeface="Cambria"/>
                <a:cs typeface="Cambria"/>
              </a:rPr>
              <a:t> </a:t>
            </a:r>
            <a:r>
              <a:rPr sz="2000" spc="85" dirty="0">
                <a:latin typeface="Cambria"/>
                <a:cs typeface="Cambria"/>
              </a:rPr>
              <a:t>Each</a:t>
            </a:r>
            <a:r>
              <a:rPr sz="2000" spc="105" dirty="0">
                <a:latin typeface="Cambria"/>
                <a:cs typeface="Cambria"/>
              </a:rPr>
              <a:t> </a:t>
            </a:r>
            <a:r>
              <a:rPr sz="2000" spc="55" dirty="0">
                <a:latin typeface="Cambria"/>
                <a:cs typeface="Cambria"/>
              </a:rPr>
              <a:t>has</a:t>
            </a:r>
            <a:r>
              <a:rPr sz="2000" spc="85" dirty="0">
                <a:latin typeface="Cambria"/>
                <a:cs typeface="Cambria"/>
              </a:rPr>
              <a:t> </a:t>
            </a:r>
            <a:r>
              <a:rPr sz="2000" dirty="0">
                <a:latin typeface="Cambria"/>
                <a:cs typeface="Cambria"/>
              </a:rPr>
              <a:t>its</a:t>
            </a:r>
            <a:r>
              <a:rPr sz="2000" spc="90" dirty="0">
                <a:latin typeface="Cambria"/>
                <a:cs typeface="Cambria"/>
              </a:rPr>
              <a:t> </a:t>
            </a:r>
            <a:r>
              <a:rPr sz="2000" spc="110" dirty="0">
                <a:latin typeface="Cambria"/>
                <a:cs typeface="Cambria"/>
              </a:rPr>
              <a:t>place</a:t>
            </a:r>
            <a:r>
              <a:rPr sz="2000" spc="90" dirty="0">
                <a:latin typeface="Cambria"/>
                <a:cs typeface="Cambria"/>
              </a:rPr>
              <a:t> </a:t>
            </a:r>
            <a:r>
              <a:rPr sz="2000" spc="120" dirty="0">
                <a:latin typeface="Cambria"/>
                <a:cs typeface="Cambria"/>
              </a:rPr>
              <a:t>depending</a:t>
            </a:r>
            <a:r>
              <a:rPr sz="2000" spc="100" dirty="0">
                <a:latin typeface="Cambria"/>
                <a:cs typeface="Cambria"/>
              </a:rPr>
              <a:t> </a:t>
            </a:r>
            <a:r>
              <a:rPr sz="2000" spc="30" dirty="0">
                <a:latin typeface="Cambria"/>
                <a:cs typeface="Cambria"/>
              </a:rPr>
              <a:t>on </a:t>
            </a:r>
            <a:r>
              <a:rPr sz="2000" dirty="0">
                <a:latin typeface="Cambria"/>
                <a:cs typeface="Cambria"/>
              </a:rPr>
              <a:t>the</a:t>
            </a:r>
            <a:r>
              <a:rPr sz="2000" spc="105" dirty="0">
                <a:latin typeface="Cambria"/>
                <a:cs typeface="Cambria"/>
              </a:rPr>
              <a:t> </a:t>
            </a:r>
            <a:r>
              <a:rPr sz="2000" spc="60" dirty="0">
                <a:latin typeface="Cambria"/>
                <a:cs typeface="Cambria"/>
              </a:rPr>
              <a:t>flexibility</a:t>
            </a:r>
            <a:r>
              <a:rPr sz="2000" spc="90" dirty="0">
                <a:latin typeface="Cambria"/>
                <a:cs typeface="Cambria"/>
              </a:rPr>
              <a:t> </a:t>
            </a:r>
            <a:r>
              <a:rPr sz="2000" spc="75" dirty="0">
                <a:latin typeface="Cambria"/>
                <a:cs typeface="Cambria"/>
              </a:rPr>
              <a:t>and</a:t>
            </a:r>
            <a:r>
              <a:rPr sz="2000" spc="120" dirty="0">
                <a:latin typeface="Cambria"/>
                <a:cs typeface="Cambria"/>
              </a:rPr>
              <a:t> </a:t>
            </a:r>
            <a:r>
              <a:rPr sz="2000" spc="60" dirty="0">
                <a:latin typeface="Cambria"/>
                <a:cs typeface="Cambria"/>
              </a:rPr>
              <a:t>predictability</a:t>
            </a:r>
            <a:r>
              <a:rPr sz="2000" spc="70" dirty="0">
                <a:latin typeface="Cambria"/>
                <a:cs typeface="Cambria"/>
              </a:rPr>
              <a:t> </a:t>
            </a:r>
            <a:r>
              <a:rPr sz="2000" dirty="0">
                <a:latin typeface="Cambria"/>
                <a:cs typeface="Cambria"/>
              </a:rPr>
              <a:t>you</a:t>
            </a:r>
            <a:r>
              <a:rPr sz="2000" spc="100" dirty="0">
                <a:latin typeface="Cambria"/>
                <a:cs typeface="Cambria"/>
              </a:rPr>
              <a:t> </a:t>
            </a:r>
            <a:r>
              <a:rPr sz="2000" spc="130" dirty="0">
                <a:latin typeface="Cambria"/>
                <a:cs typeface="Cambria"/>
              </a:rPr>
              <a:t>need</a:t>
            </a:r>
            <a:r>
              <a:rPr sz="2000" spc="114" dirty="0">
                <a:latin typeface="Cambria"/>
                <a:cs typeface="Cambria"/>
              </a:rPr>
              <a:t> </a:t>
            </a:r>
            <a:r>
              <a:rPr sz="2000" dirty="0">
                <a:latin typeface="Cambria"/>
                <a:cs typeface="Cambria"/>
              </a:rPr>
              <a:t>in</a:t>
            </a:r>
            <a:r>
              <a:rPr sz="2000" spc="114" dirty="0">
                <a:latin typeface="Cambria"/>
                <a:cs typeface="Cambria"/>
              </a:rPr>
              <a:t> </a:t>
            </a:r>
            <a:r>
              <a:rPr sz="2000" dirty="0">
                <a:latin typeface="Cambria"/>
                <a:cs typeface="Cambria"/>
              </a:rPr>
              <a:t>your</a:t>
            </a:r>
            <a:r>
              <a:rPr sz="2000" spc="110" dirty="0">
                <a:latin typeface="Cambria"/>
                <a:cs typeface="Cambria"/>
              </a:rPr>
              <a:t> </a:t>
            </a:r>
            <a:r>
              <a:rPr sz="2000" spc="90" dirty="0">
                <a:latin typeface="Cambria"/>
                <a:cs typeface="Cambria"/>
              </a:rPr>
              <a:t>shopping</a:t>
            </a:r>
            <a:r>
              <a:rPr sz="2000" spc="105" dirty="0">
                <a:latin typeface="Cambria"/>
                <a:cs typeface="Cambria"/>
              </a:rPr>
              <a:t> experience.</a:t>
            </a:r>
            <a:endParaRPr sz="2000">
              <a:latin typeface="Cambria"/>
              <a:cs typeface="Cambria"/>
            </a:endParaRPr>
          </a:p>
        </p:txBody>
      </p:sp>
      <p:pic>
        <p:nvPicPr>
          <p:cNvPr id="4" name="object 4"/>
          <p:cNvPicPr/>
          <p:nvPr/>
        </p:nvPicPr>
        <p:blipFill>
          <a:blip r:embed="rId3" cstate="print"/>
          <a:stretch>
            <a:fillRect/>
          </a:stretch>
        </p:blipFill>
        <p:spPr>
          <a:xfrm>
            <a:off x="4280244" y="4238193"/>
            <a:ext cx="3874925" cy="2093874"/>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176362" y="872744"/>
            <a:ext cx="2821343" cy="521334"/>
          </a:xfrm>
          <a:prstGeom prst="rect">
            <a:avLst/>
          </a:prstGeom>
        </p:spPr>
      </p:pic>
      <p:sp>
        <p:nvSpPr>
          <p:cNvPr id="3" name="object 3"/>
          <p:cNvSpPr txBox="1"/>
          <p:nvPr/>
        </p:nvSpPr>
        <p:spPr>
          <a:xfrm>
            <a:off x="973632" y="2080386"/>
            <a:ext cx="5215255" cy="498855"/>
          </a:xfrm>
          <a:prstGeom prst="rect">
            <a:avLst/>
          </a:prstGeom>
        </p:spPr>
        <p:txBody>
          <a:bodyPr vert="horz" wrap="square" lIns="0" tIns="128270" rIns="0" bIns="0" rtlCol="0">
            <a:spAutoFit/>
          </a:bodyPr>
          <a:lstStyle/>
          <a:p>
            <a:pPr marL="194945" indent="-182245">
              <a:lnSpc>
                <a:spcPct val="100000"/>
              </a:lnSpc>
              <a:spcBef>
                <a:spcPts val="1010"/>
              </a:spcBef>
              <a:buClr>
                <a:srgbClr val="9E3611"/>
              </a:buClr>
              <a:buSzPct val="85416"/>
              <a:buFont typeface="Wingdings"/>
              <a:buChar char=""/>
              <a:tabLst>
                <a:tab pos="194945" algn="l"/>
              </a:tabLst>
            </a:pPr>
            <a:r>
              <a:rPr sz="2400" spc="130" dirty="0">
                <a:latin typeface="Cambria"/>
                <a:cs typeface="Cambria"/>
              </a:rPr>
              <a:t>MICROSOFT</a:t>
            </a:r>
            <a:r>
              <a:rPr sz="2400" spc="-90" dirty="0">
                <a:latin typeface="Cambria"/>
                <a:cs typeface="Cambria"/>
              </a:rPr>
              <a:t> </a:t>
            </a:r>
            <a:r>
              <a:rPr sz="2400" spc="65" dirty="0">
                <a:latin typeface="Cambria"/>
                <a:cs typeface="Cambria"/>
              </a:rPr>
              <a:t>VISUAL</a:t>
            </a:r>
            <a:r>
              <a:rPr sz="2400" spc="80" dirty="0">
                <a:latin typeface="Cambria"/>
                <a:cs typeface="Cambria"/>
              </a:rPr>
              <a:t> </a:t>
            </a:r>
            <a:r>
              <a:rPr sz="2400" spc="90" dirty="0">
                <a:latin typeface="Cambria"/>
                <a:cs typeface="Cambria"/>
              </a:rPr>
              <a:t>STUDIO</a:t>
            </a:r>
            <a:r>
              <a:rPr sz="2400" spc="95" dirty="0">
                <a:latin typeface="Cambria"/>
                <a:cs typeface="Cambria"/>
              </a:rPr>
              <a:t> </a:t>
            </a:r>
            <a:r>
              <a:rPr sz="2400" spc="254" dirty="0">
                <a:latin typeface="Cambria"/>
                <a:cs typeface="Cambria"/>
              </a:rPr>
              <a:t>CODE</a:t>
            </a:r>
            <a:endParaRPr sz="2400" dirty="0">
              <a:latin typeface="Cambria"/>
              <a:cs typeface="Cambria"/>
            </a:endParaRPr>
          </a:p>
        </p:txBody>
      </p:sp>
      <p:pic>
        <p:nvPicPr>
          <p:cNvPr id="4" name="object 4"/>
          <p:cNvPicPr/>
          <p:nvPr/>
        </p:nvPicPr>
        <p:blipFill>
          <a:blip r:embed="rId3" cstate="print"/>
          <a:stretch>
            <a:fillRect/>
          </a:stretch>
        </p:blipFill>
        <p:spPr>
          <a:xfrm>
            <a:off x="8232647" y="2807207"/>
            <a:ext cx="3959352" cy="4050790"/>
          </a:xfrm>
          <a:prstGeom prst="rect">
            <a:avLst/>
          </a:prstGeom>
        </p:spPr>
      </p:pic>
      <p:pic>
        <p:nvPicPr>
          <p:cNvPr id="5" name="object 5"/>
          <p:cNvPicPr/>
          <p:nvPr/>
        </p:nvPicPr>
        <p:blipFill>
          <a:blip r:embed="rId4" cstate="print"/>
          <a:stretch>
            <a:fillRect/>
          </a:stretch>
        </p:blipFill>
        <p:spPr>
          <a:xfrm>
            <a:off x="199488" y="212161"/>
            <a:ext cx="2103431" cy="520556"/>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176362" y="982091"/>
            <a:ext cx="1711871" cy="521335"/>
          </a:xfrm>
          <a:prstGeom prst="rect">
            <a:avLst/>
          </a:prstGeom>
        </p:spPr>
      </p:pic>
      <p:pic>
        <p:nvPicPr>
          <p:cNvPr id="3" name="object 3"/>
          <p:cNvPicPr/>
          <p:nvPr/>
        </p:nvPicPr>
        <p:blipFill>
          <a:blip r:embed="rId3" cstate="print"/>
          <a:stretch>
            <a:fillRect/>
          </a:stretch>
        </p:blipFill>
        <p:spPr>
          <a:xfrm>
            <a:off x="215784" y="220758"/>
            <a:ext cx="2439647" cy="603946"/>
          </a:xfrm>
          <a:prstGeom prst="rect">
            <a:avLst/>
          </a:prstGeom>
        </p:spPr>
      </p:pic>
      <p:pic>
        <p:nvPicPr>
          <p:cNvPr id="4" name="object 4"/>
          <p:cNvPicPr/>
          <p:nvPr/>
        </p:nvPicPr>
        <p:blipFill>
          <a:blip r:embed="rId4" cstate="print"/>
          <a:stretch>
            <a:fillRect/>
          </a:stretch>
        </p:blipFill>
        <p:spPr>
          <a:xfrm>
            <a:off x="10173980" y="22533"/>
            <a:ext cx="1913874" cy="1808281"/>
          </a:xfrm>
          <a:prstGeom prst="rect">
            <a:avLst/>
          </a:prstGeom>
        </p:spPr>
      </p:pic>
      <p:sp>
        <p:nvSpPr>
          <p:cNvPr id="9" name="Rectangle 8"/>
          <p:cNvSpPr/>
          <p:nvPr/>
        </p:nvSpPr>
        <p:spPr>
          <a:xfrm>
            <a:off x="1160198" y="2819400"/>
            <a:ext cx="7315200" cy="646331"/>
          </a:xfrm>
          <a:prstGeom prst="rect">
            <a:avLst/>
          </a:prstGeom>
        </p:spPr>
        <p:txBody>
          <a:bodyPr wrap="square">
            <a:spAutoFit/>
          </a:bodyPr>
          <a:lstStyle/>
          <a:p>
            <a:pPr marR="0" lvl="0">
              <a:spcBef>
                <a:spcPts val="30"/>
              </a:spcBef>
              <a:spcAft>
                <a:spcPts val="0"/>
              </a:spcAft>
            </a:pPr>
            <a:r>
              <a:rPr lang="en-GB" sz="1600" dirty="0">
                <a:effectLst/>
                <a:latin typeface="Cambria" panose="02040503050406030204" pitchFamily="18" charset="0"/>
                <a:ea typeface="Cambria" panose="02040503050406030204" pitchFamily="18" charset="0"/>
              </a:rPr>
              <a:t> </a:t>
            </a:r>
            <a:r>
              <a:rPr lang="en-US" sz="1800" dirty="0">
                <a:effectLst/>
                <a:latin typeface="Cambria" panose="02040503050406030204" pitchFamily="18" charset="0"/>
                <a:ea typeface="Cambria" panose="02040503050406030204" pitchFamily="18" charset="0"/>
              </a:rPr>
              <a:t>You have to design at-least 5-10 Mutable and immutable variables in your application with explanation of mutability or immutability.</a:t>
            </a:r>
            <a:endParaRPr lang="en-GB" sz="1600" dirty="0">
              <a:effectLst/>
              <a:latin typeface="Cambria" panose="02040503050406030204" pitchFamily="18" charset="0"/>
              <a:ea typeface="Cambria" panose="02040503050406030204" pitchFamily="18" charset="0"/>
            </a:endParaRPr>
          </a:p>
        </p:txBody>
      </p:sp>
      <p:pic>
        <p:nvPicPr>
          <p:cNvPr id="10" name="Picture 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001000" y="2209800"/>
            <a:ext cx="5298575" cy="2982341"/>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226178" y="4028185"/>
            <a:ext cx="3396106" cy="695197"/>
          </a:xfrm>
          <a:prstGeom prst="rect">
            <a:avLst/>
          </a:prstGeom>
        </p:spPr>
      </p:pic>
      <p:pic>
        <p:nvPicPr>
          <p:cNvPr id="3" name="object 3"/>
          <p:cNvPicPr/>
          <p:nvPr/>
        </p:nvPicPr>
        <p:blipFill>
          <a:blip r:embed="rId3" cstate="print"/>
          <a:stretch>
            <a:fillRect/>
          </a:stretch>
        </p:blipFill>
        <p:spPr>
          <a:xfrm>
            <a:off x="199488" y="212161"/>
            <a:ext cx="2103431" cy="520556"/>
          </a:xfrm>
          <a:prstGeom prst="rect">
            <a:avLst/>
          </a:prstGeom>
        </p:spPr>
      </p:pic>
      <p:pic>
        <p:nvPicPr>
          <p:cNvPr id="4" name="object 4"/>
          <p:cNvPicPr/>
          <p:nvPr/>
        </p:nvPicPr>
        <p:blipFill>
          <a:blip r:embed="rId4" cstate="print"/>
          <a:stretch>
            <a:fillRect/>
          </a:stretch>
        </p:blipFill>
        <p:spPr>
          <a:xfrm>
            <a:off x="3959352" y="472440"/>
            <a:ext cx="3849623" cy="384962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513</TotalTime>
  <Words>1741</Words>
  <Application>Microsoft Office PowerPoint</Application>
  <PresentationFormat>Widescreen</PresentationFormat>
  <Paragraphs>145</Paragraphs>
  <Slides>24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Arial MT</vt:lpstr>
      <vt:lpstr>Calibri</vt:lpstr>
      <vt:lpstr>Cambria</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Fundamental Lab LAB # 05</dc:title>
  <dc:creator>ADMIN</dc:creator>
  <cp:lastModifiedBy>Wajiha Arif</cp:lastModifiedBy>
  <cp:revision>7</cp:revision>
  <dcterms:created xsi:type="dcterms:W3CDTF">2024-10-22T19:09:13Z</dcterms:created>
  <dcterms:modified xsi:type="dcterms:W3CDTF">2025-10-20T10:40:05Z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2023-10-17T00:00:00Z</vt:filetime>
  </property>
  <property fmtid="{D5CDD505-2E9C-101B-9397-08002B2CF9AE}" pid="3" name="Creator">
    <vt:lpwstr>Microsoft® PowerPoint® 2019</vt:lpwstr>
  </property>
  <property fmtid="{D5CDD505-2E9C-101B-9397-08002B2CF9AE}" pid="4" name="LastSaved">
    <vt:filetime>2024-10-22T00:00:00Z</vt:filetime>
  </property>
  <property fmtid="{D5CDD505-2E9C-101B-9397-08002B2CF9AE}" pid="5" name="Producer">
    <vt:lpwstr>Microsoft® PowerPoint® 2019</vt:lpwstr>
  </property>
</Properties>
</file>